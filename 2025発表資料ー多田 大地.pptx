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279" r:id="rId3"/>
    <p:sldId id="306" r:id="rId4"/>
    <p:sldId id="257" r:id="rId5"/>
    <p:sldId id="258" r:id="rId6"/>
    <p:sldId id="292" r:id="rId7"/>
    <p:sldId id="260" r:id="rId8"/>
    <p:sldId id="308" r:id="rId9"/>
    <p:sldId id="261" r:id="rId10"/>
    <p:sldId id="262" r:id="rId11"/>
    <p:sldId id="263" r:id="rId12"/>
    <p:sldId id="299" r:id="rId13"/>
    <p:sldId id="281" r:id="rId14"/>
    <p:sldId id="295" r:id="rId15"/>
    <p:sldId id="264" r:id="rId16"/>
    <p:sldId id="265" r:id="rId17"/>
    <p:sldId id="307" r:id="rId18"/>
    <p:sldId id="268" r:id="rId19"/>
    <p:sldId id="305" r:id="rId20"/>
    <p:sldId id="296" r:id="rId21"/>
    <p:sldId id="301" r:id="rId22"/>
    <p:sldId id="271" r:id="rId23"/>
    <p:sldId id="272" r:id="rId24"/>
    <p:sldId id="273" r:id="rId25"/>
    <p:sldId id="275" r:id="rId26"/>
    <p:sldId id="276" r:id="rId27"/>
    <p:sldId id="280" r:id="rId28"/>
    <p:sldId id="303" r:id="rId29"/>
    <p:sldId id="294" r:id="rId30"/>
    <p:sldId id="300" r:id="rId31"/>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1780C1-347D-8BBB-45F7-80BDEA447198}" name="大地 多田" initials="大多" userId="29a862ad8a41d82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56" autoAdjust="0"/>
    <p:restoredTop sz="71398" autoAdjust="0"/>
  </p:normalViewPr>
  <p:slideViewPr>
    <p:cSldViewPr snapToGrid="0">
      <p:cViewPr varScale="1">
        <p:scale>
          <a:sx n="56" d="100"/>
          <a:sy n="56" d="100"/>
        </p:scale>
        <p:origin x="212" y="48"/>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061CFF-D8B7-4370-A212-67A907B40FE1}" type="doc">
      <dgm:prSet loTypeId="urn:microsoft.com/office/officeart/2005/8/layout/vList2" loCatId="list" qsTypeId="urn:microsoft.com/office/officeart/2005/8/quickstyle/simple5" qsCatId="simple" csTypeId="urn:microsoft.com/office/officeart/2005/8/colors/colorful2" csCatId="colorful" phldr="1"/>
      <dgm:spPr/>
      <dgm:t>
        <a:bodyPr/>
        <a:lstStyle/>
        <a:p>
          <a:endParaRPr lang="en-US"/>
        </a:p>
      </dgm:t>
    </dgm:pt>
    <dgm:pt modelId="{D18EA0A0-9D0C-4903-97B8-1F190F3F2383}">
      <dgm:prSet/>
      <dgm:spPr>
        <a:solidFill>
          <a:schemeClr val="accent2">
            <a:lumMod val="50000"/>
          </a:schemeClr>
        </a:solidFill>
      </dgm:spPr>
      <dgm:t>
        <a:bodyPr/>
        <a:lstStyle/>
        <a:p>
          <a:r>
            <a:rPr lang="en-US" dirty="0"/>
            <a:t>AI(MLLM)</a:t>
          </a:r>
          <a:r>
            <a:rPr lang="ja-JP" dirty="0"/>
            <a:t>で，動画</a:t>
          </a:r>
          <a:r>
            <a:rPr lang="ja-JP" altLang="en-US" dirty="0"/>
            <a:t>内</a:t>
          </a:r>
          <a:r>
            <a:rPr lang="ja-JP" dirty="0"/>
            <a:t>から音源</a:t>
          </a:r>
          <a:r>
            <a:rPr lang="ja-JP" altLang="en-US" dirty="0"/>
            <a:t>である物体</a:t>
          </a:r>
          <a:r>
            <a:rPr lang="ja-JP" dirty="0"/>
            <a:t>を特定</a:t>
          </a:r>
          <a:endParaRPr lang="en-US" dirty="0"/>
        </a:p>
      </dgm:t>
    </dgm:pt>
    <dgm:pt modelId="{25309512-294B-409F-9D37-9734B2D1A2A8}" type="parTrans" cxnId="{AE91AAEC-E3F4-495C-B1FF-374B8F9016E1}">
      <dgm:prSet/>
      <dgm:spPr/>
      <dgm:t>
        <a:bodyPr/>
        <a:lstStyle/>
        <a:p>
          <a:endParaRPr lang="en-US"/>
        </a:p>
      </dgm:t>
    </dgm:pt>
    <dgm:pt modelId="{DBC44581-95EB-4BFE-8D8B-9871C64B834B}" type="sibTrans" cxnId="{AE91AAEC-E3F4-495C-B1FF-374B8F9016E1}">
      <dgm:prSet/>
      <dgm:spPr/>
      <dgm:t>
        <a:bodyPr/>
        <a:lstStyle/>
        <a:p>
          <a:endParaRPr lang="en-US"/>
        </a:p>
      </dgm:t>
    </dgm:pt>
    <dgm:pt modelId="{A29F5E6B-B822-48B2-B3CA-8633400CE6BE}">
      <dgm:prSet/>
      <dgm:spPr>
        <a:solidFill>
          <a:schemeClr val="accent3">
            <a:lumMod val="75000"/>
          </a:schemeClr>
        </a:solidFill>
      </dgm:spPr>
      <dgm:t>
        <a:bodyPr/>
        <a:lstStyle/>
        <a:p>
          <a:r>
            <a:rPr lang="ja-JP" altLang="en-US" dirty="0"/>
            <a:t>ファインチューニングで特定</a:t>
          </a:r>
          <a:r>
            <a:rPr lang="ja-JP" dirty="0"/>
            <a:t>の精度</a:t>
          </a:r>
          <a:r>
            <a:rPr lang="ja-JP" altLang="en-US" dirty="0"/>
            <a:t>を上げる</a:t>
          </a:r>
          <a:endParaRPr lang="en-US" altLang="ja-JP" dirty="0"/>
        </a:p>
      </dgm:t>
    </dgm:pt>
    <dgm:pt modelId="{F321EF4D-48B3-46F2-B125-FD1851B2A72C}" type="parTrans" cxnId="{6E6440F7-8CAA-4EA9-B367-8A23A1BA504B}">
      <dgm:prSet/>
      <dgm:spPr/>
      <dgm:t>
        <a:bodyPr/>
        <a:lstStyle/>
        <a:p>
          <a:endParaRPr lang="en-US"/>
        </a:p>
      </dgm:t>
    </dgm:pt>
    <dgm:pt modelId="{590C5AB7-853E-4CDE-A073-031BEBBD8431}" type="sibTrans" cxnId="{6E6440F7-8CAA-4EA9-B367-8A23A1BA504B}">
      <dgm:prSet/>
      <dgm:spPr/>
      <dgm:t>
        <a:bodyPr/>
        <a:lstStyle/>
        <a:p>
          <a:endParaRPr lang="en-US"/>
        </a:p>
      </dgm:t>
    </dgm:pt>
    <dgm:pt modelId="{7431CD22-F903-4D22-A1A2-2989F81A191A}" type="pres">
      <dgm:prSet presAssocID="{BD061CFF-D8B7-4370-A212-67A907B40FE1}" presName="linear" presStyleCnt="0">
        <dgm:presLayoutVars>
          <dgm:animLvl val="lvl"/>
          <dgm:resizeHandles val="exact"/>
        </dgm:presLayoutVars>
      </dgm:prSet>
      <dgm:spPr/>
    </dgm:pt>
    <dgm:pt modelId="{B7D976EB-7A3A-44EB-9443-4BEAEE1053E7}" type="pres">
      <dgm:prSet presAssocID="{D18EA0A0-9D0C-4903-97B8-1F190F3F2383}" presName="parentText" presStyleLbl="node1" presStyleIdx="0" presStyleCnt="2" custLinFactY="-64762" custLinFactNeighborX="0" custLinFactNeighborY="-100000">
        <dgm:presLayoutVars>
          <dgm:chMax val="0"/>
          <dgm:bulletEnabled val="1"/>
        </dgm:presLayoutVars>
      </dgm:prSet>
      <dgm:spPr/>
    </dgm:pt>
    <dgm:pt modelId="{F58EDD63-D2D0-481D-BC4F-019831D18530}" type="pres">
      <dgm:prSet presAssocID="{DBC44581-95EB-4BFE-8D8B-9871C64B834B}" presName="spacer" presStyleCnt="0"/>
      <dgm:spPr/>
    </dgm:pt>
    <dgm:pt modelId="{2D274943-2F63-4047-BA79-BCF4794F9D92}" type="pres">
      <dgm:prSet presAssocID="{A29F5E6B-B822-48B2-B3CA-8633400CE6BE}" presName="parentText" presStyleLbl="node1" presStyleIdx="1" presStyleCnt="2" custLinFactY="16098" custLinFactNeighborX="-979" custLinFactNeighborY="100000">
        <dgm:presLayoutVars>
          <dgm:chMax val="0"/>
          <dgm:bulletEnabled val="1"/>
        </dgm:presLayoutVars>
      </dgm:prSet>
      <dgm:spPr/>
    </dgm:pt>
  </dgm:ptLst>
  <dgm:cxnLst>
    <dgm:cxn modelId="{46845C30-A19C-41DA-8575-89F105053359}" type="presOf" srcId="{A29F5E6B-B822-48B2-B3CA-8633400CE6BE}" destId="{2D274943-2F63-4047-BA79-BCF4794F9D92}" srcOrd="0" destOrd="0" presId="urn:microsoft.com/office/officeart/2005/8/layout/vList2"/>
    <dgm:cxn modelId="{BD1048AB-5C08-4CE7-AF26-E7FAC26CF064}" type="presOf" srcId="{BD061CFF-D8B7-4370-A212-67A907B40FE1}" destId="{7431CD22-F903-4D22-A1A2-2989F81A191A}" srcOrd="0" destOrd="0" presId="urn:microsoft.com/office/officeart/2005/8/layout/vList2"/>
    <dgm:cxn modelId="{962C2CC4-126E-4447-941D-FCA7F9EF5B2F}" type="presOf" srcId="{D18EA0A0-9D0C-4903-97B8-1F190F3F2383}" destId="{B7D976EB-7A3A-44EB-9443-4BEAEE1053E7}" srcOrd="0" destOrd="0" presId="urn:microsoft.com/office/officeart/2005/8/layout/vList2"/>
    <dgm:cxn modelId="{AE91AAEC-E3F4-495C-B1FF-374B8F9016E1}" srcId="{BD061CFF-D8B7-4370-A212-67A907B40FE1}" destId="{D18EA0A0-9D0C-4903-97B8-1F190F3F2383}" srcOrd="0" destOrd="0" parTransId="{25309512-294B-409F-9D37-9734B2D1A2A8}" sibTransId="{DBC44581-95EB-4BFE-8D8B-9871C64B834B}"/>
    <dgm:cxn modelId="{6E6440F7-8CAA-4EA9-B367-8A23A1BA504B}" srcId="{BD061CFF-D8B7-4370-A212-67A907B40FE1}" destId="{A29F5E6B-B822-48B2-B3CA-8633400CE6BE}" srcOrd="1" destOrd="0" parTransId="{F321EF4D-48B3-46F2-B125-FD1851B2A72C}" sibTransId="{590C5AB7-853E-4CDE-A073-031BEBBD8431}"/>
    <dgm:cxn modelId="{896587DF-0CB9-4807-8735-70C139D5622B}" type="presParOf" srcId="{7431CD22-F903-4D22-A1A2-2989F81A191A}" destId="{B7D976EB-7A3A-44EB-9443-4BEAEE1053E7}" srcOrd="0" destOrd="0" presId="urn:microsoft.com/office/officeart/2005/8/layout/vList2"/>
    <dgm:cxn modelId="{171AD777-9813-40E3-A3DD-CF25D51F6769}" type="presParOf" srcId="{7431CD22-F903-4D22-A1A2-2989F81A191A}" destId="{F58EDD63-D2D0-481D-BC4F-019831D18530}" srcOrd="1" destOrd="0" presId="urn:microsoft.com/office/officeart/2005/8/layout/vList2"/>
    <dgm:cxn modelId="{005CD927-E375-4642-8623-F60C014EC870}" type="presParOf" srcId="{7431CD22-F903-4D22-A1A2-2989F81A191A}" destId="{2D274943-2F63-4047-BA79-BCF4794F9D92}"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D976EB-7A3A-44EB-9443-4BEAEE1053E7}">
      <dsp:nvSpPr>
        <dsp:cNvPr id="0" name=""/>
        <dsp:cNvSpPr/>
      </dsp:nvSpPr>
      <dsp:spPr>
        <a:xfrm>
          <a:off x="0" y="0"/>
          <a:ext cx="5024438" cy="1909440"/>
        </a:xfrm>
        <a:prstGeom prst="roundRect">
          <a:avLst/>
        </a:prstGeom>
        <a:solidFill>
          <a:schemeClr val="accent2">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AI(MLLM)</a:t>
          </a:r>
          <a:r>
            <a:rPr lang="ja-JP" sz="3200" kern="1200" dirty="0"/>
            <a:t>で，動画</a:t>
          </a:r>
          <a:r>
            <a:rPr lang="ja-JP" altLang="en-US" sz="3200" kern="1200" dirty="0"/>
            <a:t>内</a:t>
          </a:r>
          <a:r>
            <a:rPr lang="ja-JP" sz="3200" kern="1200" dirty="0"/>
            <a:t>から音源</a:t>
          </a:r>
          <a:r>
            <a:rPr lang="ja-JP" altLang="en-US" sz="3200" kern="1200" dirty="0"/>
            <a:t>である物体</a:t>
          </a:r>
          <a:r>
            <a:rPr lang="ja-JP" sz="3200" kern="1200" dirty="0"/>
            <a:t>を特定</a:t>
          </a:r>
          <a:endParaRPr lang="en-US" sz="3200" kern="1200" dirty="0"/>
        </a:p>
      </dsp:txBody>
      <dsp:txXfrm>
        <a:off x="93211" y="93211"/>
        <a:ext cx="4838016" cy="1723018"/>
      </dsp:txXfrm>
    </dsp:sp>
    <dsp:sp modelId="{2D274943-2F63-4047-BA79-BCF4794F9D92}">
      <dsp:nvSpPr>
        <dsp:cNvPr id="0" name=""/>
        <dsp:cNvSpPr/>
      </dsp:nvSpPr>
      <dsp:spPr>
        <a:xfrm>
          <a:off x="0" y="2441898"/>
          <a:ext cx="5024438" cy="1909440"/>
        </a:xfrm>
        <a:prstGeom prst="roundRect">
          <a:avLst/>
        </a:prstGeom>
        <a:solidFill>
          <a:schemeClr val="accent3">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ja-JP" altLang="en-US" sz="3200" kern="1200" dirty="0"/>
            <a:t>ファインチューニングで特定</a:t>
          </a:r>
          <a:r>
            <a:rPr lang="ja-JP" sz="3200" kern="1200" dirty="0"/>
            <a:t>の精度</a:t>
          </a:r>
          <a:r>
            <a:rPr lang="ja-JP" altLang="en-US" sz="3200" kern="1200" dirty="0"/>
            <a:t>を上げる</a:t>
          </a:r>
          <a:endParaRPr lang="en-US" altLang="ja-JP" sz="3200" kern="1200" dirty="0"/>
        </a:p>
      </dsp:txBody>
      <dsp:txXfrm>
        <a:off x="93211" y="2535109"/>
        <a:ext cx="4838016" cy="172301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8427" cy="513508"/>
          </a:xfrm>
          <a:prstGeom prst="rect">
            <a:avLst/>
          </a:prstGeom>
        </p:spPr>
        <p:txBody>
          <a:bodyPr vert="horz" lIns="94750" tIns="47375" rIns="94750" bIns="47375" rtlCol="0"/>
          <a:lstStyle>
            <a:lvl1pPr algn="l">
              <a:defRPr sz="1200"/>
            </a:lvl1pPr>
          </a:lstStyle>
          <a:p>
            <a:endParaRPr kumimoji="1" lang="ja-JP" altLang="en-US"/>
          </a:p>
        </p:txBody>
      </p:sp>
      <p:sp>
        <p:nvSpPr>
          <p:cNvPr id="3" name="日付プレースホルダー 2"/>
          <p:cNvSpPr>
            <a:spLocks noGrp="1"/>
          </p:cNvSpPr>
          <p:nvPr>
            <p:ph type="dt" idx="1"/>
          </p:nvPr>
        </p:nvSpPr>
        <p:spPr>
          <a:xfrm>
            <a:off x="4023992" y="0"/>
            <a:ext cx="3078427" cy="513508"/>
          </a:xfrm>
          <a:prstGeom prst="rect">
            <a:avLst/>
          </a:prstGeom>
        </p:spPr>
        <p:txBody>
          <a:bodyPr vert="horz" lIns="94750" tIns="47375" rIns="94750" bIns="47375" rtlCol="0"/>
          <a:lstStyle>
            <a:lvl1pPr algn="r">
              <a:defRPr sz="1200"/>
            </a:lvl1pPr>
          </a:lstStyle>
          <a:p>
            <a:fld id="{4225D0BD-EBAB-42BE-8037-B987FD16CFE6}" type="datetimeFigureOut">
              <a:rPr kumimoji="1" lang="ja-JP" altLang="en-US" smtClean="0"/>
              <a:t>2026/2/2</a:t>
            </a:fld>
            <a:endParaRPr kumimoji="1" lang="ja-JP" altLang="en-US"/>
          </a:p>
        </p:txBody>
      </p:sp>
      <p:sp>
        <p:nvSpPr>
          <p:cNvPr id="4" name="スライド イメージ プレースホルダー 3"/>
          <p:cNvSpPr>
            <a:spLocks noGrp="1" noRot="1" noChangeAspect="1"/>
          </p:cNvSpPr>
          <p:nvPr>
            <p:ph type="sldImg" idx="2"/>
          </p:nvPr>
        </p:nvSpPr>
        <p:spPr>
          <a:xfrm>
            <a:off x="481013" y="1277938"/>
            <a:ext cx="6142037" cy="3455987"/>
          </a:xfrm>
          <a:prstGeom prst="rect">
            <a:avLst/>
          </a:prstGeom>
          <a:noFill/>
          <a:ln w="12700">
            <a:solidFill>
              <a:prstClr val="black"/>
            </a:solidFill>
          </a:ln>
        </p:spPr>
        <p:txBody>
          <a:bodyPr vert="horz" lIns="94750" tIns="47375" rIns="94750" bIns="47375" rtlCol="0" anchor="ctr"/>
          <a:lstStyle/>
          <a:p>
            <a:endParaRPr lang="ja-JP" altLang="en-US"/>
          </a:p>
        </p:txBody>
      </p:sp>
      <p:sp>
        <p:nvSpPr>
          <p:cNvPr id="5" name="ノート プレースホルダー 4"/>
          <p:cNvSpPr>
            <a:spLocks noGrp="1"/>
          </p:cNvSpPr>
          <p:nvPr>
            <p:ph type="body" sz="quarter" idx="3"/>
          </p:nvPr>
        </p:nvSpPr>
        <p:spPr>
          <a:xfrm>
            <a:off x="710407" y="4925408"/>
            <a:ext cx="5683250" cy="4029879"/>
          </a:xfrm>
          <a:prstGeom prst="rect">
            <a:avLst/>
          </a:prstGeom>
        </p:spPr>
        <p:txBody>
          <a:bodyPr vert="horz" lIns="94750" tIns="47375" rIns="94750" bIns="4737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6"/>
            <a:ext cx="3078427" cy="513507"/>
          </a:xfrm>
          <a:prstGeom prst="rect">
            <a:avLst/>
          </a:prstGeom>
        </p:spPr>
        <p:txBody>
          <a:bodyPr vert="horz" lIns="94750" tIns="47375" rIns="94750" bIns="4737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4023992" y="9721106"/>
            <a:ext cx="3078427" cy="513507"/>
          </a:xfrm>
          <a:prstGeom prst="rect">
            <a:avLst/>
          </a:prstGeom>
        </p:spPr>
        <p:txBody>
          <a:bodyPr vert="horz" lIns="94750" tIns="47375" rIns="94750" bIns="47375" rtlCol="0" anchor="b"/>
          <a:lstStyle>
            <a:lvl1pPr algn="r">
              <a:defRPr sz="1200"/>
            </a:lvl1pPr>
          </a:lstStyle>
          <a:p>
            <a:fld id="{6837186B-806A-4EA8-B565-1724343EE10B}" type="slidenum">
              <a:rPr kumimoji="1" lang="ja-JP" altLang="en-US" smtClean="0"/>
              <a:t>‹#›</a:t>
            </a:fld>
            <a:endParaRPr kumimoji="1" lang="ja-JP" altLang="en-US"/>
          </a:p>
        </p:txBody>
      </p:sp>
    </p:spTree>
    <p:extLst>
      <p:ext uri="{BB962C8B-B14F-4D97-AF65-F5344CB8AC3E}">
        <p14:creationId xmlns:p14="http://schemas.microsoft.com/office/powerpoint/2010/main" val="10273530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dirty="0"/>
              <a:t>多田大地と申します。私の方からは，</a:t>
            </a:r>
            <a:r>
              <a:rPr lang="en-US" altLang="ja-JP" b="1" dirty="0"/>
              <a:t>MLLM</a:t>
            </a:r>
            <a:r>
              <a:rPr lang="ja-JP" altLang="ja-JP" b="1" dirty="0"/>
              <a:t>を用いた音響・映像統合解析に基づくオブジェクト同定手法の提案</a:t>
            </a:r>
            <a:r>
              <a:rPr lang="ja-JP" altLang="en-US" b="1" dirty="0"/>
              <a:t>というテーマで発表させていただきます。</a:t>
            </a:r>
            <a:br>
              <a:rPr lang="en-US" altLang="ja-JP" b="1" dirty="0"/>
            </a:br>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1</a:t>
            </a:fld>
            <a:endParaRPr kumimoji="1" lang="ja-JP" altLang="en-US"/>
          </a:p>
        </p:txBody>
      </p:sp>
    </p:spTree>
    <p:extLst>
      <p:ext uri="{BB962C8B-B14F-4D97-AF65-F5344CB8AC3E}">
        <p14:creationId xmlns:p14="http://schemas.microsoft.com/office/powerpoint/2010/main" val="914501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dirty="0"/>
              <a:t>流れといたしましては，このようになっております。</a:t>
            </a:r>
            <a:br>
              <a:rPr kumimoji="1" lang="en-US" altLang="ja-JP" dirty="0"/>
            </a:br>
            <a:r>
              <a:rPr kumimoji="1" lang="ja-JP" altLang="en-US" dirty="0"/>
              <a:t>まず最初に，研究概要の方からお話をさせていただきます。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a:t>
            </a:fld>
            <a:endParaRPr kumimoji="1" lang="ja-JP" altLang="en-US"/>
          </a:p>
        </p:txBody>
      </p:sp>
    </p:spTree>
    <p:extLst>
      <p:ext uri="{BB962C8B-B14F-4D97-AF65-F5344CB8AC3E}">
        <p14:creationId xmlns:p14="http://schemas.microsoft.com/office/powerpoint/2010/main" val="347662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9B9B-E578-F04C-751C-09D86701623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63A7A7-A23A-0E86-5863-F6B74FD13E9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E6B2294-A787-7D6C-573B-601542E438EC}"/>
              </a:ext>
            </a:extLst>
          </p:cNvPr>
          <p:cNvSpPr>
            <a:spLocks noGrp="1"/>
          </p:cNvSpPr>
          <p:nvPr>
            <p:ph type="body" idx="1"/>
          </p:nvPr>
        </p:nvSpPr>
        <p:spPr/>
        <p:txBody>
          <a:bodyPr/>
          <a:lstStyle/>
          <a:p>
            <a:r>
              <a:rPr kumimoji="1" lang="ja-JP" altLang="en-US" dirty="0"/>
              <a:t>研究概要といたしましては，</a:t>
            </a:r>
            <a:br>
              <a:rPr kumimoji="1" lang="en-US" altLang="ja-JP" dirty="0"/>
            </a:br>
            <a:r>
              <a:rPr kumimoji="1" lang="ja-JP" altLang="en-US" dirty="0"/>
              <a:t>まず最初に，動画ファイルから，動画内に存在する音を発しているオブジェクトを，</a:t>
            </a:r>
            <a:r>
              <a:rPr kumimoji="1" lang="en-US" altLang="ja-JP" dirty="0"/>
              <a:t>AI,</a:t>
            </a:r>
            <a:r>
              <a:rPr kumimoji="1" lang="ja-JP" altLang="en-US" dirty="0"/>
              <a:t>具体的にはマルチモーダル大規模言語モデルの</a:t>
            </a:r>
            <a:r>
              <a:rPr kumimoji="1" lang="en-US" altLang="ja-JP" dirty="0"/>
              <a:t>Gemini</a:t>
            </a:r>
            <a:r>
              <a:rPr kumimoji="1" lang="ja-JP" altLang="en-US" dirty="0"/>
              <a:t> </a:t>
            </a:r>
            <a:r>
              <a:rPr kumimoji="1" lang="en-US" altLang="ja-JP" dirty="0"/>
              <a:t>2.5</a:t>
            </a:r>
            <a:r>
              <a:rPr kumimoji="1" lang="ja-JP" altLang="en-US" dirty="0"/>
              <a:t> </a:t>
            </a:r>
            <a:r>
              <a:rPr kumimoji="1" lang="en-US" altLang="ja-JP" dirty="0"/>
              <a:t>Pro</a:t>
            </a:r>
            <a:r>
              <a:rPr kumimoji="1" lang="ja-JP" altLang="en-US" dirty="0"/>
              <a:t>を用いて特定を行います。</a:t>
            </a:r>
            <a:br>
              <a:rPr kumimoji="1" lang="en-US" altLang="ja-JP" dirty="0"/>
            </a:br>
            <a:r>
              <a:rPr kumimoji="1" lang="en-US" altLang="ja-JP" dirty="0"/>
              <a:t>Gemini</a:t>
            </a:r>
            <a:r>
              <a:rPr kumimoji="1" lang="ja-JP" altLang="en-US" dirty="0"/>
              <a:t> </a:t>
            </a:r>
            <a:r>
              <a:rPr kumimoji="1" lang="en-US" altLang="ja-JP" dirty="0"/>
              <a:t>2.5</a:t>
            </a:r>
            <a:r>
              <a:rPr kumimoji="1" lang="ja-JP" altLang="en-US" dirty="0"/>
              <a:t> </a:t>
            </a:r>
            <a:r>
              <a:rPr kumimoji="1" lang="en-US" altLang="ja-JP" dirty="0"/>
              <a:t>Pro</a:t>
            </a:r>
            <a:r>
              <a:rPr kumimoji="1" lang="ja-JP" altLang="en-US" dirty="0"/>
              <a:t>は特定したオブジェクトをリストとして返しまして，それを人の手で修正し，教師データを作成し，ファインチューニングを実施します。</a:t>
            </a:r>
            <a:endParaRPr kumimoji="1" lang="en-US" altLang="ja-JP" dirty="0"/>
          </a:p>
          <a:p>
            <a:r>
              <a:rPr kumimoji="1" lang="ja-JP" altLang="en-US" dirty="0"/>
              <a:t>最後に，</a:t>
            </a:r>
            <a:r>
              <a:rPr kumimoji="1" lang="en-US" altLang="ja-JP" dirty="0"/>
              <a:t>FT</a:t>
            </a:r>
            <a:r>
              <a:rPr kumimoji="1" lang="ja-JP" altLang="en-US" dirty="0"/>
              <a:t>を施した学習済みのモデルと，ベースモデルと言われる学習済みでないモデルを比較し，タスクの推論精度の向上可能性を検証するというものになっております。</a:t>
            </a:r>
          </a:p>
        </p:txBody>
      </p:sp>
      <p:sp>
        <p:nvSpPr>
          <p:cNvPr id="4" name="スライド番号プレースホルダー 3">
            <a:extLst>
              <a:ext uri="{FF2B5EF4-FFF2-40B4-BE49-F238E27FC236}">
                <a16:creationId xmlns:a16="http://schemas.microsoft.com/office/drawing/2014/main" id="{062FA114-A311-F444-4E62-C69A32413811}"/>
              </a:ext>
            </a:extLst>
          </p:cNvPr>
          <p:cNvSpPr>
            <a:spLocks noGrp="1"/>
          </p:cNvSpPr>
          <p:nvPr>
            <p:ph type="sldNum" sz="quarter" idx="5"/>
          </p:nvPr>
        </p:nvSpPr>
        <p:spPr/>
        <p:txBody>
          <a:bodyPr/>
          <a:lstStyle/>
          <a:p>
            <a:fld id="{6837186B-806A-4EA8-B565-1724343EE10B}" type="slidenum">
              <a:rPr kumimoji="1" lang="ja-JP" altLang="en-US" smtClean="0"/>
              <a:t>3</a:t>
            </a:fld>
            <a:endParaRPr kumimoji="1" lang="ja-JP" altLang="en-US"/>
          </a:p>
        </p:txBody>
      </p:sp>
    </p:spTree>
    <p:extLst>
      <p:ext uri="{BB962C8B-B14F-4D97-AF65-F5344CB8AC3E}">
        <p14:creationId xmlns:p14="http://schemas.microsoft.com/office/powerpoint/2010/main" val="3892795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lang="ja-JP" altLang="en-US" dirty="0"/>
              <a:t>研究背景といたしまして，まずはマルチモーダル大規模言語モデル，</a:t>
            </a:r>
            <a:r>
              <a:rPr lang="en-US" altLang="ja-JP" dirty="0"/>
              <a:t>MLLM</a:t>
            </a:r>
            <a:r>
              <a:rPr lang="ja-JP" altLang="en-US" dirty="0"/>
              <a:t>の発展について導入としてお話させていただきます。</a:t>
            </a:r>
            <a:br>
              <a:rPr lang="en-US" altLang="ja-JP" dirty="0"/>
            </a:br>
            <a:r>
              <a:rPr lang="ja-JP" altLang="en-US" dirty="0"/>
              <a:t>マルチモーダル大規模言語モデルとは，テキスト・画像・音声・動画といった，複数の異なるデータ形式を処理するモデルとなっております。</a:t>
            </a:r>
            <a:endParaRPr lang="en-US" altLang="ja-JP" dirty="0"/>
          </a:p>
          <a:p>
            <a:r>
              <a:rPr kumimoji="1" lang="ja-JP" altLang="en-US" dirty="0"/>
              <a:t>例えば，視覚情報や音響情報といったデータ形式の異なるモデルをほかの言語と同様の文脈で解釈することにより，通常の</a:t>
            </a:r>
            <a:r>
              <a:rPr kumimoji="1" lang="en-US" altLang="ja-JP" dirty="0"/>
              <a:t>LLM</a:t>
            </a:r>
            <a:r>
              <a:rPr kumimoji="1" lang="ja-JP" altLang="en-US" dirty="0"/>
              <a:t>と比べて複雑なタスクが実行できるような，</a:t>
            </a:r>
            <a:r>
              <a:rPr kumimoji="1" lang="en-US" altLang="ja-JP" dirty="0"/>
              <a:t>LLM</a:t>
            </a:r>
            <a:r>
              <a:rPr kumimoji="1" lang="ja-JP" altLang="en-US" dirty="0"/>
              <a:t>の発展形の一種となっております。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4</a:t>
            </a:fld>
            <a:endParaRPr kumimoji="1" lang="ja-JP" altLang="en-US"/>
          </a:p>
        </p:txBody>
      </p:sp>
    </p:spTree>
    <p:extLst>
      <p:ext uri="{BB962C8B-B14F-4D97-AF65-F5344CB8AC3E}">
        <p14:creationId xmlns:p14="http://schemas.microsoft.com/office/powerpoint/2010/main" val="894168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dirty="0"/>
              <a:t>続いて，</a:t>
            </a:r>
            <a:r>
              <a:rPr kumimoji="1" lang="en-US" altLang="ja-JP" dirty="0"/>
              <a:t>MLLM</a:t>
            </a:r>
            <a:r>
              <a:rPr kumimoji="1" lang="ja-JP" altLang="en-US" dirty="0"/>
              <a:t>の発展に続いて，本研究のメインテーマである音源オブジェクトの特定に関する研究についても言及させていただきます。</a:t>
            </a:r>
            <a:endParaRPr kumimoji="1" lang="en-US" altLang="ja-JP" dirty="0"/>
          </a:p>
          <a:p>
            <a:r>
              <a:rPr kumimoji="1" lang="en-US" altLang="ja-JP" dirty="0"/>
              <a:t>MLLM</a:t>
            </a:r>
            <a:r>
              <a:rPr kumimoji="1" lang="ja-JP" altLang="en-US" dirty="0"/>
              <a:t>研究は，現在静止画理解に焦点が置かれている状況にあり、動画に関する研究や音声も含めた研究は相対的に少なく、</a:t>
            </a:r>
            <a:br>
              <a:rPr kumimoji="1" lang="en-US" altLang="ja-JP" dirty="0"/>
            </a:br>
            <a:r>
              <a:rPr kumimoji="1" lang="ja-JP" altLang="en-US" dirty="0"/>
              <a:t>音源定位や動画キャプションなど，動画に関する研究も存在しますが，モデル自体の基礎的な性能評価に留まってしまっている傾向があります。</a:t>
            </a:r>
            <a:endParaRPr kumimoji="1" lang="en-US" altLang="ja-JP" dirty="0"/>
          </a:p>
          <a:p>
            <a:r>
              <a:rPr kumimoji="1" lang="ja-JP" altLang="en-US" dirty="0"/>
              <a:t>また、精度評価後、事後学習などで精度改善のプロセスに関する研究事例が不足しているという問題もあります。</a:t>
            </a:r>
            <a:endParaRPr kumimoji="1" lang="en-US" altLang="ja-JP"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5</a:t>
            </a:fld>
            <a:endParaRPr kumimoji="1" lang="ja-JP" altLang="en-US"/>
          </a:p>
        </p:txBody>
      </p:sp>
    </p:spTree>
    <p:extLst>
      <p:ext uri="{BB962C8B-B14F-4D97-AF65-F5344CB8AC3E}">
        <p14:creationId xmlns:p14="http://schemas.microsoft.com/office/powerpoint/2010/main" val="2605075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lang="ja-JP" altLang="en-US" dirty="0"/>
              <a:t>次に、関連研究を提示させていただきます。具体的な研究事例といたしまして，</a:t>
            </a:r>
            <a:r>
              <a:rPr lang="en-US" altLang="ja-JP" dirty="0"/>
              <a:t>2023</a:t>
            </a:r>
            <a:r>
              <a:rPr lang="ja-JP" altLang="en-US" dirty="0"/>
              <a:t>年の研究「</a:t>
            </a:r>
            <a:r>
              <a:rPr lang="en-US" altLang="ja-JP" dirty="0" err="1"/>
              <a:t>BuboGPT</a:t>
            </a:r>
            <a:r>
              <a:rPr lang="ja-JP" altLang="en-US" dirty="0"/>
              <a:t>」を挙げます。本研究は動画ではなく画像を対象としているものではあるのですが，テキスト・画像・音声という異なる情報を共通の意味空間で学習させるとともに，画像の特定領域と言語を対応付けることで，より精緻な知覚能力を獲得しています。</a:t>
            </a:r>
            <a:br>
              <a:rPr lang="ja-JP" altLang="en-US" dirty="0"/>
            </a:br>
            <a:r>
              <a:rPr lang="ja-JP" altLang="en-US" dirty="0"/>
              <a:t>さらに，物体切り出し技術と</a:t>
            </a:r>
            <a:r>
              <a:rPr lang="en-US" altLang="ja-JP" dirty="0"/>
              <a:t>LLM</a:t>
            </a:r>
            <a:r>
              <a:rPr lang="ja-JP" altLang="en-US" dirty="0"/>
              <a:t>を連携させ，意図的に関連のない画像と音声を含めて学習させることで，従来モデルよりも画像内のどの物体が音を発しているかといった詳細な特定が可能となり，認識精度が向上したと報告されています。</a:t>
            </a:r>
            <a:br>
              <a:rPr lang="en-US" altLang="ja-JP" dirty="0"/>
            </a:br>
            <a:r>
              <a:rPr lang="ja-JP" altLang="en-US" dirty="0"/>
              <a:t>このことから，マルチモーダル</a:t>
            </a:r>
            <a:r>
              <a:rPr lang="en-US" altLang="ja-JP" dirty="0"/>
              <a:t>LLM</a:t>
            </a:r>
            <a:r>
              <a:rPr lang="ja-JP" altLang="en-US" dirty="0"/>
              <a:t>において視覚的な領域特定能力の統合が高度な理解に有効であることが示されました。</a:t>
            </a:r>
            <a:endParaRPr lang="en-US" altLang="ja-JP" dirty="0"/>
          </a:p>
          <a:p>
            <a:r>
              <a:rPr kumimoji="1" lang="ja-JP" altLang="en-US" dirty="0"/>
              <a:t>このほかにも、動画を用いて音源の特定が主目的な研究はありますが、いずれも機械学習モデル自体の作成などから行われる事例が目立っています。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6</a:t>
            </a:fld>
            <a:endParaRPr kumimoji="1" lang="ja-JP" altLang="en-US"/>
          </a:p>
        </p:txBody>
      </p:sp>
    </p:spTree>
    <p:extLst>
      <p:ext uri="{BB962C8B-B14F-4D97-AF65-F5344CB8AC3E}">
        <p14:creationId xmlns:p14="http://schemas.microsoft.com/office/powerpoint/2010/main" val="1059221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pPr defTabSz="947501">
              <a:defRPr/>
            </a:pPr>
            <a:r>
              <a:rPr kumimoji="1" lang="ja-JP" altLang="en-US" dirty="0"/>
              <a:t>そこで、研究目的といたしましては、予め用意された既存のモデルとして、商用</a:t>
            </a:r>
            <a:r>
              <a:rPr kumimoji="1" lang="en-US" altLang="ja-JP" dirty="0"/>
              <a:t>LLM</a:t>
            </a:r>
            <a:r>
              <a:rPr kumimoji="1" lang="ja-JP" altLang="en-US" dirty="0"/>
              <a:t>である</a:t>
            </a:r>
            <a:r>
              <a:rPr kumimoji="1" lang="en-US" altLang="ja-JP" dirty="0"/>
              <a:t>Gemini</a:t>
            </a:r>
            <a:r>
              <a:rPr kumimoji="1" lang="ja-JP" altLang="en-US" dirty="0"/>
              <a:t>　</a:t>
            </a:r>
            <a:r>
              <a:rPr kumimoji="1" lang="en-US" altLang="ja-JP" dirty="0"/>
              <a:t>2.5 Pro</a:t>
            </a:r>
            <a:r>
              <a:rPr kumimoji="1" lang="ja-JP" altLang="en-US" dirty="0"/>
              <a:t>を用いて動画解釈を行うことにより音源オブジェクトの同定を行うことと、</a:t>
            </a:r>
            <a:br>
              <a:rPr kumimoji="1" lang="en-US" altLang="ja-JP" dirty="0"/>
            </a:br>
            <a:r>
              <a:rPr kumimoji="1" lang="ja-JP" altLang="en-US" dirty="0"/>
              <a:t>また、事後学習として</a:t>
            </a:r>
            <a:r>
              <a:rPr kumimoji="1" lang="en-US" altLang="ja-JP" dirty="0"/>
              <a:t>FT</a:t>
            </a:r>
            <a:r>
              <a:rPr kumimoji="1" lang="ja-JP" altLang="en-US" dirty="0"/>
              <a:t>を実施し，</a:t>
            </a:r>
            <a:r>
              <a:rPr kumimoji="1" lang="en-US" altLang="ja-JP" dirty="0"/>
              <a:t>FT</a:t>
            </a:r>
            <a:r>
              <a:rPr kumimoji="1" lang="ja-JP" altLang="en-US" dirty="0"/>
              <a:t>前後の精度比較を検証するというものになっております。</a:t>
            </a:r>
            <a:br>
              <a:rPr kumimoji="1" lang="en-US" altLang="ja-JP" dirty="0"/>
            </a:br>
            <a:r>
              <a:rPr kumimoji="1" lang="ja-JP" altLang="en-US" dirty="0"/>
              <a:t>これを検証することで、独自に作成されたモデルではなく商用のマルチモーダル大規模言語モデルの動画理解やファインチューニング自体の精度も検証していきたいと考えました。</a:t>
            </a:r>
          </a:p>
          <a:p>
            <a:br>
              <a:rPr kumimoji="1" lang="en-US" altLang="ja-JP" dirty="0"/>
            </a:br>
            <a:br>
              <a:rPr kumimoji="1"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7</a:t>
            </a:fld>
            <a:endParaRPr kumimoji="1" lang="ja-JP" altLang="en-US"/>
          </a:p>
        </p:txBody>
      </p:sp>
    </p:spTree>
    <p:extLst>
      <p:ext uri="{BB962C8B-B14F-4D97-AF65-F5344CB8AC3E}">
        <p14:creationId xmlns:p14="http://schemas.microsoft.com/office/powerpoint/2010/main" val="3454642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7E1A0-2F3E-3BA2-9DC5-F5DD68C5A9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5DEE00-16FD-2857-B9ED-AB02B8EABF1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E703BC72-F536-4A70-8D2D-FD724E4BA2AC}"/>
              </a:ext>
            </a:extLst>
          </p:cNvPr>
          <p:cNvSpPr>
            <a:spLocks noGrp="1"/>
          </p:cNvSpPr>
          <p:nvPr>
            <p:ph type="body" idx="1"/>
          </p:nvPr>
        </p:nvSpPr>
        <p:spPr/>
        <p:txBody>
          <a:bodyPr/>
          <a:lstStyle/>
          <a:p>
            <a:r>
              <a:rPr kumimoji="1" lang="ja-JP" altLang="en-US" dirty="0"/>
              <a:t>研究アプローチとしては，</a:t>
            </a:r>
            <a:br>
              <a:rPr kumimoji="1" lang="en-US" altLang="ja-JP" dirty="0"/>
            </a:br>
            <a:r>
              <a:rPr kumimoji="1" lang="ja-JP" altLang="en-US" dirty="0"/>
              <a:t>フィードバックを用いた継続的な改善サイクルおよび，</a:t>
            </a:r>
            <a:br>
              <a:rPr kumimoji="1" lang="en-US" altLang="ja-JP" dirty="0"/>
            </a:br>
            <a:r>
              <a:rPr kumimoji="1" lang="ja-JP" altLang="en-US" dirty="0"/>
              <a:t>さらに</a:t>
            </a:r>
            <a:r>
              <a:rPr kumimoji="1" lang="en-US" altLang="ja-JP" dirty="0"/>
              <a:t>Gemini</a:t>
            </a:r>
            <a:r>
              <a:rPr kumimoji="1" lang="ja-JP" altLang="en-US" dirty="0"/>
              <a:t>における事後学習システムの実装および効果検証，またこれらのシステムをアプリケーションで実装するという方針としました。</a:t>
            </a:r>
            <a:br>
              <a:rPr kumimoji="1" lang="en-US" altLang="ja-JP" dirty="0"/>
            </a:br>
            <a:r>
              <a:rPr kumimoji="1" lang="ja-JP" altLang="en-US" dirty="0"/>
              <a:t>将来的なユーザー利用も見据えて、アプリケーションとして本システムを構築していることが本研究の特徴になります。</a:t>
            </a:r>
            <a:endParaRPr kumimoji="1" lang="en-US" altLang="ja-JP" dirty="0"/>
          </a:p>
          <a:p>
            <a:r>
              <a:rPr kumimoji="1" lang="ja-JP" altLang="en-US" dirty="0"/>
              <a:t>具体的には本アプリケーションに対して動画入力を行い，</a:t>
            </a:r>
            <a:r>
              <a:rPr kumimoji="1" lang="en-US" altLang="ja-JP" dirty="0"/>
              <a:t>Gemini</a:t>
            </a:r>
            <a:r>
              <a:rPr kumimoji="1" lang="ja-JP" altLang="en-US" dirty="0"/>
              <a:t>のモデルを選択し、そのモデルが動画解析した結果出力に対して評価、又は修正で教師データを作成してファインチューニングすることでモデルを作成し、そのモデルで解析を行う、という形式でサイクルが可能な設計といたしました。</a:t>
            </a:r>
          </a:p>
        </p:txBody>
      </p:sp>
      <p:sp>
        <p:nvSpPr>
          <p:cNvPr id="4" name="スライド番号プレースホルダー 3">
            <a:extLst>
              <a:ext uri="{FF2B5EF4-FFF2-40B4-BE49-F238E27FC236}">
                <a16:creationId xmlns:a16="http://schemas.microsoft.com/office/drawing/2014/main" id="{546DE61C-061B-576D-0956-A97729F18887}"/>
              </a:ext>
            </a:extLst>
          </p:cNvPr>
          <p:cNvSpPr>
            <a:spLocks noGrp="1"/>
          </p:cNvSpPr>
          <p:nvPr>
            <p:ph type="sldNum" sz="quarter" idx="5"/>
          </p:nvPr>
        </p:nvSpPr>
        <p:spPr/>
        <p:txBody>
          <a:bodyPr/>
          <a:lstStyle/>
          <a:p>
            <a:fld id="{6837186B-806A-4EA8-B565-1724343EE10B}" type="slidenum">
              <a:rPr kumimoji="1" lang="ja-JP" altLang="en-US" smtClean="0"/>
              <a:t>8</a:t>
            </a:fld>
            <a:endParaRPr kumimoji="1" lang="ja-JP" altLang="en-US"/>
          </a:p>
        </p:txBody>
      </p:sp>
    </p:spTree>
    <p:extLst>
      <p:ext uri="{BB962C8B-B14F-4D97-AF65-F5344CB8AC3E}">
        <p14:creationId xmlns:p14="http://schemas.microsoft.com/office/powerpoint/2010/main" val="1767105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簡単に，システム構成の概略を説明させていただきます。</a:t>
            </a:r>
            <a:br>
              <a:rPr kumimoji="1" lang="en-US" altLang="ja-JP" dirty="0"/>
            </a:br>
            <a:r>
              <a:rPr kumimoji="1" lang="ja-JP" altLang="en-US" dirty="0"/>
              <a:t>まず，</a:t>
            </a:r>
            <a:r>
              <a:rPr kumimoji="1" lang="en-US" altLang="ja-JP" dirty="0"/>
              <a:t>Gemini</a:t>
            </a:r>
            <a:r>
              <a:rPr kumimoji="1" lang="ja-JP" altLang="en-US" dirty="0"/>
              <a:t> </a:t>
            </a:r>
            <a:r>
              <a:rPr kumimoji="1" lang="en-US" altLang="ja-JP" dirty="0"/>
              <a:t>2.5</a:t>
            </a:r>
            <a:r>
              <a:rPr kumimoji="1" lang="ja-JP" altLang="en-US" dirty="0"/>
              <a:t> </a:t>
            </a:r>
            <a:r>
              <a:rPr kumimoji="1" lang="en-US" altLang="ja-JP" dirty="0"/>
              <a:t>Pro</a:t>
            </a:r>
            <a:r>
              <a:rPr kumimoji="1" lang="ja-JP" altLang="en-US" dirty="0"/>
              <a:t>を用いて統合解析を行い，動画から、動画内にオブジェクトが存在し、音が発生した事象を音響イベントとして出力していきます。</a:t>
            </a:r>
            <a:br>
              <a:rPr kumimoji="1" lang="en-US" altLang="ja-JP" dirty="0"/>
            </a:br>
            <a:r>
              <a:rPr kumimoji="1" lang="ja-JP" altLang="en-US" dirty="0"/>
              <a:t>次に，教師データおよび評価の作成を行います。</a:t>
            </a:r>
            <a:br>
              <a:rPr kumimoji="1" lang="en-US" altLang="ja-JP" dirty="0"/>
            </a:br>
            <a:r>
              <a:rPr kumimoji="1" lang="ja-JP" altLang="en-US" dirty="0"/>
              <a:t>ここで</a:t>
            </a:r>
            <a:r>
              <a:rPr kumimoji="1" lang="en-US" altLang="ja-JP" dirty="0"/>
              <a:t>AI</a:t>
            </a:r>
            <a:r>
              <a:rPr kumimoji="1" lang="ja-JP" altLang="en-US" dirty="0"/>
              <a:t>によって出力されたイベントをユーザーによって修正し，教師データを作成するとともに，</a:t>
            </a:r>
            <a:br>
              <a:rPr kumimoji="1" lang="en-US" altLang="ja-JP" dirty="0"/>
            </a:br>
            <a:r>
              <a:rPr kumimoji="1" lang="ja-JP" altLang="en-US" dirty="0"/>
              <a:t>修正前後を比較して精度評価を実施できるようになっております。</a:t>
            </a:r>
            <a:endParaRPr kumimoji="1" lang="en-US" altLang="ja-JP" dirty="0"/>
          </a:p>
          <a:p>
            <a:r>
              <a:rPr kumimoji="1" lang="ja-JP" altLang="en-US" dirty="0"/>
              <a:t>また，ファインチューニングについては，教師データを</a:t>
            </a:r>
            <a:r>
              <a:rPr kumimoji="1" lang="en-US" altLang="ja-JP" dirty="0"/>
              <a:t>FT</a:t>
            </a:r>
            <a:r>
              <a:rPr kumimoji="1" lang="ja-JP" altLang="en-US" dirty="0"/>
              <a:t>で学習し，学習済みモデルを作成して同様に統合解析することで、学習済みモデルとベースモデルを精度比較しています。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9</a:t>
            </a:fld>
            <a:endParaRPr kumimoji="1" lang="ja-JP" altLang="en-US"/>
          </a:p>
        </p:txBody>
      </p:sp>
    </p:spTree>
    <p:extLst>
      <p:ext uri="{BB962C8B-B14F-4D97-AF65-F5344CB8AC3E}">
        <p14:creationId xmlns:p14="http://schemas.microsoft.com/office/powerpoint/2010/main" val="3660247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解析ロジックについては，プロンプト指示によって実施しておりまして，以下の形式で出力をさせました。</a:t>
            </a:r>
            <a:endParaRPr kumimoji="1" lang="en-US" altLang="ja-JP" dirty="0"/>
          </a:p>
          <a:p>
            <a:pPr defTabSz="947501">
              <a:defRPr/>
            </a:pPr>
            <a:r>
              <a:rPr kumimoji="1" lang="ja-JP" altLang="en-US" dirty="0"/>
              <a:t>まず音の発生した時系列順に，映像内の物体が音を発している出来事を音響イベントとしてリスト形式で出力させ，</a:t>
            </a:r>
            <a:endParaRPr kumimoji="1" lang="en-US" altLang="ja-JP" dirty="0"/>
          </a:p>
          <a:p>
            <a:pPr defTabSz="947501">
              <a:defRPr/>
            </a:pPr>
            <a:r>
              <a:rPr kumimoji="1" lang="ja-JP" altLang="en-US" dirty="0"/>
              <a:t>次にタイムスタンプ，音源，その音源であると特定した理由</a:t>
            </a:r>
            <a:r>
              <a:rPr lang="ja-JP" altLang="en-US" dirty="0"/>
              <a:t>を推論根拠として、それぞれ出力リストに含め</a:t>
            </a:r>
            <a:endParaRPr lang="en-US" altLang="ja-JP" dirty="0"/>
          </a:p>
          <a:p>
            <a:pPr defTabSz="947501">
              <a:defRPr/>
            </a:pPr>
            <a:r>
              <a:rPr lang="ja-JP" altLang="en-US" dirty="0"/>
              <a:t>最後に，文章として出力された推論根拠を物体，属性，動作，音に分割することで、構造化データを構成しました。</a:t>
            </a:r>
            <a:endParaRPr lang="en-US" altLang="ja-JP" dirty="0"/>
          </a:p>
          <a:p>
            <a:pPr defTabSz="947501">
              <a:defRPr/>
            </a:pPr>
            <a:r>
              <a:rPr kumimoji="1" lang="ja-JP" altLang="en-US" dirty="0"/>
              <a:t>また、本研究においては音源オブジェクトの特定が主目的のため、画面外の音源を取り扱わずに、評価指標には含まれない要素として設計しました。</a:t>
            </a:r>
            <a:endParaRPr kumimoji="1" lang="en-US" altLang="ja-JP" dirty="0"/>
          </a:p>
          <a:p>
            <a:pPr defTabSz="947501">
              <a:defRPr/>
            </a:pPr>
            <a:endParaRPr lang="en-US" altLang="ja-JP"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10</a:t>
            </a:fld>
            <a:endParaRPr kumimoji="1" lang="ja-JP" altLang="en-US"/>
          </a:p>
        </p:txBody>
      </p:sp>
    </p:spTree>
    <p:extLst>
      <p:ext uri="{BB962C8B-B14F-4D97-AF65-F5344CB8AC3E}">
        <p14:creationId xmlns:p14="http://schemas.microsoft.com/office/powerpoint/2010/main" val="4071017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次に，こちらは今回精度評価には用いていないのですが、視覚補助ツールとしてバウンディングボックスの描画も実装しました。</a:t>
            </a:r>
            <a:br>
              <a:rPr kumimoji="1" lang="en-US" altLang="ja-JP" dirty="0"/>
            </a:br>
            <a:r>
              <a:rPr kumimoji="1" lang="ja-JP" altLang="en-US" dirty="0"/>
              <a:t>こちらでは，オブジェクトを赤色の枠，バウンディングボックスで囲むようにしました。</a:t>
            </a:r>
            <a:endParaRPr kumimoji="1" lang="en-US" altLang="ja-JP" dirty="0"/>
          </a:p>
          <a:p>
            <a:r>
              <a:rPr kumimoji="1" lang="ja-JP" altLang="en-US" dirty="0"/>
              <a:t>こちらは，</a:t>
            </a:r>
            <a:r>
              <a:rPr kumimoji="1" lang="en-US" altLang="ja-JP" dirty="0"/>
              <a:t>Cloud</a:t>
            </a:r>
            <a:r>
              <a:rPr kumimoji="1" lang="ja-JP" altLang="en-US" dirty="0"/>
              <a:t> </a:t>
            </a:r>
            <a:r>
              <a:rPr kumimoji="1" lang="en-US" altLang="ja-JP" dirty="0"/>
              <a:t>Vision</a:t>
            </a:r>
            <a:r>
              <a:rPr kumimoji="1" lang="ja-JP" altLang="en-US" dirty="0"/>
              <a:t> </a:t>
            </a:r>
            <a:r>
              <a:rPr kumimoji="1" lang="en-US" altLang="ja-JP" dirty="0"/>
              <a:t>API</a:t>
            </a:r>
            <a:r>
              <a:rPr kumimoji="1" lang="ja-JP" altLang="en-US" dirty="0"/>
              <a:t>という物体検出に特化した専用ツールとを使用しておりまして、音源オブジェクトの空間的な可視化を行う</a:t>
            </a:r>
            <a:br>
              <a:rPr kumimoji="1" lang="en-US" altLang="ja-JP" dirty="0"/>
            </a:br>
            <a:r>
              <a:rPr kumimoji="1" lang="ja-JP" altLang="en-US" dirty="0"/>
              <a:t>ツールとして実装しました。</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11</a:t>
            </a:fld>
            <a:endParaRPr kumimoji="1" lang="ja-JP" altLang="en-US"/>
          </a:p>
        </p:txBody>
      </p:sp>
    </p:spTree>
    <p:extLst>
      <p:ext uri="{BB962C8B-B14F-4D97-AF65-F5344CB8AC3E}">
        <p14:creationId xmlns:p14="http://schemas.microsoft.com/office/powerpoint/2010/main" val="1486599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dirty="0"/>
              <a:t>バウンディングボックスの描画にあたっては，</a:t>
            </a:r>
            <a:r>
              <a:rPr kumimoji="1" lang="en-US" altLang="ja-JP" dirty="0"/>
              <a:t>Gemini</a:t>
            </a:r>
            <a:r>
              <a:rPr kumimoji="1" lang="ja-JP" altLang="en-US" dirty="0"/>
              <a:t>のイベントのタイムスタンプに基づき，コマンドラインツールを用いて動画からフレームを一秒あたり</a:t>
            </a:r>
            <a:r>
              <a:rPr kumimoji="1" lang="en-US" altLang="ja-JP" dirty="0"/>
              <a:t>17</a:t>
            </a:r>
            <a:r>
              <a:rPr kumimoji="1" lang="ja-JP" altLang="en-US" dirty="0"/>
              <a:t>枚抽出し，</a:t>
            </a:r>
            <a:r>
              <a:rPr kumimoji="1" lang="en-US" altLang="ja-JP" dirty="0"/>
              <a:t>Cloud</a:t>
            </a:r>
            <a:r>
              <a:rPr kumimoji="1" lang="ja-JP" altLang="en-US" dirty="0"/>
              <a:t> </a:t>
            </a:r>
            <a:r>
              <a:rPr kumimoji="1" lang="en-US" altLang="ja-JP" dirty="0"/>
              <a:t>Vision</a:t>
            </a:r>
            <a:r>
              <a:rPr kumimoji="1" lang="ja-JP" altLang="en-US" dirty="0"/>
              <a:t> </a:t>
            </a:r>
            <a:r>
              <a:rPr kumimoji="1" lang="en-US" altLang="ja-JP" dirty="0"/>
              <a:t>API</a:t>
            </a:r>
            <a:r>
              <a:rPr kumimoji="1" lang="ja-JP" altLang="en-US" dirty="0"/>
              <a:t>でオブジェクトが検出されたフレームを描画する形式でして，</a:t>
            </a:r>
            <a:br>
              <a:rPr kumimoji="1" lang="en-US" altLang="ja-JP" dirty="0"/>
            </a:br>
            <a:r>
              <a:rPr kumimoji="1" lang="en-US" altLang="ja-JP" dirty="0"/>
              <a:t>Cloud</a:t>
            </a:r>
            <a:r>
              <a:rPr kumimoji="1" lang="ja-JP" altLang="en-US" dirty="0"/>
              <a:t> </a:t>
            </a:r>
            <a:r>
              <a:rPr kumimoji="1" lang="en-US" altLang="ja-JP" dirty="0"/>
              <a:t>Vision</a:t>
            </a:r>
            <a:r>
              <a:rPr kumimoji="1" lang="ja-JP" altLang="en-US" dirty="0"/>
              <a:t> </a:t>
            </a:r>
            <a:r>
              <a:rPr kumimoji="1" lang="en-US" altLang="ja-JP" dirty="0"/>
              <a:t>API</a:t>
            </a:r>
            <a:r>
              <a:rPr kumimoji="1" lang="ja-JP" altLang="en-US" dirty="0"/>
              <a:t>がオブジェクトを検出したフレームのうち中央</a:t>
            </a:r>
            <a:r>
              <a:rPr kumimoji="1" lang="en-US" altLang="ja-JP" dirty="0"/>
              <a:t>10</a:t>
            </a:r>
            <a:r>
              <a:rPr kumimoji="1" lang="ja-JP" altLang="en-US" dirty="0"/>
              <a:t>枚を描画しまして，</a:t>
            </a:r>
            <a:r>
              <a:rPr kumimoji="1" lang="en-US" altLang="ja-JP" dirty="0"/>
              <a:t>UI</a:t>
            </a:r>
            <a:r>
              <a:rPr kumimoji="1" lang="ja-JP" altLang="en-US" dirty="0"/>
              <a:t>に表示しております。</a:t>
            </a:r>
          </a:p>
        </p:txBody>
      </p:sp>
      <p:sp>
        <p:nvSpPr>
          <p:cNvPr id="4" name="スライド番号プレースホルダー 3"/>
          <p:cNvSpPr>
            <a:spLocks noGrp="1"/>
          </p:cNvSpPr>
          <p:nvPr>
            <p:ph type="sldNum" sz="quarter" idx="5"/>
          </p:nvPr>
        </p:nvSpPr>
        <p:spPr/>
        <p:txBody>
          <a:bodyPr/>
          <a:lstStyle/>
          <a:p>
            <a:fld id="{D70C50CD-73E2-4C5B-8007-B43217B46401}" type="slidenum">
              <a:rPr kumimoji="1" lang="ja-JP" altLang="en-US" smtClean="0"/>
              <a:t>12</a:t>
            </a:fld>
            <a:endParaRPr kumimoji="1" lang="ja-JP" altLang="en-US"/>
          </a:p>
        </p:txBody>
      </p:sp>
    </p:spTree>
    <p:extLst>
      <p:ext uri="{BB962C8B-B14F-4D97-AF65-F5344CB8AC3E}">
        <p14:creationId xmlns:p14="http://schemas.microsoft.com/office/powerpoint/2010/main" val="825877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dirty="0"/>
              <a:t>バウンディングボックスの描画といたしましては，このような形式で出力を行いました。</a:t>
            </a:r>
            <a:endParaRPr kumimoji="1" lang="en-US" altLang="ja-JP" dirty="0"/>
          </a:p>
          <a:p>
            <a:r>
              <a:rPr kumimoji="1" lang="ja-JP" altLang="en-US" dirty="0"/>
              <a:t>オブジェクト検出は</a:t>
            </a:r>
            <a:r>
              <a:rPr kumimoji="1" lang="en-US" altLang="ja-JP" dirty="0"/>
              <a:t>Gemini</a:t>
            </a:r>
            <a:r>
              <a:rPr kumimoji="1" lang="ja-JP" altLang="en-US" dirty="0"/>
              <a:t>が，そしてオブジェクトの空間定位は</a:t>
            </a:r>
            <a:r>
              <a:rPr kumimoji="1" lang="en-US" altLang="ja-JP" dirty="0"/>
              <a:t>Cloud</a:t>
            </a:r>
            <a:r>
              <a:rPr kumimoji="1" lang="ja-JP" altLang="en-US" dirty="0"/>
              <a:t> </a:t>
            </a:r>
            <a:r>
              <a:rPr kumimoji="1" lang="en-US" altLang="ja-JP" dirty="0"/>
              <a:t>Vision</a:t>
            </a:r>
            <a:r>
              <a:rPr kumimoji="1" lang="ja-JP" altLang="en-US" dirty="0"/>
              <a:t> </a:t>
            </a:r>
            <a:r>
              <a:rPr kumimoji="1" lang="en-US" altLang="ja-JP" dirty="0"/>
              <a:t>API</a:t>
            </a:r>
            <a:r>
              <a:rPr kumimoji="1" lang="ja-JP" altLang="en-US" dirty="0"/>
              <a:t>が行っておりまして，</a:t>
            </a:r>
            <a:endParaRPr kumimoji="1" lang="en-US" altLang="ja-JP" dirty="0"/>
          </a:p>
          <a:p>
            <a:r>
              <a:rPr kumimoji="1" lang="en-US" altLang="ja-JP" dirty="0"/>
              <a:t>Gemini</a:t>
            </a:r>
            <a:r>
              <a:rPr kumimoji="1" lang="ja-JP" altLang="en-US" dirty="0"/>
              <a:t>はまず，オブジェクト名は日本語で出力する仕様としたので，これを英訳させ，一般的な英単語に変換します。</a:t>
            </a:r>
            <a:br>
              <a:rPr kumimoji="1" lang="en-US" altLang="ja-JP" dirty="0"/>
            </a:br>
            <a:r>
              <a:rPr kumimoji="1" lang="ja-JP" altLang="en-US" dirty="0"/>
              <a:t>一方で，</a:t>
            </a:r>
            <a:r>
              <a:rPr kumimoji="1" lang="en-US" altLang="ja-JP" dirty="0"/>
              <a:t>Cloud</a:t>
            </a:r>
            <a:r>
              <a:rPr kumimoji="1" lang="ja-JP" altLang="en-US" dirty="0"/>
              <a:t> </a:t>
            </a:r>
            <a:r>
              <a:rPr kumimoji="1" lang="en-US" altLang="ja-JP" dirty="0"/>
              <a:t>Vision</a:t>
            </a:r>
            <a:r>
              <a:rPr kumimoji="1" lang="ja-JP" altLang="en-US" dirty="0"/>
              <a:t> </a:t>
            </a:r>
            <a:r>
              <a:rPr kumimoji="1" lang="en-US" altLang="ja-JP" dirty="0"/>
              <a:t>API</a:t>
            </a:r>
            <a:r>
              <a:rPr kumimoji="1" lang="ja-JP" altLang="en-US" dirty="0"/>
              <a:t>は，全てのフレームに存在するオブジェクトを検出し，英単語で出力する仕様になっております。</a:t>
            </a:r>
            <a:br>
              <a:rPr kumimoji="1" lang="en-US" altLang="ja-JP" dirty="0"/>
            </a:br>
            <a:r>
              <a:rPr kumimoji="1" lang="ja-JP" altLang="en-US" dirty="0"/>
              <a:t>ここで，</a:t>
            </a:r>
            <a:r>
              <a:rPr kumimoji="1" lang="en-US" altLang="ja-JP" dirty="0"/>
              <a:t>Gemini</a:t>
            </a:r>
            <a:r>
              <a:rPr kumimoji="1" lang="ja-JP" altLang="en-US" dirty="0"/>
              <a:t>の出力と</a:t>
            </a:r>
            <a:r>
              <a:rPr kumimoji="1" lang="en-US" altLang="ja-JP" dirty="0"/>
              <a:t>Cloud</a:t>
            </a:r>
            <a:r>
              <a:rPr kumimoji="1" lang="ja-JP" altLang="en-US" dirty="0"/>
              <a:t> </a:t>
            </a:r>
            <a:r>
              <a:rPr kumimoji="1" lang="en-US" altLang="ja-JP" dirty="0"/>
              <a:t>Vision</a:t>
            </a:r>
            <a:r>
              <a:rPr kumimoji="1" lang="ja-JP" altLang="en-US" dirty="0"/>
              <a:t> </a:t>
            </a:r>
            <a:r>
              <a:rPr kumimoji="1" lang="en-US" altLang="ja-JP" dirty="0"/>
              <a:t>API</a:t>
            </a:r>
            <a:r>
              <a:rPr kumimoji="1" lang="ja-JP" altLang="en-US" dirty="0"/>
              <a:t>の出力を比較し，完全一致したワードや，類似したワードであっても引っ掛かるように包含関係のあるワードを</a:t>
            </a:r>
            <a:r>
              <a:rPr kumimoji="1" lang="en-US" altLang="ja-JP" dirty="0"/>
              <a:t>Gemini</a:t>
            </a:r>
            <a:r>
              <a:rPr kumimoji="1" lang="ja-JP" altLang="en-US" dirty="0"/>
              <a:t>が検出するように設計をしました。</a:t>
            </a:r>
            <a:br>
              <a:rPr kumimoji="1" lang="en-US" altLang="ja-JP" dirty="0"/>
            </a:br>
            <a:r>
              <a:rPr kumimoji="1" lang="ja-JP" altLang="en-US" dirty="0"/>
              <a:t>最後に，</a:t>
            </a:r>
            <a:r>
              <a:rPr kumimoji="1" lang="en-US" altLang="ja-JP" dirty="0"/>
              <a:t>Python</a:t>
            </a:r>
            <a:r>
              <a:rPr kumimoji="1" lang="ja-JP" altLang="en-US" dirty="0"/>
              <a:t>のツールで条件に一致したオブジェクトを赤，それ以外を黄で囲んで描画するような形式といたしました。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D70C50CD-73E2-4C5B-8007-B43217B46401}" type="slidenum">
              <a:rPr kumimoji="1" lang="ja-JP" altLang="en-US" smtClean="0"/>
              <a:t>13</a:t>
            </a:fld>
            <a:endParaRPr kumimoji="1" lang="ja-JP" altLang="en-US"/>
          </a:p>
        </p:txBody>
      </p:sp>
    </p:spTree>
    <p:extLst>
      <p:ext uri="{BB962C8B-B14F-4D97-AF65-F5344CB8AC3E}">
        <p14:creationId xmlns:p14="http://schemas.microsoft.com/office/powerpoint/2010/main" val="1289233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次に，具体的な推論・学習プロセスに関するシステムアーキテクチャについて説明させていただきます。</a:t>
            </a:r>
            <a:br>
              <a:rPr kumimoji="1" lang="en-US" altLang="ja-JP" dirty="0"/>
            </a:br>
            <a:r>
              <a:rPr kumimoji="1" lang="ja-JP" altLang="en-US" dirty="0"/>
              <a:t>本研究では，動画入力から解析・評価を一貫して行う</a:t>
            </a:r>
            <a:r>
              <a:rPr kumimoji="1" lang="en-US" altLang="ja-JP" dirty="0"/>
              <a:t>web</a:t>
            </a:r>
            <a:r>
              <a:rPr kumimoji="1" lang="ja-JP" altLang="en-US" dirty="0"/>
              <a:t>ベースのシステムを構築しておりまして，システム構成といたしましては，</a:t>
            </a:r>
            <a:endParaRPr kumimoji="1" lang="en-US" altLang="ja-JP" dirty="0"/>
          </a:p>
          <a:p>
            <a:r>
              <a:rPr kumimoji="1" lang="ja-JP" altLang="en-US" dirty="0"/>
              <a:t>まずフロントエンド・バックエンドは</a:t>
            </a:r>
            <a:r>
              <a:rPr kumimoji="1" lang="en-US" altLang="ja-JP" dirty="0"/>
              <a:t>Flask</a:t>
            </a:r>
            <a:r>
              <a:rPr kumimoji="1" lang="ja-JP" altLang="en-US" dirty="0"/>
              <a:t>，</a:t>
            </a:r>
            <a:r>
              <a:rPr kumimoji="1" lang="en-US" altLang="ja-JP" dirty="0"/>
              <a:t>HTML</a:t>
            </a:r>
            <a:r>
              <a:rPr kumimoji="1" lang="ja-JP" altLang="en-US" dirty="0"/>
              <a:t>，</a:t>
            </a:r>
            <a:r>
              <a:rPr kumimoji="1" lang="en-US" altLang="ja-JP" dirty="0"/>
              <a:t>CSS</a:t>
            </a:r>
            <a:r>
              <a:rPr kumimoji="1" lang="ja-JP" altLang="en-US" dirty="0"/>
              <a:t>を用いたアプリケーションとしてコードを作成して設計し、解析，出力結果の表示，評価などがユーザ操作で実施できるようになっております。</a:t>
            </a:r>
            <a:endParaRPr kumimoji="1" lang="en-US" altLang="ja-JP" dirty="0"/>
          </a:p>
          <a:p>
            <a:r>
              <a:rPr kumimoji="1" lang="ja-JP" altLang="en-US" dirty="0"/>
              <a:t>また，解析・学習基盤およびデータ管理の層として，クラウド上で</a:t>
            </a:r>
            <a:r>
              <a:rPr kumimoji="1" lang="en-US" altLang="ja-JP" dirty="0"/>
              <a:t>Gemini</a:t>
            </a:r>
            <a:r>
              <a:rPr kumimoji="1" lang="ja-JP" altLang="en-US" dirty="0"/>
              <a:t>による動画解析を実行し、動画データや教師データを管理しております。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14</a:t>
            </a:fld>
            <a:endParaRPr kumimoji="1" lang="ja-JP" altLang="en-US"/>
          </a:p>
        </p:txBody>
      </p:sp>
    </p:spTree>
    <p:extLst>
      <p:ext uri="{BB962C8B-B14F-4D97-AF65-F5344CB8AC3E}">
        <p14:creationId xmlns:p14="http://schemas.microsoft.com/office/powerpoint/2010/main" val="1732983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解析・学習を行うプラットフォームについては，</a:t>
            </a:r>
            <a:r>
              <a:rPr kumimoji="1" lang="en-US" altLang="ja-JP" dirty="0"/>
              <a:t>Vertex</a:t>
            </a:r>
            <a:r>
              <a:rPr kumimoji="1" lang="ja-JP" altLang="en-US" dirty="0"/>
              <a:t> </a:t>
            </a:r>
            <a:r>
              <a:rPr kumimoji="1" lang="en-US" altLang="ja-JP" dirty="0"/>
              <a:t>AI</a:t>
            </a:r>
            <a:r>
              <a:rPr kumimoji="1" lang="ja-JP" altLang="en-US" dirty="0"/>
              <a:t>及び</a:t>
            </a:r>
            <a:r>
              <a:rPr kumimoji="1" lang="en-US" altLang="ja-JP" dirty="0"/>
              <a:t>Google</a:t>
            </a:r>
            <a:r>
              <a:rPr kumimoji="1" lang="ja-JP" altLang="en-US" dirty="0"/>
              <a:t> </a:t>
            </a:r>
            <a:r>
              <a:rPr kumimoji="1" lang="en-US" altLang="ja-JP" dirty="0"/>
              <a:t>Cloud</a:t>
            </a:r>
            <a:r>
              <a:rPr kumimoji="1" lang="ja-JP" altLang="en-US" dirty="0"/>
              <a:t> </a:t>
            </a:r>
            <a:r>
              <a:rPr kumimoji="1" lang="en-US" altLang="ja-JP" dirty="0"/>
              <a:t>Storage</a:t>
            </a:r>
            <a:r>
              <a:rPr kumimoji="1" lang="ja-JP" altLang="en-US" dirty="0"/>
              <a:t>というツールを活用しております。</a:t>
            </a:r>
            <a:endParaRPr kumimoji="1" lang="en-US" altLang="ja-JP" dirty="0"/>
          </a:p>
          <a:p>
            <a:r>
              <a:rPr kumimoji="1" lang="ja-JP" altLang="en-US" dirty="0"/>
              <a:t>まずは</a:t>
            </a:r>
            <a:r>
              <a:rPr kumimoji="1" lang="en-US" altLang="ja-JP" dirty="0"/>
              <a:t>Vertex</a:t>
            </a:r>
            <a:r>
              <a:rPr kumimoji="1" lang="ja-JP" altLang="en-US" dirty="0"/>
              <a:t> </a:t>
            </a:r>
            <a:r>
              <a:rPr kumimoji="1" lang="en-US" altLang="ja-JP" dirty="0"/>
              <a:t>AI</a:t>
            </a:r>
            <a:r>
              <a:rPr kumimoji="1" lang="ja-JP" altLang="en-US" dirty="0"/>
              <a:t>なのですが，こちらは</a:t>
            </a:r>
            <a:r>
              <a:rPr kumimoji="1" lang="en-US" altLang="ja-JP" dirty="0"/>
              <a:t>Google</a:t>
            </a:r>
            <a:r>
              <a:rPr kumimoji="1" lang="ja-JP" altLang="en-US" dirty="0"/>
              <a:t> </a:t>
            </a:r>
            <a:r>
              <a:rPr kumimoji="1" lang="en-US" altLang="ja-JP" dirty="0"/>
              <a:t>Cloud</a:t>
            </a:r>
            <a:r>
              <a:rPr kumimoji="1" lang="ja-JP" altLang="en-US" dirty="0"/>
              <a:t> の統合プラットフォームになっておりまして，モデルの呼び出し，学習，デプロイが可能になっております。</a:t>
            </a:r>
            <a:br>
              <a:rPr kumimoji="1" lang="en-US" altLang="ja-JP" dirty="0"/>
            </a:br>
            <a:r>
              <a:rPr kumimoji="1" lang="en-US" altLang="ja-JP" dirty="0"/>
              <a:t>Gemini</a:t>
            </a:r>
            <a:r>
              <a:rPr kumimoji="1" lang="ja-JP" altLang="en-US" dirty="0"/>
              <a:t> </a:t>
            </a:r>
            <a:r>
              <a:rPr kumimoji="1" lang="en-US" altLang="ja-JP" dirty="0"/>
              <a:t>2.5</a:t>
            </a:r>
            <a:r>
              <a:rPr kumimoji="1" lang="ja-JP" altLang="en-US" dirty="0"/>
              <a:t> </a:t>
            </a:r>
            <a:r>
              <a:rPr kumimoji="1" lang="en-US" altLang="ja-JP" dirty="0"/>
              <a:t>Pro</a:t>
            </a:r>
            <a:r>
              <a:rPr kumimoji="1" lang="ja-JP" altLang="en-US" dirty="0"/>
              <a:t>による動画解析，教師データを用いた</a:t>
            </a:r>
            <a:r>
              <a:rPr kumimoji="1" lang="en-US" altLang="ja-JP" dirty="0"/>
              <a:t>FT</a:t>
            </a:r>
            <a:r>
              <a:rPr kumimoji="1" lang="ja-JP" altLang="en-US" dirty="0"/>
              <a:t>についてもこちらのプラットフォーム上で実施しました。</a:t>
            </a:r>
            <a:endParaRPr kumimoji="1" lang="en-US" altLang="ja-JP" dirty="0"/>
          </a:p>
          <a:p>
            <a:r>
              <a:rPr kumimoji="1" lang="ja-JP" altLang="en-US" dirty="0"/>
              <a:t>次に，</a:t>
            </a:r>
            <a:r>
              <a:rPr kumimoji="1" lang="en-US" altLang="ja-JP" dirty="0"/>
              <a:t>Google</a:t>
            </a:r>
            <a:r>
              <a:rPr kumimoji="1" lang="ja-JP" altLang="en-US" dirty="0"/>
              <a:t> </a:t>
            </a:r>
            <a:r>
              <a:rPr kumimoji="1" lang="en-US" altLang="ja-JP" dirty="0"/>
              <a:t>Cloud</a:t>
            </a:r>
            <a:r>
              <a:rPr kumimoji="1" lang="ja-JP" altLang="en-US" dirty="0"/>
              <a:t> </a:t>
            </a:r>
            <a:r>
              <a:rPr kumimoji="1" lang="en-US" altLang="ja-JP" dirty="0"/>
              <a:t>Storage</a:t>
            </a:r>
            <a:r>
              <a:rPr kumimoji="1" lang="ja-JP" altLang="en-US" dirty="0"/>
              <a:t>も活用しておりまして，こちらも同じく</a:t>
            </a:r>
            <a:r>
              <a:rPr kumimoji="1" lang="en-US" altLang="ja-JP" dirty="0"/>
              <a:t>Google</a:t>
            </a:r>
            <a:r>
              <a:rPr kumimoji="1" lang="ja-JP" altLang="en-US" dirty="0"/>
              <a:t> </a:t>
            </a:r>
            <a:r>
              <a:rPr kumimoji="1" lang="en-US" altLang="ja-JP" dirty="0"/>
              <a:t>Cloud</a:t>
            </a:r>
            <a:r>
              <a:rPr kumimoji="1" lang="ja-JP" altLang="en-US" dirty="0"/>
              <a:t> が提供しているのですが，動画ファイル，教師データ，学習済みモデルなどの保存に活用したストレージサービスになります。</a:t>
            </a:r>
            <a:endParaRPr kumimoji="1" lang="en-US" altLang="ja-JP" dirty="0"/>
          </a:p>
          <a:p>
            <a:r>
              <a:rPr kumimoji="1" lang="en-US" altLang="ja-JP" dirty="0"/>
              <a:t>Vertex</a:t>
            </a:r>
            <a:r>
              <a:rPr kumimoji="1" lang="ja-JP" altLang="en-US" dirty="0"/>
              <a:t> </a:t>
            </a:r>
            <a:r>
              <a:rPr kumimoji="1" lang="en-US" altLang="ja-JP" dirty="0"/>
              <a:t>AI</a:t>
            </a:r>
            <a:r>
              <a:rPr kumimoji="1" lang="ja-JP" altLang="en-US" dirty="0"/>
              <a:t>と連携し，動画や教師データが読み込めるような形になっています。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15</a:t>
            </a:fld>
            <a:endParaRPr kumimoji="1" lang="ja-JP" altLang="en-US"/>
          </a:p>
        </p:txBody>
      </p:sp>
    </p:spTree>
    <p:extLst>
      <p:ext uri="{BB962C8B-B14F-4D97-AF65-F5344CB8AC3E}">
        <p14:creationId xmlns:p14="http://schemas.microsoft.com/office/powerpoint/2010/main" val="68679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GUI</a:t>
            </a:r>
            <a:r>
              <a:rPr kumimoji="1" lang="ja-JP" altLang="en-US" dirty="0"/>
              <a:t>操作を可能にするためアプリケーション</a:t>
            </a:r>
            <a:r>
              <a:rPr kumimoji="1" lang="en-US" altLang="ja-JP" dirty="0"/>
              <a:t>UI</a:t>
            </a:r>
            <a:r>
              <a:rPr kumimoji="1" lang="ja-JP" altLang="en-US" dirty="0"/>
              <a:t>を作成しました。</a:t>
            </a:r>
            <a:br>
              <a:rPr kumimoji="1" lang="en-US" altLang="ja-JP" dirty="0"/>
            </a:br>
            <a:r>
              <a:rPr kumimoji="1" lang="ja-JP" altLang="en-US" dirty="0"/>
              <a:t>こちらでは主に解析タブ</a:t>
            </a:r>
            <a:r>
              <a:rPr kumimoji="1" lang="en-US" altLang="ja-JP" dirty="0"/>
              <a:t>/</a:t>
            </a:r>
            <a:r>
              <a:rPr kumimoji="1" lang="ja-JP" altLang="en-US" dirty="0"/>
              <a:t>評価タブで構成されておりまして，こちらで出力結果の修正及び評価を可能としました。</a:t>
            </a:r>
            <a:br>
              <a:rPr kumimoji="1" lang="en-US" altLang="ja-JP" dirty="0"/>
            </a:br>
            <a:r>
              <a:rPr kumimoji="1" lang="ja-JP" altLang="en-US" dirty="0"/>
              <a:t>また、修正前と修正後の比較や、修正結果の保存も保存ボタンで可能としました。</a:t>
            </a:r>
            <a:br>
              <a:rPr kumimoji="1" lang="en-US" altLang="ja-JP" dirty="0"/>
            </a:br>
            <a:r>
              <a:rPr kumimoji="1" lang="ja-JP" altLang="en-US" dirty="0"/>
              <a:t>こちらの画像は解析タブの</a:t>
            </a:r>
            <a:r>
              <a:rPr kumimoji="1" lang="en-US" altLang="ja-JP" dirty="0"/>
              <a:t>UI</a:t>
            </a:r>
            <a:r>
              <a:rPr kumimoji="1" lang="ja-JP" altLang="en-US" dirty="0"/>
              <a:t>画面となっているのですが、イベントの発生時間、音源、その根拠などを出力結果を表示するとともに、それらの結果に対して左側のテキストボックスに正しい音源や根拠を入力することで修正できるようになっております。こちらの修正データを活用しまして、教師データを作成しました。</a:t>
            </a:r>
            <a:br>
              <a:rPr kumimoji="1" lang="en-US" altLang="ja-JP" dirty="0"/>
            </a:br>
            <a:r>
              <a:rPr kumimoji="1" lang="ja-JP" altLang="en-US" dirty="0"/>
              <a:t>また、画面下にバウンディングボックスを表示しました。</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16</a:t>
            </a:fld>
            <a:endParaRPr kumimoji="1" lang="ja-JP" altLang="en-US"/>
          </a:p>
        </p:txBody>
      </p:sp>
    </p:spTree>
    <p:extLst>
      <p:ext uri="{BB962C8B-B14F-4D97-AF65-F5344CB8AC3E}">
        <p14:creationId xmlns:p14="http://schemas.microsoft.com/office/powerpoint/2010/main" val="4132432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こちらが、音響イベント</a:t>
            </a:r>
            <a:r>
              <a:rPr kumimoji="1" lang="en-US" altLang="ja-JP" dirty="0"/>
              <a:t>1</a:t>
            </a:r>
            <a:r>
              <a:rPr kumimoji="1" lang="ja-JP" altLang="en-US" dirty="0"/>
              <a:t>件を表示した</a:t>
            </a:r>
            <a:r>
              <a:rPr kumimoji="1" lang="en-US" altLang="ja-JP" dirty="0"/>
              <a:t>UI</a:t>
            </a:r>
            <a:r>
              <a:rPr kumimoji="1" lang="ja-JP" altLang="en-US" dirty="0"/>
              <a:t>画面になります。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17</a:t>
            </a:fld>
            <a:endParaRPr kumimoji="1" lang="ja-JP" altLang="en-US"/>
          </a:p>
        </p:txBody>
      </p:sp>
    </p:spTree>
    <p:extLst>
      <p:ext uri="{BB962C8B-B14F-4D97-AF65-F5344CB8AC3E}">
        <p14:creationId xmlns:p14="http://schemas.microsoft.com/office/powerpoint/2010/main" val="6883193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dirty="0"/>
              <a:t>これまでの環境構築を行った上で、評価実験を実施しました。</a:t>
            </a:r>
            <a:br>
              <a:rPr kumimoji="1" lang="en-US" altLang="ja-JP" dirty="0"/>
            </a:br>
            <a:r>
              <a:rPr kumimoji="1" lang="ja-JP" altLang="en-US" dirty="0"/>
              <a:t>評価実験では，音響イベントの発生が比較的頻繁な道路環境の動画を対象としております。</a:t>
            </a:r>
            <a:endParaRPr kumimoji="1" lang="en-US" altLang="ja-JP" dirty="0"/>
          </a:p>
          <a:p>
            <a:r>
              <a:rPr kumimoji="1" lang="ja-JP" altLang="en-US" dirty="0"/>
              <a:t>データセットとしては，</a:t>
            </a:r>
            <a:r>
              <a:rPr lang="ja-JP" altLang="en-US" dirty="0"/>
              <a:t>学習用の動画</a:t>
            </a:r>
            <a:r>
              <a:rPr lang="en-US" altLang="ja-JP" dirty="0"/>
              <a:t>50</a:t>
            </a:r>
            <a:r>
              <a:rPr lang="ja-JP" altLang="en-US" dirty="0"/>
              <a:t>枚による教師データ，および評価用の動画</a:t>
            </a:r>
            <a:r>
              <a:rPr lang="en-US" altLang="ja-JP" dirty="0"/>
              <a:t>20</a:t>
            </a:r>
            <a:r>
              <a:rPr lang="ja-JP" altLang="en-US" dirty="0"/>
              <a:t>枚による評価データを用いました。</a:t>
            </a:r>
            <a:endParaRPr lang="en-US" altLang="ja-JP" dirty="0"/>
          </a:p>
          <a:p>
            <a:r>
              <a:rPr lang="ja-JP" altLang="en-US" dirty="0"/>
              <a:t>この</a:t>
            </a:r>
            <a:r>
              <a:rPr lang="en-US" altLang="ja-JP" dirty="0"/>
              <a:t>20</a:t>
            </a:r>
            <a:r>
              <a:rPr lang="ja-JP" altLang="en-US" dirty="0"/>
              <a:t>枚に対して，ファインチューニングを実施していないモデルであるベースモデルと，学習済みモデルを比較して評価実験を実施しました。</a:t>
            </a:r>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18</a:t>
            </a:fld>
            <a:endParaRPr kumimoji="1" lang="ja-JP" altLang="en-US"/>
          </a:p>
        </p:txBody>
      </p:sp>
    </p:spTree>
    <p:extLst>
      <p:ext uri="{BB962C8B-B14F-4D97-AF65-F5344CB8AC3E}">
        <p14:creationId xmlns:p14="http://schemas.microsoft.com/office/powerpoint/2010/main" val="31704959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FE125-E29B-47F5-FDBF-6A12CF6ECA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560153-92FD-98EA-4B8F-77E30BA6FCD6}"/>
              </a:ext>
            </a:extLst>
          </p:cNvPr>
          <p:cNvSpPr>
            <a:spLocks noGrp="1" noRot="1" noChangeAspect="1"/>
          </p:cNvSpPr>
          <p:nvPr>
            <p:ph type="sldImg"/>
          </p:nvPr>
        </p:nvSpPr>
        <p:spPr/>
        <p:txBody>
          <a:bodyPr/>
          <a:lstStyle/>
          <a:p>
            <a:endParaRPr lang="ja-JP" altLang="en-US"/>
          </a:p>
        </p:txBody>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8E7C6BE0-C0DC-3DE0-FF62-B054CF0D1C6A}"/>
                  </a:ext>
                </a:extLst>
              </p:cNvPr>
              <p:cNvSpPr>
                <a:spLocks noGrp="1"/>
              </p:cNvSpPr>
              <p:nvPr>
                <p:ph type="body" idx="1"/>
              </p:nvPr>
            </p:nvSpPr>
            <p:spPr/>
            <p:txBody>
              <a:bodyPr/>
              <a:lstStyle/>
              <a:p>
                <a:r>
                  <a:rPr kumimoji="1" lang="ja-JP" altLang="en-US" dirty="0"/>
                  <a:t>評価指標は，各イベントに対して定性評価を実施しております。</a:t>
                </a:r>
                <a:br>
                  <a:rPr kumimoji="1" lang="en-US" altLang="ja-JP" dirty="0"/>
                </a:br>
                <a:r>
                  <a:rPr kumimoji="1" lang="ja-JP" altLang="en-US" dirty="0"/>
                  <a:t>評価指標に必要なパラメータを表のように定義しました。</a:t>
                </a:r>
                <a:endParaRPr kumimoji="1" lang="en-US" altLang="ja-JP" dirty="0"/>
              </a:p>
              <a:p>
                <a:r>
                  <a:rPr kumimoji="1" lang="ja-JP" altLang="en-US" dirty="0"/>
                  <a:t>まず，正解数</a:t>
                </a:r>
                <a:r>
                  <a:rPr kumimoji="1" lang="en-US" altLang="ja-JP" dirty="0"/>
                  <a:t>TP</a:t>
                </a:r>
                <a:r>
                  <a:rPr kumimoji="1" lang="ja-JP" altLang="en-US" dirty="0"/>
                  <a:t>として完全正解で修正が不要だったケース，</a:t>
                </a:r>
                <a:endParaRPr kumimoji="1" lang="en-US" altLang="ja-JP" dirty="0"/>
              </a:p>
              <a:p>
                <a:r>
                  <a:rPr kumimoji="1" lang="ja-JP" altLang="en-US" dirty="0"/>
                  <a:t>次に，不正解数ミス として，イベントは検知したが記述に誤りがあるケース，</a:t>
                </a:r>
                <a:endParaRPr kumimoji="1" lang="en-US" altLang="ja-JP" dirty="0"/>
              </a:p>
              <a:p>
                <a:r>
                  <a:rPr kumimoji="1" lang="ja-JP" altLang="en-US" dirty="0"/>
                  <a:t>次に過剰検知数</a:t>
                </a:r>
                <a:r>
                  <a:rPr kumimoji="1" lang="en-US" altLang="ja-JP" dirty="0"/>
                  <a:t>FP</a:t>
                </a:r>
                <a:r>
                  <a:rPr kumimoji="1" lang="ja-JP" altLang="en-US" dirty="0"/>
                  <a:t>として，存在しないイベントを検出したケース、</a:t>
                </a:r>
                <a:br>
                  <a:rPr kumimoji="1" lang="en-US" altLang="ja-JP" dirty="0"/>
                </a:br>
                <a:r>
                  <a:rPr kumimoji="1" lang="ja-JP" altLang="en-US" dirty="0"/>
                  <a:t>最後に，検出漏れ数と</a:t>
                </a:r>
                <a:r>
                  <a:rPr kumimoji="1" lang="en-US" altLang="ja-JP" dirty="0"/>
                  <a:t>FN</a:t>
                </a:r>
                <a:r>
                  <a:rPr kumimoji="1" lang="ja-JP" altLang="en-US" dirty="0"/>
                  <a:t>して検出漏れが発生したケースです。</a:t>
                </a:r>
                <a:endParaRPr kumimoji="1" lang="en-US" altLang="ja-JP" dirty="0"/>
              </a:p>
              <a:p>
                <a:r>
                  <a:rPr kumimoji="1" lang="ja-JP" altLang="en-US" dirty="0"/>
                  <a:t>ここで，検出されたイベント数は，</a:t>
                </a:r>
                <a14:m>
                  <m:oMath xmlns:m="http://schemas.openxmlformats.org/officeDocument/2006/math">
                    <m:r>
                      <a:rPr lang="ja-JP" altLang="en-US" i="1" dirty="0">
                        <a:solidFill>
                          <a:schemeClr val="accent6">
                            <a:lumMod val="60000"/>
                            <a:lumOff val="40000"/>
                          </a:schemeClr>
                        </a:solidFill>
                        <a:latin typeface="Cambria Math" panose="02040503050406030204" pitchFamily="18" charset="0"/>
                      </a:rPr>
                      <m:t>正解数＋不正解数＋過剰検知数</m:t>
                    </m:r>
                    <m:r>
                      <a:rPr lang="ja-JP" altLang="en-US" i="1" dirty="0">
                        <a:solidFill>
                          <a:srgbClr val="00B050"/>
                        </a:solidFill>
                        <a:latin typeface="Cambria Math" panose="02040503050406030204" pitchFamily="18" charset="0"/>
                      </a:rPr>
                      <m:t>，</m:t>
                    </m:r>
                  </m:oMath>
                </a14:m>
                <a:r>
                  <a:rPr kumimoji="1" lang="ja-JP" altLang="en-US" dirty="0"/>
                  <a:t>実際のイベント数として</a:t>
                </a:r>
                <a14:m>
                  <m:oMath xmlns:m="http://schemas.openxmlformats.org/officeDocument/2006/math">
                    <m:r>
                      <a:rPr lang="ja-JP" altLang="en-US" i="1" dirty="0">
                        <a:solidFill>
                          <a:schemeClr val="accent3">
                            <a:lumMod val="40000"/>
                            <a:lumOff val="60000"/>
                          </a:schemeClr>
                        </a:solidFill>
                        <a:latin typeface="Cambria Math" panose="02040503050406030204" pitchFamily="18" charset="0"/>
                      </a:rPr>
                      <m:t>は、正解数＋不正解数＋検出漏れ数</m:t>
                    </m:r>
                    <m:r>
                      <a:rPr lang="ja-JP" altLang="en-US" i="1" dirty="0">
                        <a:solidFill>
                          <a:schemeClr val="accent3">
                            <a:lumMod val="40000"/>
                            <a:lumOff val="60000"/>
                          </a:schemeClr>
                        </a:solidFill>
                        <a:latin typeface="Cambria Math" panose="02040503050406030204" pitchFamily="18" charset="0"/>
                      </a:rPr>
                      <m:t>を用いております。</m:t>
                    </m:r>
                  </m:oMath>
                </a14:m>
                <a:endParaRPr kumimoji="1" lang="en-US" altLang="ja-JP" dirty="0"/>
              </a:p>
              <a:p>
                <a:endParaRPr kumimoji="1" lang="ja-JP" altLang="en-US" dirty="0"/>
              </a:p>
              <a:p>
                <a:endParaRPr kumimoji="1" lang="ja-JP" altLang="en-US" dirty="0"/>
              </a:p>
            </p:txBody>
          </p:sp>
        </mc:Choice>
        <mc:Fallback xmlns="">
          <p:sp>
            <p:nvSpPr>
              <p:cNvPr id="3" name="ノート プレースホルダー 2">
                <a:extLst>
                  <a:ext uri="{FF2B5EF4-FFF2-40B4-BE49-F238E27FC236}">
                    <a16:creationId xmlns:a16="http://schemas.microsoft.com/office/drawing/2014/main" id="{1800E022-9EBB-EB39-97D6-9DC35D58F4C5}"/>
                  </a:ext>
                </a:extLst>
              </p:cNvPr>
              <p:cNvSpPr>
                <a:spLocks noGrp="1"/>
              </p:cNvSpPr>
              <p:nvPr>
                <p:ph type="body" idx="1"/>
              </p:nvPr>
            </p:nvSpPr>
            <p:spPr/>
            <p:txBody>
              <a:bodyPr/>
              <a:lstStyle/>
              <a:p>
                <a:r>
                  <a:rPr kumimoji="1" lang="ja-JP" altLang="en-US" dirty="0"/>
                  <a:t>評価指標は，以下のように定義しております。</a:t>
                </a:r>
                <a:endParaRPr kumimoji="1" lang="en-US" altLang="ja-JP" dirty="0"/>
              </a:p>
              <a:p>
                <a:r>
                  <a:rPr kumimoji="1" lang="ja-JP" altLang="en-US" dirty="0"/>
                  <a:t>まず，</a:t>
                </a:r>
                <a:r>
                  <a:rPr kumimoji="1" lang="en-US" altLang="ja-JP" dirty="0"/>
                  <a:t>TP</a:t>
                </a:r>
                <a:r>
                  <a:rPr kumimoji="1" lang="ja-JP" altLang="en-US" dirty="0"/>
                  <a:t>として完全正解で修正が不要だったケース，</a:t>
                </a:r>
                <a:endParaRPr kumimoji="1" lang="en-US" altLang="ja-JP" dirty="0"/>
              </a:p>
              <a:p>
                <a:r>
                  <a:rPr kumimoji="1" lang="ja-JP" altLang="en-US" dirty="0"/>
                  <a:t>次に，</a:t>
                </a:r>
                <a:r>
                  <a:rPr kumimoji="1" lang="en-US" altLang="ja-JP" dirty="0"/>
                  <a:t>Mis</a:t>
                </a:r>
                <a:r>
                  <a:rPr kumimoji="1" lang="ja-JP" altLang="en-US" dirty="0"/>
                  <a:t> として，イベントは検知したが，記述に誤りがあるケース，</a:t>
                </a:r>
                <a:endParaRPr kumimoji="1" lang="en-US" altLang="ja-JP" dirty="0"/>
              </a:p>
              <a:p>
                <a:r>
                  <a:rPr kumimoji="1" lang="ja-JP" altLang="en-US" dirty="0"/>
                  <a:t>次に</a:t>
                </a:r>
                <a:r>
                  <a:rPr kumimoji="1" lang="en-US" altLang="ja-JP" dirty="0"/>
                  <a:t>FP</a:t>
                </a:r>
                <a:r>
                  <a:rPr kumimoji="1" lang="ja-JP" altLang="en-US" dirty="0"/>
                  <a:t>として，イベントの検出自体が誤り出会ったケース，</a:t>
                </a:r>
                <a:endParaRPr kumimoji="1" lang="en-US" altLang="ja-JP" dirty="0"/>
              </a:p>
              <a:p>
                <a:r>
                  <a:rPr kumimoji="1" lang="ja-JP" altLang="en-US" dirty="0"/>
                  <a:t>最後に，</a:t>
                </a:r>
                <a:r>
                  <a:rPr kumimoji="1" lang="en-US" altLang="ja-JP" dirty="0"/>
                  <a:t>FN</a:t>
                </a:r>
                <a:r>
                  <a:rPr kumimoji="1" lang="ja-JP" altLang="en-US" dirty="0"/>
                  <a:t>として検出漏れが発生したケースです。</a:t>
                </a:r>
                <a:endParaRPr kumimoji="1" lang="en-US" altLang="ja-JP" dirty="0"/>
              </a:p>
              <a:p>
                <a:r>
                  <a:rPr kumimoji="1" lang="ja-JP" altLang="en-US" dirty="0"/>
                  <a:t>ここで，検出されたイベント数は，</a:t>
                </a:r>
                <a:r>
                  <a:rPr lang="en-US" altLang="ja-JP" sz="1200" i="0" dirty="0">
                    <a:solidFill>
                      <a:schemeClr val="accent6">
                        <a:lumMod val="60000"/>
                        <a:lumOff val="40000"/>
                      </a:schemeClr>
                    </a:solidFill>
                    <a:latin typeface="Cambria Math" panose="02040503050406030204" pitchFamily="18" charset="0"/>
                  </a:rPr>
                  <a:t>𝑇𝑃</a:t>
                </a:r>
                <a:r>
                  <a:rPr lang="en-US" altLang="ja-JP" sz="1200" b="0" i="0" dirty="0">
                    <a:latin typeface="Cambria Math" panose="02040503050406030204" pitchFamily="18" charset="0"/>
                  </a:rPr>
                  <a:t>+</a:t>
                </a:r>
                <a:r>
                  <a:rPr lang="en-US" altLang="ja-JP" sz="1200" i="0" dirty="0">
                    <a:solidFill>
                      <a:schemeClr val="tx2">
                        <a:lumMod val="60000"/>
                        <a:lumOff val="40000"/>
                      </a:schemeClr>
                    </a:solidFill>
                    <a:latin typeface="Cambria Math" panose="02040503050406030204" pitchFamily="18" charset="0"/>
                  </a:rPr>
                  <a:t>𝑀𝑖𝑠</a:t>
                </a:r>
                <a:r>
                  <a:rPr lang="en-US" altLang="ja-JP" sz="1200" b="0" i="0" dirty="0">
                    <a:latin typeface="Cambria Math" panose="02040503050406030204" pitchFamily="18" charset="0"/>
                  </a:rPr>
                  <a:t>+</a:t>
                </a:r>
                <a:r>
                  <a:rPr lang="en-US" altLang="ja-JP" sz="1200" i="0" dirty="0">
                    <a:solidFill>
                      <a:srgbClr val="00B050"/>
                    </a:solidFill>
                    <a:latin typeface="Cambria Math" panose="02040503050406030204" pitchFamily="18" charset="0"/>
                  </a:rPr>
                  <a:t>𝐹𝑃</a:t>
                </a:r>
                <a:r>
                  <a:rPr lang="ja-JP" altLang="en-US" sz="1200" i="0" dirty="0">
                    <a:solidFill>
                      <a:srgbClr val="00B050"/>
                    </a:solidFill>
                    <a:latin typeface="Cambria Math" panose="02040503050406030204" pitchFamily="18" charset="0"/>
                  </a:rPr>
                  <a:t>，</a:t>
                </a:r>
                <a:r>
                  <a:rPr kumimoji="1" lang="ja-JP" altLang="en-US" dirty="0"/>
                  <a:t>さらに実際のイベント数として，</a:t>
                </a:r>
                <a:r>
                  <a:rPr lang="en-US" altLang="ja-JP" sz="1200" i="0" dirty="0">
                    <a:solidFill>
                      <a:schemeClr val="accent6">
                        <a:lumMod val="60000"/>
                        <a:lumOff val="40000"/>
                      </a:schemeClr>
                    </a:solidFill>
                    <a:latin typeface="Cambria Math" panose="02040503050406030204" pitchFamily="18" charset="0"/>
                  </a:rPr>
                  <a:t>𝑇𝑃</a:t>
                </a:r>
                <a:r>
                  <a:rPr lang="en-US" altLang="ja-JP" sz="1200" i="0" dirty="0">
                    <a:latin typeface="Cambria Math" panose="02040503050406030204" pitchFamily="18" charset="0"/>
                  </a:rPr>
                  <a:t>+</a:t>
                </a:r>
                <a:r>
                  <a:rPr lang="en-US" altLang="ja-JP" sz="1200" i="0" dirty="0">
                    <a:solidFill>
                      <a:schemeClr val="tx2">
                        <a:lumMod val="60000"/>
                        <a:lumOff val="40000"/>
                      </a:schemeClr>
                    </a:solidFill>
                    <a:latin typeface="Cambria Math" panose="02040503050406030204" pitchFamily="18" charset="0"/>
                  </a:rPr>
                  <a:t>𝑀𝑖𝑠</a:t>
                </a:r>
                <a:r>
                  <a:rPr lang="en-US" altLang="ja-JP" sz="1200" i="0" dirty="0">
                    <a:latin typeface="Cambria Math" panose="02040503050406030204" pitchFamily="18" charset="0"/>
                  </a:rPr>
                  <a:t>+</a:t>
                </a:r>
                <a:r>
                  <a:rPr lang="en-US" altLang="ja-JP" sz="1200" i="0" dirty="0">
                    <a:solidFill>
                      <a:schemeClr val="accent3">
                        <a:lumMod val="40000"/>
                        <a:lumOff val="60000"/>
                      </a:schemeClr>
                    </a:solidFill>
                    <a:latin typeface="Cambria Math" panose="02040503050406030204" pitchFamily="18" charset="0"/>
                  </a:rPr>
                  <a:t>𝐹𝑁</a:t>
                </a:r>
                <a:r>
                  <a:rPr lang="ja-JP" altLang="en-US" sz="1200" i="0" dirty="0">
                    <a:solidFill>
                      <a:schemeClr val="accent3">
                        <a:lumMod val="40000"/>
                        <a:lumOff val="60000"/>
                      </a:schemeClr>
                    </a:solidFill>
                    <a:latin typeface="Cambria Math" panose="02040503050406030204" pitchFamily="18" charset="0"/>
                  </a:rPr>
                  <a:t>を</a:t>
                </a:r>
                <a:r>
                  <a:rPr kumimoji="1" lang="ja-JP" altLang="en-US" sz="1200" i="0" dirty="0">
                    <a:solidFill>
                      <a:schemeClr val="accent3">
                        <a:lumMod val="40000"/>
                        <a:lumOff val="60000"/>
                      </a:schemeClr>
                    </a:solidFill>
                    <a:latin typeface="Cambria Math" panose="02040503050406030204" pitchFamily="18" charset="0"/>
                  </a:rPr>
                  <a:t>用いております。</a:t>
                </a:r>
                <a:endParaRPr kumimoji="1" lang="en-US" altLang="ja-JP" dirty="0"/>
              </a:p>
              <a:p>
                <a:endParaRPr kumimoji="1" lang="ja-JP" altLang="en-US" dirty="0"/>
              </a:p>
              <a:p>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2B06919D-2451-0B47-DA20-773A4DA58AF2}"/>
              </a:ext>
            </a:extLst>
          </p:cNvPr>
          <p:cNvSpPr>
            <a:spLocks noGrp="1"/>
          </p:cNvSpPr>
          <p:nvPr>
            <p:ph type="sldNum" sz="quarter" idx="5"/>
          </p:nvPr>
        </p:nvSpPr>
        <p:spPr/>
        <p:txBody>
          <a:bodyPr/>
          <a:lstStyle/>
          <a:p>
            <a:fld id="{D70C50CD-73E2-4C5B-8007-B43217B46401}" type="slidenum">
              <a:rPr kumimoji="1" lang="ja-JP" altLang="en-US" smtClean="0"/>
              <a:t>19</a:t>
            </a:fld>
            <a:endParaRPr kumimoji="1" lang="ja-JP" altLang="en-US"/>
          </a:p>
        </p:txBody>
      </p:sp>
    </p:spTree>
    <p:extLst>
      <p:ext uri="{BB962C8B-B14F-4D97-AF65-F5344CB8AC3E}">
        <p14:creationId xmlns:p14="http://schemas.microsoft.com/office/powerpoint/2010/main" val="35792265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C2842-9380-D28B-2CAE-AD780E513F0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A923104-B30C-D095-85D9-84CFBEDC376E}"/>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AF63B2DD-C978-8793-D3C7-619C0F08DB33}"/>
              </a:ext>
            </a:extLst>
          </p:cNvPr>
          <p:cNvSpPr>
            <a:spLocks noGrp="1"/>
          </p:cNvSpPr>
          <p:nvPr>
            <p:ph type="body" idx="1"/>
          </p:nvPr>
        </p:nvSpPr>
        <p:spPr/>
        <p:txBody>
          <a:bodyPr/>
          <a:lstStyle/>
          <a:p>
            <a:r>
              <a:rPr kumimoji="1" lang="ja-JP" altLang="en-US" dirty="0"/>
              <a:t>これらのパラメータを用いて、不正解率として，検出されたイベントのうち正しく記述されなかった割合、実際のイベント数のうちの検出漏れの割合を、検出されたイベントのうちの過剰検知の割合をこのように定義しました。</a:t>
            </a:r>
            <a:br>
              <a:rPr kumimoji="1" lang="en-US" altLang="ja-JP" dirty="0"/>
            </a:br>
            <a:endParaRPr kumimoji="1" lang="ja-JP" altLang="en-US" dirty="0"/>
          </a:p>
        </p:txBody>
      </p:sp>
      <p:sp>
        <p:nvSpPr>
          <p:cNvPr id="4" name="スライド番号プレースホルダー 3">
            <a:extLst>
              <a:ext uri="{FF2B5EF4-FFF2-40B4-BE49-F238E27FC236}">
                <a16:creationId xmlns:a16="http://schemas.microsoft.com/office/drawing/2014/main" id="{0E8D7C89-8A88-31F2-BD9F-816B9002CEE8}"/>
              </a:ext>
            </a:extLst>
          </p:cNvPr>
          <p:cNvSpPr>
            <a:spLocks noGrp="1"/>
          </p:cNvSpPr>
          <p:nvPr>
            <p:ph type="sldNum" sz="quarter" idx="5"/>
          </p:nvPr>
        </p:nvSpPr>
        <p:spPr/>
        <p:txBody>
          <a:bodyPr/>
          <a:lstStyle/>
          <a:p>
            <a:fld id="{D70C50CD-73E2-4C5B-8007-B43217B46401}" type="slidenum">
              <a:rPr kumimoji="1" lang="ja-JP" altLang="en-US" smtClean="0"/>
              <a:t>20</a:t>
            </a:fld>
            <a:endParaRPr kumimoji="1" lang="ja-JP" altLang="en-US"/>
          </a:p>
        </p:txBody>
      </p:sp>
    </p:spTree>
    <p:extLst>
      <p:ext uri="{BB962C8B-B14F-4D97-AF65-F5344CB8AC3E}">
        <p14:creationId xmlns:p14="http://schemas.microsoft.com/office/powerpoint/2010/main" val="2118863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ここで，評価にあたって，構造化データを取得します。</a:t>
            </a:r>
            <a:endParaRPr kumimoji="1" lang="en-US" altLang="ja-JP" dirty="0"/>
          </a:p>
          <a:p>
            <a:r>
              <a:rPr kumimoji="1" lang="ja-JP" altLang="en-US" dirty="0"/>
              <a:t>推論根拠の文章をオブジェクト，その属性，動作，音に分割して構造化を行います。</a:t>
            </a:r>
            <a:br>
              <a:rPr kumimoji="1" lang="en-US" altLang="ja-JP" dirty="0"/>
            </a:br>
            <a:r>
              <a:rPr kumimoji="1" lang="ja-JP" altLang="en-US" dirty="0"/>
              <a:t>ここで、属性とは色や形状、画面内での静的な位置、動作は時間的に変化する動きの様子を記述しています。</a:t>
            </a:r>
            <a:endParaRPr kumimoji="1" lang="en-US" altLang="ja-JP" dirty="0"/>
          </a:p>
          <a:p>
            <a:r>
              <a:rPr kumimoji="1" lang="ja-JP" altLang="en-US" dirty="0"/>
              <a:t>また，ユーザーによってその推論根拠を必要があれば推論根拠の文章を修正し，同様に構造化します。</a:t>
            </a:r>
            <a:endParaRPr kumimoji="1" lang="en-US" altLang="ja-JP" dirty="0"/>
          </a:p>
          <a:p>
            <a:r>
              <a:rPr kumimoji="1" lang="ja-JP" altLang="en-US" dirty="0"/>
              <a:t>ここで，それぞれの要素を照合し，誤っている記述があればその誤りタイプを取得します。</a:t>
            </a:r>
            <a:endParaRPr kumimoji="1" lang="en-US" altLang="ja-JP" dirty="0"/>
          </a:p>
          <a:p>
            <a:r>
              <a:rPr kumimoji="1" lang="ja-JP" altLang="en-US" dirty="0"/>
              <a:t>例えば，この事例のように、動作方向が誤っていた場合，動作誤認として計上される仕組みとなっております。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21</a:t>
            </a:fld>
            <a:endParaRPr kumimoji="1" lang="ja-JP" altLang="en-US"/>
          </a:p>
        </p:txBody>
      </p:sp>
    </p:spTree>
    <p:extLst>
      <p:ext uri="{BB962C8B-B14F-4D97-AF65-F5344CB8AC3E}">
        <p14:creationId xmlns:p14="http://schemas.microsoft.com/office/powerpoint/2010/main" val="2515180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a:t>
            </a:r>
            <a:r>
              <a:rPr kumimoji="1" lang="en-US" altLang="ja-JP" dirty="0"/>
              <a:t>FT</a:t>
            </a:r>
            <a:r>
              <a:rPr kumimoji="1" lang="ja-JP" altLang="en-US" dirty="0"/>
              <a:t>の実施を行います。具体的には，</a:t>
            </a:r>
            <a:r>
              <a:rPr kumimoji="1" lang="en-US" altLang="ja-JP" dirty="0"/>
              <a:t>Vertex</a:t>
            </a:r>
            <a:r>
              <a:rPr kumimoji="1" lang="ja-JP" altLang="en-US" dirty="0"/>
              <a:t> </a:t>
            </a:r>
            <a:r>
              <a:rPr kumimoji="1" lang="en-US" altLang="ja-JP" dirty="0"/>
              <a:t>AI</a:t>
            </a:r>
            <a:r>
              <a:rPr kumimoji="1" lang="ja-JP" altLang="en-US" dirty="0"/>
              <a:t>の形式に合わせ，アプリケーション上で</a:t>
            </a:r>
            <a:r>
              <a:rPr kumimoji="1" lang="en-US" altLang="ja-JP" dirty="0"/>
              <a:t>JSONL</a:t>
            </a:r>
            <a:r>
              <a:rPr kumimoji="1" lang="ja-JP" altLang="en-US" dirty="0"/>
              <a:t>ファイルを作成し，各動画で作成した教師データをそれぞれ</a:t>
            </a:r>
            <a:r>
              <a:rPr kumimoji="1" lang="en-US" altLang="ja-JP" dirty="0"/>
              <a:t>UI</a:t>
            </a:r>
            <a:r>
              <a:rPr kumimoji="1" lang="ja-JP" altLang="en-US" dirty="0"/>
              <a:t>画面上に作成したチェックボックスで選択し，まとめてチューニングジョブへ投入することで，学習を実施しました。</a:t>
            </a:r>
            <a:br>
              <a:rPr kumimoji="1"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22</a:t>
            </a:fld>
            <a:endParaRPr kumimoji="1" lang="ja-JP" altLang="en-US"/>
          </a:p>
        </p:txBody>
      </p:sp>
    </p:spTree>
    <p:extLst>
      <p:ext uri="{BB962C8B-B14F-4D97-AF65-F5344CB8AC3E}">
        <p14:creationId xmlns:p14="http://schemas.microsoft.com/office/powerpoint/2010/main" val="2262922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dirty="0"/>
              <a:t>こちらが評価結果になります。割合については、検出漏れ率が</a:t>
            </a:r>
            <a:r>
              <a:rPr kumimoji="1" lang="en-US" altLang="ja-JP" dirty="0"/>
              <a:t>14.3</a:t>
            </a:r>
            <a:r>
              <a:rPr kumimoji="1" lang="ja-JP" altLang="en-US" dirty="0"/>
              <a:t>％から</a:t>
            </a:r>
            <a:r>
              <a:rPr kumimoji="1" lang="en-US" altLang="ja-JP" dirty="0"/>
              <a:t>9.9</a:t>
            </a:r>
            <a:r>
              <a:rPr kumimoji="1" lang="ja-JP" altLang="en-US" dirty="0"/>
              <a:t>％へ減少しました。また，不正解率についても</a:t>
            </a:r>
            <a:r>
              <a:rPr kumimoji="1" lang="en-US" altLang="ja-JP" dirty="0"/>
              <a:t>38.5</a:t>
            </a:r>
            <a:r>
              <a:rPr kumimoji="1" lang="ja-JP" altLang="en-US" dirty="0"/>
              <a:t>％から</a:t>
            </a:r>
            <a:r>
              <a:rPr kumimoji="1" lang="en-US" altLang="ja-JP" dirty="0"/>
              <a:t>35.4</a:t>
            </a:r>
            <a:r>
              <a:rPr kumimoji="1" lang="ja-JP" altLang="en-US" dirty="0"/>
              <a:t>％へ減少しました。</a:t>
            </a:r>
            <a:br>
              <a:rPr kumimoji="1" lang="en-US" altLang="ja-JP" dirty="0"/>
            </a:br>
            <a:r>
              <a:rPr kumimoji="1" lang="ja-JP" altLang="en-US" dirty="0"/>
              <a:t>また、過剰検知については発生しませんでした。</a:t>
            </a:r>
            <a:br>
              <a:rPr kumimoji="1" lang="en-US" altLang="ja-JP" dirty="0"/>
            </a:br>
            <a:r>
              <a:rPr kumimoji="1" lang="ja-JP" altLang="en-US" dirty="0"/>
              <a:t>またほかに、検出数に対する動作誤認といった誤りタイプの割合についても確認を行いました。</a:t>
            </a:r>
            <a:br>
              <a:rPr kumimoji="1" lang="en-US" altLang="ja-JP" dirty="0"/>
            </a:br>
            <a:r>
              <a:rPr kumimoji="1" lang="ja-JP" altLang="en-US" dirty="0"/>
              <a:t>こちらの結果が示すように、物体の誤認割合が高くなっています。また、他の属性、動作、音に関する誤りについては、あまり発生しませんでした。</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23</a:t>
            </a:fld>
            <a:endParaRPr kumimoji="1" lang="ja-JP" altLang="en-US"/>
          </a:p>
        </p:txBody>
      </p:sp>
    </p:spTree>
    <p:extLst>
      <p:ext uri="{BB962C8B-B14F-4D97-AF65-F5344CB8AC3E}">
        <p14:creationId xmlns:p14="http://schemas.microsoft.com/office/powerpoint/2010/main" val="13329024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dirty="0"/>
              <a:t>したがって，検出漏れの割合が減少しておりまして，特定の環境下において音響情報がイベントに紐づけられた改善方向の傾向を確認しました。</a:t>
            </a:r>
            <a:endParaRPr kumimoji="1" lang="en-US" altLang="ja-JP" dirty="0"/>
          </a:p>
          <a:p>
            <a:r>
              <a:rPr kumimoji="1" lang="ja-JP" altLang="en-US" dirty="0"/>
              <a:t>また，不正解率も</a:t>
            </a:r>
            <a:r>
              <a:rPr kumimoji="1" lang="en-US" altLang="ja-JP" dirty="0"/>
              <a:t>38.5</a:t>
            </a:r>
            <a:r>
              <a:rPr kumimoji="1" lang="ja-JP" altLang="en-US" dirty="0"/>
              <a:t>％から</a:t>
            </a:r>
            <a:r>
              <a:rPr kumimoji="1" lang="en-US" altLang="ja-JP" dirty="0"/>
              <a:t>35.4</a:t>
            </a:r>
            <a:r>
              <a:rPr kumimoji="1" lang="ja-JP" altLang="en-US" dirty="0"/>
              <a:t>％に数値は改善されているように見えました。こちらについては，不正解のうち動作誤認が殆どで、オブジェクトの挙動を誤って認識するケースが多かったです。</a:t>
            </a:r>
            <a:br>
              <a:rPr kumimoji="1" lang="en-US" altLang="ja-JP" dirty="0"/>
            </a:br>
            <a:r>
              <a:rPr kumimoji="1" lang="ja-JP" altLang="en-US" dirty="0"/>
              <a:t>ほかは記述の軽微なニュアンス等で正誤が分かれたイベントもあり，動画サンプルが少量であることも考えると</a:t>
            </a:r>
            <a:r>
              <a:rPr lang="ja-JP" altLang="en-US" dirty="0"/>
              <a:t>実質的には，明確な改善があったとは言い切れない結果でした。</a:t>
            </a:r>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24</a:t>
            </a:fld>
            <a:endParaRPr kumimoji="1" lang="ja-JP" altLang="en-US"/>
          </a:p>
        </p:txBody>
      </p:sp>
    </p:spTree>
    <p:extLst>
      <p:ext uri="{BB962C8B-B14F-4D97-AF65-F5344CB8AC3E}">
        <p14:creationId xmlns:p14="http://schemas.microsoft.com/office/powerpoint/2010/main" val="10369078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また、こちらは今回評価指標の基準には含めていないのですが、バウンディングボックスについて，</a:t>
            </a:r>
            <a:r>
              <a:rPr kumimoji="1" lang="en-US" altLang="ja-JP" dirty="0"/>
              <a:t>Cloud</a:t>
            </a:r>
            <a:r>
              <a:rPr kumimoji="1" lang="ja-JP" altLang="en-US" dirty="0"/>
              <a:t> </a:t>
            </a:r>
            <a:r>
              <a:rPr kumimoji="1" lang="en-US" altLang="ja-JP" dirty="0"/>
              <a:t>Vision</a:t>
            </a:r>
            <a:r>
              <a:rPr kumimoji="1" lang="ja-JP" altLang="en-US" dirty="0"/>
              <a:t> </a:t>
            </a:r>
            <a:r>
              <a:rPr kumimoji="1" lang="en-US" altLang="ja-JP" dirty="0"/>
              <a:t>API</a:t>
            </a:r>
            <a:r>
              <a:rPr kumimoji="1" lang="ja-JP" altLang="en-US" dirty="0"/>
              <a:t>では、オブジェクトの属性や詳細な情報まで考慮して特定することが不可能なために，精度が頭打ちになってしまう点や，</a:t>
            </a:r>
            <a:endParaRPr kumimoji="1" lang="en-US" altLang="ja-JP" dirty="0"/>
          </a:p>
          <a:p>
            <a:r>
              <a:rPr kumimoji="1" lang="ja-JP" altLang="en-US" dirty="0"/>
              <a:t>また</a:t>
            </a:r>
            <a:r>
              <a:rPr kumimoji="1" lang="en-US" altLang="ja-JP" dirty="0"/>
              <a:t>Gemini</a:t>
            </a:r>
            <a:r>
              <a:rPr kumimoji="1" lang="ja-JP" altLang="en-US" dirty="0"/>
              <a:t>による意味的一致や包含関係が適切に判定されず赤いバウンディングボックスが描画されないケースが散見されました。</a:t>
            </a:r>
            <a:br>
              <a:rPr kumimoji="1" lang="en-US" altLang="ja-JP" dirty="0"/>
            </a:br>
            <a:br>
              <a:rPr kumimoji="1" lang="en-US" altLang="ja-JP" dirty="0"/>
            </a:br>
            <a:br>
              <a:rPr kumimoji="1" lang="en-US" altLang="ja-JP" dirty="0"/>
            </a:br>
            <a:br>
              <a:rPr kumimoji="1"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25</a:t>
            </a:fld>
            <a:endParaRPr kumimoji="1" lang="ja-JP" altLang="en-US"/>
          </a:p>
        </p:txBody>
      </p:sp>
    </p:spTree>
    <p:extLst>
      <p:ext uri="{BB962C8B-B14F-4D97-AF65-F5344CB8AC3E}">
        <p14:creationId xmlns:p14="http://schemas.microsoft.com/office/powerpoint/2010/main" val="3300933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今後の展望としては，先ず座標学習の導入，またほかの</a:t>
            </a:r>
            <a:r>
              <a:rPr kumimoji="1" lang="en-US" altLang="ja-JP" dirty="0"/>
              <a:t>MLLM</a:t>
            </a:r>
            <a:r>
              <a:rPr kumimoji="1" lang="ja-JP" altLang="en-US" dirty="0"/>
              <a:t>モデルとの性能比較，学習パラメータを変化させての検証や異なる環境下で実験することでドメイン特化としての性能を検証できればと思っております。</a:t>
            </a:r>
            <a:br>
              <a:rPr kumimoji="1" lang="en-US" altLang="ja-JP" dirty="0"/>
            </a:br>
            <a:r>
              <a:rPr kumimoji="1" lang="ja-JP" altLang="en-US" dirty="0"/>
              <a:t>まず，座標学習につきましては，特定のフレームにおけるオブジェクトの座標を教師信号に含めることでオブジェクトの認識精度の向上を図りたいと考えております。</a:t>
            </a:r>
            <a:endParaRPr kumimoji="1" lang="en-US" altLang="ja-JP" dirty="0"/>
          </a:p>
          <a:p>
            <a:r>
              <a:rPr kumimoji="1" lang="ja-JP" altLang="en-US" dirty="0"/>
              <a:t>今回は</a:t>
            </a:r>
            <a:r>
              <a:rPr kumimoji="1" lang="en-US" altLang="ja-JP" dirty="0"/>
              <a:t>Cloud</a:t>
            </a:r>
            <a:r>
              <a:rPr kumimoji="1" lang="ja-JP" altLang="en-US" dirty="0"/>
              <a:t> </a:t>
            </a:r>
            <a:r>
              <a:rPr kumimoji="1" lang="en-US" altLang="ja-JP" dirty="0"/>
              <a:t>Vision</a:t>
            </a:r>
            <a:r>
              <a:rPr kumimoji="1" lang="ja-JP" altLang="en-US" dirty="0"/>
              <a:t> </a:t>
            </a:r>
            <a:r>
              <a:rPr kumimoji="1" lang="en-US" altLang="ja-JP" dirty="0"/>
              <a:t>API</a:t>
            </a:r>
            <a:r>
              <a:rPr kumimoji="1" lang="ja-JP" altLang="en-US" dirty="0"/>
              <a:t>を活用しましたが、</a:t>
            </a:r>
            <a:r>
              <a:rPr kumimoji="1" lang="en-US" altLang="ja-JP" dirty="0"/>
              <a:t>Gemini</a:t>
            </a:r>
            <a:r>
              <a:rPr kumimoji="1" lang="ja-JP" altLang="en-US" dirty="0"/>
              <a:t>本体における空間定位の精度の改善を図れるのではないかと考えました。</a:t>
            </a:r>
            <a:endParaRPr kumimoji="1" lang="en-US" altLang="ja-JP" dirty="0"/>
          </a:p>
          <a:p>
            <a:r>
              <a:rPr kumimoji="1" lang="ja-JP" altLang="en-US" dirty="0"/>
              <a:t>また，異なる環境下での実験として，本モデルはファインチューニングによって道路上に限らず公園や公共施設など様々なドメインへ特化した活用が考えられるため，異なるドメインでの性能の検証ができれば汎用性のあるツールとして提示することが可能であると考えています。</a:t>
            </a:r>
            <a:endParaRPr kumimoji="1" lang="en-US" altLang="ja-JP" dirty="0"/>
          </a:p>
          <a:p>
            <a:r>
              <a:rPr kumimoji="1" lang="ja-JP" altLang="en-US" dirty="0"/>
              <a:t>さらに、今回の実験ではサンプルデータが少なく精度の高い検証ができなかった為、教師データ、評価データ双方の動画サンプル数を拡張することで、ドメイン毎に評価実験を実施する必要性があると考えております。</a:t>
            </a:r>
            <a:endParaRPr kumimoji="1" lang="en-US" altLang="ja-JP" dirty="0"/>
          </a:p>
          <a:p>
            <a:r>
              <a:rPr kumimoji="1" lang="ja-JP" altLang="en-US" dirty="0"/>
              <a:t>評価実験についても、物体特徴は何か、などは定性的判断であるため、何かしらの方法で詳細な基準を向ける必要があると考えております。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26</a:t>
            </a:fld>
            <a:endParaRPr kumimoji="1" lang="ja-JP" altLang="en-US"/>
          </a:p>
        </p:txBody>
      </p:sp>
    </p:spTree>
    <p:extLst>
      <p:ext uri="{BB962C8B-B14F-4D97-AF65-F5344CB8AC3E}">
        <p14:creationId xmlns:p14="http://schemas.microsoft.com/office/powerpoint/2010/main" val="39694540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こちらが参考文献になります。</a:t>
            </a:r>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27</a:t>
            </a:fld>
            <a:endParaRPr kumimoji="1" lang="ja-JP" altLang="en-US"/>
          </a:p>
        </p:txBody>
      </p:sp>
    </p:spTree>
    <p:extLst>
      <p:ext uri="{BB962C8B-B14F-4D97-AF65-F5344CB8AC3E}">
        <p14:creationId xmlns:p14="http://schemas.microsoft.com/office/powerpoint/2010/main" val="13635960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8891C-D22A-28DC-7222-DC35C0861F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B5FDB8-BFBE-A7E1-B2B4-4A6BC1C6793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5330CA-8FD8-5E9B-85CD-A2187AA1F8F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FF67925-38EF-AEBF-132A-E4E63D94446A}"/>
              </a:ext>
            </a:extLst>
          </p:cNvPr>
          <p:cNvSpPr>
            <a:spLocks noGrp="1"/>
          </p:cNvSpPr>
          <p:nvPr>
            <p:ph type="sldNum" sz="quarter" idx="5"/>
          </p:nvPr>
        </p:nvSpPr>
        <p:spPr/>
        <p:txBody>
          <a:bodyPr/>
          <a:lstStyle/>
          <a:p>
            <a:fld id="{6837186B-806A-4EA8-B565-1724343EE10B}" type="slidenum">
              <a:rPr kumimoji="1" lang="ja-JP" altLang="en-US" smtClean="0"/>
              <a:t>28</a:t>
            </a:fld>
            <a:endParaRPr kumimoji="1" lang="ja-JP" altLang="en-US"/>
          </a:p>
        </p:txBody>
      </p:sp>
    </p:spTree>
    <p:extLst>
      <p:ext uri="{BB962C8B-B14F-4D97-AF65-F5344CB8AC3E}">
        <p14:creationId xmlns:p14="http://schemas.microsoft.com/office/powerpoint/2010/main" val="25785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29</a:t>
            </a:fld>
            <a:endParaRPr kumimoji="1" lang="ja-JP" altLang="en-US"/>
          </a:p>
        </p:txBody>
      </p:sp>
    </p:spTree>
    <p:extLst>
      <p:ext uri="{BB962C8B-B14F-4D97-AF65-F5344CB8AC3E}">
        <p14:creationId xmlns:p14="http://schemas.microsoft.com/office/powerpoint/2010/main" val="10385381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以上になります。ご清聴ありがとうございました。</a:t>
            </a:r>
            <a:br>
              <a:rPr kumimoji="1" lang="en-US" altLang="ja-JP" dirty="0"/>
            </a:br>
            <a:br>
              <a:rPr kumimoji="1" lang="en-US" altLang="ja-JP" dirty="0"/>
            </a:br>
            <a:r>
              <a:rPr lang="en-US" altLang="ja-JP" b="1" dirty="0"/>
              <a:t>Q. </a:t>
            </a:r>
            <a:r>
              <a:rPr lang="ja-JP" altLang="en-US" b="1" dirty="0"/>
              <a:t>システム構成で</a:t>
            </a:r>
            <a:r>
              <a:rPr lang="en-US" altLang="ja-JP" b="1" dirty="0"/>
              <a:t>Cloud Vision API</a:t>
            </a:r>
            <a:r>
              <a:rPr lang="ja-JP" altLang="en-US" b="1" dirty="0"/>
              <a:t>によるバウンディングボックスの説明があったが、評価結果にはその精度が含まれてない理由</a:t>
            </a:r>
            <a:endParaRPr lang="ja-JP" altLang="en-US" dirty="0"/>
          </a:p>
          <a:p>
            <a:r>
              <a:rPr lang="en-US" altLang="ja-JP" b="1" dirty="0"/>
              <a:t>A.</a:t>
            </a:r>
            <a:r>
              <a:rPr lang="ja-JP" altLang="en-US" b="1" dirty="0"/>
              <a:t>（回答案）</a:t>
            </a:r>
            <a:r>
              <a:rPr lang="ja-JP" altLang="en-US" dirty="0"/>
              <a:t> はい、その点についてご説明いたします。 まず、</a:t>
            </a:r>
            <a:r>
              <a:rPr lang="en-US" altLang="ja-JP" dirty="0"/>
              <a:t>Cloud Vision API</a:t>
            </a:r>
            <a:r>
              <a:rPr lang="ja-JP" altLang="en-US" dirty="0"/>
              <a:t>を用いた可視化機能の実装は、本研究のアプローチの一つである**「将来的なユーザー利用を考慮したアプリケーションのユーザビリティ検証」**を目的として行いました。ユーザーが直感的に音源を把握できる</a:t>
            </a:r>
            <a:r>
              <a:rPr lang="en-US" altLang="ja-JP" dirty="0"/>
              <a:t>UI</a:t>
            </a:r>
            <a:r>
              <a:rPr lang="ja-JP" altLang="en-US" dirty="0"/>
              <a:t>を構築すること自体に、システム提案としての意義があると考えたためです。</a:t>
            </a:r>
          </a:p>
          <a:p>
            <a:r>
              <a:rPr lang="ja-JP" altLang="en-US" dirty="0"/>
              <a:t>しかしながら、現状の「テキストマッチングによる紐づけ」では、ご指摘の通り精度が安定せず、同カテゴリの複数物体の誤認や、マッチング漏れといった問題点が多く見受けられました。 そのため、今回の定量評価においては、信頼性が確保できないバウンディングボックスの精度は</a:t>
            </a:r>
            <a:r>
              <a:rPr lang="ja-JP" altLang="en-US" b="1" dirty="0"/>
              <a:t>評価対象から除外</a:t>
            </a:r>
            <a:r>
              <a:rPr lang="ja-JP" altLang="en-US" dirty="0"/>
              <a:t>し、モデルの根幹である「</a:t>
            </a:r>
            <a:r>
              <a:rPr lang="en-US" altLang="ja-JP" dirty="0"/>
              <a:t>Gemini</a:t>
            </a:r>
            <a:r>
              <a:rPr lang="ja-JP" altLang="en-US" dirty="0"/>
              <a:t>によるイベント検知精度」の評価に注力いたしました。</a:t>
            </a:r>
          </a:p>
          <a:p>
            <a:r>
              <a:rPr lang="ja-JP" altLang="en-US" dirty="0"/>
              <a:t>この可視化機能については、あくまで**システムの実装事例（ユーザビリティの一提案）**として捉えており、精度の改善と評価は今後の課題と位置づけております。</a:t>
            </a:r>
          </a:p>
          <a:p>
            <a:br>
              <a:rPr kumimoji="1" lang="en-US" altLang="ja-JP" dirty="0"/>
            </a:br>
            <a:r>
              <a:rPr kumimoji="1" lang="ja-JP" altLang="en-US" dirty="0"/>
              <a:t>商用</a:t>
            </a:r>
            <a:r>
              <a:rPr kumimoji="1" lang="en-US" altLang="ja-JP" dirty="0"/>
              <a:t>LLM</a:t>
            </a:r>
            <a:r>
              <a:rPr kumimoji="1" lang="ja-JP" altLang="en-US" dirty="0"/>
              <a:t>とした理由：</a:t>
            </a:r>
            <a:endParaRPr kumimoji="1" lang="en-US" altLang="ja-JP" dirty="0"/>
          </a:p>
          <a:p>
            <a:r>
              <a:rPr kumimoji="1" lang="ja-JP" altLang="en-US" dirty="0"/>
              <a:t>・オブジェクト同定にあたり、その回答の根拠を求めることおにより、動画の文脈理解や柔軟性を図るため。また、商用</a:t>
            </a:r>
            <a:r>
              <a:rPr kumimoji="1" lang="en-US" altLang="ja-JP" dirty="0"/>
              <a:t>MLLM</a:t>
            </a:r>
            <a:r>
              <a:rPr kumimoji="1" lang="ja-JP" altLang="en-US" dirty="0"/>
              <a:t>の文脈理解やファインチューングの精度自体を検証するため。</a:t>
            </a:r>
            <a:endParaRPr kumimoji="1" lang="en-US" altLang="ja-JP" dirty="0"/>
          </a:p>
          <a:p>
            <a:r>
              <a:rPr kumimoji="1" lang="en-US" altLang="ja-JP" dirty="0"/>
              <a:t>Gemini</a:t>
            </a:r>
            <a:r>
              <a:rPr kumimoji="1" lang="ja-JP" altLang="en-US" dirty="0"/>
              <a:t>を用いた理由としては、</a:t>
            </a:r>
            <a:r>
              <a:rPr kumimoji="1" lang="en-US" altLang="ja-JP" dirty="0"/>
              <a:t>Vertex</a:t>
            </a:r>
            <a:r>
              <a:rPr kumimoji="1" lang="ja-JP" altLang="en-US" dirty="0"/>
              <a:t> </a:t>
            </a:r>
            <a:r>
              <a:rPr kumimoji="1" lang="en-US" altLang="ja-JP" dirty="0"/>
              <a:t>AI</a:t>
            </a:r>
            <a:r>
              <a:rPr kumimoji="1" lang="ja-JP" altLang="en-US" dirty="0"/>
              <a:t>による動画のファインチューニングの環境構築が同一のパイプラインで可能なことや、先行研究の</a:t>
            </a:r>
            <a:r>
              <a:rPr kumimoji="1" lang="en-US" altLang="ja-JP" dirty="0"/>
              <a:t>LLM</a:t>
            </a:r>
            <a:r>
              <a:rPr kumimoji="1" lang="ja-JP" altLang="en-US" dirty="0"/>
              <a:t>ベンチマークにおいて、</a:t>
            </a:r>
            <a:r>
              <a:rPr kumimoji="1" lang="en-US" altLang="ja-JP" dirty="0"/>
              <a:t>Gemini</a:t>
            </a:r>
            <a:r>
              <a:rPr kumimoji="1" lang="ja-JP" altLang="en-US" dirty="0"/>
              <a:t>が動画の文脈理解において突出した性能を示した先行研究が存在したため。</a:t>
            </a:r>
            <a:endParaRPr kumimoji="1" lang="en-US" altLang="ja-JP" dirty="0"/>
          </a:p>
          <a:p>
            <a:r>
              <a:rPr lang="ja-JP" altLang="en-US" b="1" dirty="0"/>
              <a:t>今後の展望にある「座標学習」とは具体的に何をするのですか？</a:t>
            </a:r>
            <a:endParaRPr lang="ja-JP" altLang="en-US" dirty="0"/>
          </a:p>
          <a:p>
            <a:r>
              <a:rPr lang="en-US" altLang="ja-JP" b="1" dirty="0"/>
              <a:t>A.</a:t>
            </a:r>
            <a:r>
              <a:rPr lang="ja-JP" altLang="en-US" dirty="0"/>
              <a:t> 特定のフレームにおけるオブジェクトの座標（</a:t>
            </a:r>
            <a:r>
              <a:rPr lang="en-US" altLang="ja-JP" dirty="0"/>
              <a:t>[</a:t>
            </a:r>
            <a:r>
              <a:rPr lang="en-US" altLang="ja-JP" dirty="0" err="1"/>
              <a:t>ymin</a:t>
            </a:r>
            <a:r>
              <a:rPr lang="en-US" altLang="ja-JP" dirty="0"/>
              <a:t>, </a:t>
            </a:r>
            <a:r>
              <a:rPr lang="en-US" altLang="ja-JP" dirty="0" err="1"/>
              <a:t>xmin</a:t>
            </a:r>
            <a:r>
              <a:rPr lang="en-US" altLang="ja-JP" dirty="0"/>
              <a:t>, </a:t>
            </a:r>
            <a:r>
              <a:rPr lang="en-US" altLang="ja-JP" dirty="0" err="1"/>
              <a:t>ymax</a:t>
            </a:r>
            <a:r>
              <a:rPr lang="en-US" altLang="ja-JP" dirty="0"/>
              <a:t>, </a:t>
            </a:r>
            <a:r>
              <a:rPr lang="en-US" altLang="ja-JP" dirty="0" err="1"/>
              <a:t>xmax</a:t>
            </a:r>
            <a:r>
              <a:rPr lang="en-US" altLang="ja-JP" dirty="0"/>
              <a:t>]</a:t>
            </a:r>
            <a:r>
              <a:rPr lang="ja-JP" altLang="en-US" dirty="0"/>
              <a:t>など）を教師信号に含めて</a:t>
            </a:r>
            <a:r>
              <a:rPr lang="en-US" altLang="ja-JP" dirty="0"/>
              <a:t>Gemini</a:t>
            </a:r>
            <a:r>
              <a:rPr lang="ja-JP" altLang="en-US" dirty="0"/>
              <a:t>に学習させることです 。 これにより、</a:t>
            </a:r>
            <a:r>
              <a:rPr lang="en-US" altLang="ja-JP" dirty="0"/>
              <a:t>Vision API</a:t>
            </a:r>
            <a:r>
              <a:rPr lang="ja-JP" altLang="en-US" dirty="0"/>
              <a:t>に頼ることなく、</a:t>
            </a:r>
            <a:r>
              <a:rPr lang="en-US" altLang="ja-JP" dirty="0"/>
              <a:t>Gemini</a:t>
            </a:r>
            <a:r>
              <a:rPr lang="ja-JP" altLang="en-US" dirty="0"/>
              <a:t>単体で「音を発している特定の物体」を空間的に特定・可視化することを目指しています。</a:t>
            </a:r>
          </a:p>
          <a:p>
            <a:endParaRPr kumimoji="1" lang="en-US" altLang="ja-JP" dirty="0"/>
          </a:p>
          <a:p>
            <a:r>
              <a:rPr lang="ja-JP" altLang="en-US" b="1" dirty="0"/>
              <a:t>学習データ</a:t>
            </a:r>
            <a:r>
              <a:rPr lang="en-US" altLang="ja-JP" b="1" dirty="0"/>
              <a:t>50</a:t>
            </a:r>
            <a:r>
              <a:rPr lang="ja-JP" altLang="en-US" b="1" dirty="0"/>
              <a:t>件、評価データ</a:t>
            </a:r>
            <a:r>
              <a:rPr lang="en-US" altLang="ja-JP" b="1" dirty="0"/>
              <a:t>20</a:t>
            </a:r>
            <a:r>
              <a:rPr lang="ja-JP" altLang="en-US" b="1" dirty="0"/>
              <a:t>件というのは少なすぎませんか？</a:t>
            </a:r>
            <a:endParaRPr lang="ja-JP" altLang="en-US" dirty="0"/>
          </a:p>
          <a:p>
            <a:r>
              <a:rPr lang="ja-JP" altLang="en-US" dirty="0"/>
              <a:t>おっしゃる通り、統計的な有意性を示すには不十分な規模です 。 本研究は、</a:t>
            </a:r>
            <a:r>
              <a:rPr lang="en-US" altLang="ja-JP" dirty="0"/>
              <a:t>MLLM</a:t>
            </a:r>
            <a:r>
              <a:rPr lang="ja-JP" altLang="en-US" dirty="0"/>
              <a:t>を用いた事後学習システムの構築と、その改善サイクルが機能することを確認する実現可能性の検証としての側面が強いため、まずは小規模なデータセットでの傾向確認に留めています。</a:t>
            </a:r>
            <a:endParaRPr lang="en-US" altLang="ja-JP" dirty="0"/>
          </a:p>
          <a:p>
            <a:endParaRPr lang="en-US" altLang="ja-JP" dirty="0"/>
          </a:p>
          <a:p>
            <a:pPr rtl="0"/>
            <a:r>
              <a:rPr lang="ja-JP" altLang="en-US" b="1" dirty="0">
                <a:effectLst/>
              </a:rPr>
              <a:t>今後の展望にある「座標学習」とは具体的に何をするのですか？</a:t>
            </a:r>
            <a:endParaRPr lang="ja-JP" altLang="en-US" dirty="0">
              <a:effectLst/>
            </a:endParaRPr>
          </a:p>
          <a:p>
            <a:r>
              <a:rPr lang="en-US" altLang="ja-JP" b="1" dirty="0">
                <a:effectLst/>
              </a:rPr>
              <a:t>A.</a:t>
            </a:r>
            <a:r>
              <a:rPr lang="ja-JP" altLang="en-US" dirty="0">
                <a:effectLst/>
              </a:rPr>
              <a:t> 特定のフレームにおけるオブジェクトの座標を、矩形で囲むことによって教師信号に含めて</a:t>
            </a:r>
            <a:r>
              <a:rPr lang="en-US" altLang="ja-JP" dirty="0">
                <a:effectLst/>
              </a:rPr>
              <a:t>Gemini</a:t>
            </a:r>
            <a:r>
              <a:rPr lang="ja-JP" altLang="en-US" dirty="0">
                <a:effectLst/>
              </a:rPr>
              <a:t>に学習させることです 。 これにより、</a:t>
            </a:r>
            <a:r>
              <a:rPr lang="en-US" altLang="ja-JP" dirty="0">
                <a:effectLst/>
              </a:rPr>
              <a:t>Vision API</a:t>
            </a:r>
            <a:r>
              <a:rPr lang="ja-JP" altLang="en-US" dirty="0">
                <a:effectLst/>
              </a:rPr>
              <a:t>に頼ることなく、</a:t>
            </a:r>
            <a:r>
              <a:rPr lang="en-US" altLang="ja-JP" dirty="0">
                <a:effectLst/>
              </a:rPr>
              <a:t>Gemini</a:t>
            </a:r>
            <a:r>
              <a:rPr lang="ja-JP" altLang="en-US" dirty="0">
                <a:effectLst/>
              </a:rPr>
              <a:t>単体で「音を発している特定の物体」を空間的に特定・可視化することを目指しています。</a:t>
            </a:r>
            <a:br>
              <a:rPr lang="en-US" altLang="ja-JP" dirty="0">
                <a:effectLst/>
              </a:rPr>
            </a:br>
            <a:r>
              <a:rPr lang="ja-JP" altLang="en-US" dirty="0">
                <a:effectLst/>
              </a:rPr>
              <a:t>例えば、</a:t>
            </a:r>
            <a:r>
              <a:rPr lang="en-US" altLang="ja-JP" dirty="0">
                <a:effectLst/>
              </a:rPr>
              <a:t>Cloud</a:t>
            </a:r>
            <a:r>
              <a:rPr lang="ja-JP" altLang="en-US" dirty="0">
                <a:effectLst/>
              </a:rPr>
              <a:t> </a:t>
            </a:r>
            <a:r>
              <a:rPr lang="en-US" altLang="ja-JP" dirty="0">
                <a:effectLst/>
              </a:rPr>
              <a:t>Vision</a:t>
            </a:r>
            <a:r>
              <a:rPr lang="ja-JP" altLang="en-US" dirty="0">
                <a:effectLst/>
              </a:rPr>
              <a:t> </a:t>
            </a:r>
            <a:r>
              <a:rPr lang="en-US" altLang="ja-JP" dirty="0">
                <a:effectLst/>
              </a:rPr>
              <a:t>API</a:t>
            </a:r>
            <a:r>
              <a:rPr lang="ja-JP" altLang="en-US" dirty="0">
                <a:effectLst/>
              </a:rPr>
              <a:t>を用いてバウンディングボックスが描画された複数のオブジェクトから音源であるオブジェクトを囲んだバウンディングボックスを選択して教師データとして入力ができればと考えております。</a:t>
            </a:r>
            <a:br>
              <a:rPr lang="en-US" altLang="ja-JP" dirty="0">
                <a:effectLst/>
              </a:rPr>
            </a:br>
            <a:br>
              <a:rPr lang="en-US" altLang="ja-JP" dirty="0">
                <a:effectLst/>
              </a:rPr>
            </a:br>
            <a:r>
              <a:rPr lang="ja-JP" altLang="en-US" b="1" dirty="0"/>
              <a:t>教師データの作成において「人が修正した」とあるが、その「正解」の基準はどこにあるのか？ 修正者（あなた）の主観でラベルが揺らいでいないか？</a:t>
            </a:r>
            <a:endParaRPr lang="ja-JP" altLang="en-US" dirty="0"/>
          </a:p>
          <a:p>
            <a:r>
              <a:rPr lang="ja-JP" altLang="en-US" b="1" dirty="0"/>
              <a:t>教授の意図</a:t>
            </a:r>
            <a:r>
              <a:rPr lang="en-US" altLang="ja-JP" b="1" dirty="0"/>
              <a:t>:</a:t>
            </a:r>
            <a:r>
              <a:rPr lang="ja-JP" altLang="en-US" dirty="0"/>
              <a:t> アノテーション（正解付け）の品質担保を問うている。一人でやると主観が入るため。</a:t>
            </a:r>
          </a:p>
          <a:p>
            <a:r>
              <a:rPr lang="ja-JP" altLang="en-US" b="1" dirty="0"/>
              <a:t>回答案</a:t>
            </a:r>
            <a:r>
              <a:rPr lang="en-US" altLang="ja-JP" b="1" dirty="0"/>
              <a:t>:</a:t>
            </a:r>
            <a:endParaRPr lang="ja-JP" altLang="en-US" dirty="0"/>
          </a:p>
          <a:p>
            <a:r>
              <a:rPr lang="ja-JP" altLang="en-US" dirty="0"/>
              <a:t>誠実な回答</a:t>
            </a:r>
            <a:r>
              <a:rPr lang="en-US" altLang="ja-JP" dirty="0"/>
              <a:t>: </a:t>
            </a:r>
            <a:r>
              <a:rPr lang="ja-JP" altLang="en-US" dirty="0"/>
              <a:t>「ご指摘の通り、今回は修正者が一名であったため、判断基準に主観が含まれている可能性は否定できません。本来であれば、複数名によるクロスチェックを行い、**アノテーター間一致率（</a:t>
            </a:r>
            <a:r>
              <a:rPr lang="en-US" altLang="ja-JP" dirty="0"/>
              <a:t>Inter-annotator agreement</a:t>
            </a:r>
            <a:r>
              <a:rPr lang="ja-JP" altLang="en-US" dirty="0"/>
              <a:t>）**を算出・担保すべきでした。今回はプロトタイプの検証として一貫性を意識して修正を行いましたが、客観性の担保は今後の重要な課題と認識しております。」</a:t>
            </a:r>
            <a:br>
              <a:rPr lang="en-US" altLang="ja-JP" dirty="0"/>
            </a:br>
            <a:br>
              <a:rPr lang="en-US" altLang="ja-JP" dirty="0"/>
            </a:br>
            <a:r>
              <a:rPr lang="ja-JP" altLang="en-US" b="1" dirty="0"/>
              <a:t>「音響イベント」の定義が曖昧ではないか？ 「風の音」や「遠くのサイレン」など、画面に映っていない音はどう処理したのか？</a:t>
            </a:r>
            <a:endParaRPr lang="ja-JP" altLang="en-US" dirty="0"/>
          </a:p>
          <a:p>
            <a:r>
              <a:rPr lang="ja-JP" altLang="en-US" b="1" dirty="0"/>
              <a:t>教授の意図</a:t>
            </a:r>
            <a:r>
              <a:rPr lang="en-US" altLang="ja-JP" b="1" dirty="0"/>
              <a:t>:</a:t>
            </a:r>
            <a:r>
              <a:rPr lang="ja-JP" altLang="en-US" dirty="0"/>
              <a:t> 実験の境界条件（</a:t>
            </a:r>
            <a:r>
              <a:rPr lang="en-US" altLang="ja-JP" dirty="0"/>
              <a:t>Boundary Condition</a:t>
            </a:r>
            <a:r>
              <a:rPr lang="ja-JP" altLang="en-US" dirty="0"/>
              <a:t>）を問うている。</a:t>
            </a:r>
          </a:p>
          <a:p>
            <a:r>
              <a:rPr lang="ja-JP" altLang="en-US" b="1" dirty="0"/>
              <a:t>回答案</a:t>
            </a:r>
            <a:r>
              <a:rPr lang="en-US" altLang="ja-JP" b="1" dirty="0"/>
              <a:t>:</a:t>
            </a:r>
            <a:endParaRPr lang="ja-JP" altLang="en-US" dirty="0"/>
          </a:p>
          <a:p>
            <a:r>
              <a:rPr lang="ja-JP" altLang="en-US" dirty="0"/>
              <a:t>「本研究では、</a:t>
            </a:r>
            <a:r>
              <a:rPr lang="en-US" altLang="ja-JP" b="1" dirty="0"/>
              <a:t>『</a:t>
            </a:r>
            <a:r>
              <a:rPr lang="ja-JP" altLang="en-US" b="1" dirty="0"/>
              <a:t>画面内に視覚的に確認できる音源（</a:t>
            </a:r>
            <a:r>
              <a:rPr lang="en-US" altLang="ja-JP" b="1" dirty="0"/>
              <a:t>On-screen sound source</a:t>
            </a:r>
            <a:r>
              <a:rPr lang="ja-JP" altLang="en-US" b="1" dirty="0"/>
              <a:t>）</a:t>
            </a:r>
            <a:r>
              <a:rPr lang="en-US" altLang="ja-JP" b="1" dirty="0"/>
              <a:t>』</a:t>
            </a:r>
            <a:r>
              <a:rPr lang="ja-JP" altLang="en-US" b="1" dirty="0"/>
              <a:t>のみ</a:t>
            </a:r>
            <a:r>
              <a:rPr lang="ja-JP" altLang="en-US" dirty="0"/>
              <a:t>を対象としました。したがって、画面外（</a:t>
            </a:r>
            <a:r>
              <a:rPr lang="en-US" altLang="ja-JP" dirty="0"/>
              <a:t>Off-screen</a:t>
            </a:r>
            <a:r>
              <a:rPr lang="ja-JP" altLang="en-US" dirty="0"/>
              <a:t>）の環境音や、視認できない音源については、教師データ作成時に削除、または対象外として処理しています。この</a:t>
            </a:r>
            <a:r>
              <a:rPr lang="en-US" altLang="ja-JP" dirty="0"/>
              <a:t>『</a:t>
            </a:r>
            <a:r>
              <a:rPr lang="ja-JP" altLang="en-US" dirty="0"/>
              <a:t>視覚と聴覚の整合性（</a:t>
            </a:r>
            <a:r>
              <a:rPr lang="en-US" altLang="ja-JP" dirty="0"/>
              <a:t>Audio-Visual Correspondence</a:t>
            </a:r>
            <a:r>
              <a:rPr lang="ja-JP" altLang="en-US" dirty="0"/>
              <a:t>）</a:t>
            </a:r>
            <a:r>
              <a:rPr lang="en-US" altLang="ja-JP" dirty="0"/>
              <a:t>』</a:t>
            </a:r>
            <a:r>
              <a:rPr lang="ja-JP" altLang="en-US" dirty="0"/>
              <a:t>が取れるものに限定して学習を行いました。」</a:t>
            </a:r>
            <a:br>
              <a:rPr lang="en-US" altLang="ja-JP" dirty="0"/>
            </a:br>
            <a:br>
              <a:rPr lang="en-US" altLang="ja-JP" dirty="0"/>
            </a:br>
            <a:r>
              <a:rPr lang="ja-JP" altLang="en-US" b="1" dirty="0"/>
              <a:t>データ数</a:t>
            </a:r>
            <a:r>
              <a:rPr lang="en-US" altLang="ja-JP" b="1" dirty="0"/>
              <a:t>50</a:t>
            </a:r>
            <a:r>
              <a:rPr lang="ja-JP" altLang="en-US" b="1" dirty="0"/>
              <a:t>件での学習で「精度が向上した」とするのは、単にその</a:t>
            </a:r>
            <a:r>
              <a:rPr lang="en-US" altLang="ja-JP" b="1" dirty="0"/>
              <a:t>50</a:t>
            </a:r>
            <a:r>
              <a:rPr lang="ja-JP" altLang="en-US" b="1" dirty="0"/>
              <a:t>件のデータの傾向（バイアス）を丸暗記しただけ（過学習）ではないか？ 未知のデータに対する汎化性能はどう担保している？</a:t>
            </a:r>
            <a:endParaRPr lang="ja-JP" altLang="en-US" dirty="0"/>
          </a:p>
          <a:p>
            <a:r>
              <a:rPr lang="ja-JP" altLang="en-US" b="1" dirty="0"/>
              <a:t>教授の意図</a:t>
            </a:r>
            <a:r>
              <a:rPr lang="en-US" altLang="ja-JP" b="1" dirty="0"/>
              <a:t>:</a:t>
            </a:r>
            <a:r>
              <a:rPr lang="ja-JP" altLang="en-US" dirty="0"/>
              <a:t> 機械学習における初歩的かつ致命的な問題（</a:t>
            </a:r>
            <a:r>
              <a:rPr lang="en-US" altLang="ja-JP" dirty="0"/>
              <a:t>Overfitting</a:t>
            </a:r>
            <a:r>
              <a:rPr lang="ja-JP" altLang="en-US" dirty="0"/>
              <a:t>）を指摘している。</a:t>
            </a:r>
          </a:p>
          <a:p>
            <a:r>
              <a:rPr lang="ja-JP" altLang="en-US" b="1" dirty="0"/>
              <a:t>回答案</a:t>
            </a:r>
            <a:r>
              <a:rPr lang="en-US" altLang="ja-JP" b="1" dirty="0"/>
              <a:t>:</a:t>
            </a:r>
            <a:endParaRPr lang="ja-JP" altLang="en-US" dirty="0"/>
          </a:p>
          <a:p>
            <a:r>
              <a:rPr lang="ja-JP" altLang="en-US" dirty="0"/>
              <a:t>「ご指摘の過学習のリスクについては認識しております。そのため、評価用データ（</a:t>
            </a:r>
            <a:r>
              <a:rPr lang="en-US" altLang="ja-JP" dirty="0"/>
              <a:t>20</a:t>
            </a:r>
            <a:r>
              <a:rPr lang="ja-JP" altLang="en-US" dirty="0"/>
              <a:t>件）は学習データとは完全に異なる動画を用いて検証を行いました。 結果として、評価データに対しても検出漏れの改善が見られたことから、特定の動画の丸暗記ではなく、ある程度の汎化性能（イベント検知の感度向上）は得られたと考えておりますが、データ数を増やしての再検証は必須です。」</a:t>
            </a:r>
            <a:br>
              <a:rPr lang="en-US" altLang="ja-JP" dirty="0"/>
            </a:br>
            <a:br>
              <a:rPr lang="en-US" altLang="ja-JP" dirty="0"/>
            </a:br>
            <a:r>
              <a:rPr lang="ja-JP" altLang="en-US" b="1" dirty="0"/>
              <a:t>商用</a:t>
            </a:r>
            <a:r>
              <a:rPr lang="en-US" altLang="ja-JP" b="1" dirty="0"/>
              <a:t>API</a:t>
            </a:r>
            <a:r>
              <a:rPr lang="ja-JP" altLang="en-US" b="1" dirty="0"/>
              <a:t>（</a:t>
            </a:r>
            <a:r>
              <a:rPr lang="en-US" altLang="ja-JP" b="1" dirty="0"/>
              <a:t>Vertex AI</a:t>
            </a:r>
            <a:r>
              <a:rPr lang="ja-JP" altLang="en-US" b="1" dirty="0"/>
              <a:t>）を使っていますが、これだと中身がブラックボックスですよね。もし</a:t>
            </a:r>
            <a:r>
              <a:rPr lang="en-US" altLang="ja-JP" b="1" dirty="0"/>
              <a:t>Google</a:t>
            </a:r>
            <a:r>
              <a:rPr lang="ja-JP" altLang="en-US" b="1" dirty="0"/>
              <a:t>が明日</a:t>
            </a:r>
            <a:r>
              <a:rPr lang="en-US" altLang="ja-JP" b="1" dirty="0"/>
              <a:t>Gemini</a:t>
            </a:r>
            <a:r>
              <a:rPr lang="ja-JP" altLang="en-US" b="1" dirty="0"/>
              <a:t>の仕様をサイレント修正したら、あなたの実験結果は再現できなくなります。これって科学的な研究と言えるのでしょうか？</a:t>
            </a:r>
            <a:endParaRPr lang="ja-JP" altLang="en-US" dirty="0"/>
          </a:p>
          <a:p>
            <a:r>
              <a:rPr lang="ja-JP" altLang="en-US" b="1" dirty="0"/>
              <a:t>教授の意図</a:t>
            </a:r>
            <a:r>
              <a:rPr lang="en-US" altLang="ja-JP" b="1" dirty="0"/>
              <a:t>:</a:t>
            </a:r>
            <a:r>
              <a:rPr lang="ja-JP" altLang="en-US" dirty="0"/>
              <a:t> </a:t>
            </a:r>
            <a:r>
              <a:rPr lang="en-US" altLang="ja-JP" dirty="0"/>
              <a:t>Web</a:t>
            </a:r>
            <a:r>
              <a:rPr lang="ja-JP" altLang="en-US" dirty="0"/>
              <a:t>系・</a:t>
            </a:r>
            <a:r>
              <a:rPr lang="en-US" altLang="ja-JP" dirty="0"/>
              <a:t>AI</a:t>
            </a:r>
            <a:r>
              <a:rPr lang="ja-JP" altLang="en-US" dirty="0"/>
              <a:t>系の研究で必ず問われる「再現性」への攻撃です。</a:t>
            </a:r>
          </a:p>
          <a:p>
            <a:r>
              <a:rPr lang="ja-JP" altLang="en-US" b="1" dirty="0"/>
              <a:t>回答戦略</a:t>
            </a:r>
            <a:r>
              <a:rPr lang="en-US" altLang="ja-JP" b="1" dirty="0"/>
              <a:t>:</a:t>
            </a:r>
            <a:r>
              <a:rPr lang="ja-JP" altLang="en-US" dirty="0"/>
              <a:t> 「再現性の担保が難しい点は、商用モデルを利用する際の本質的な課題であると認識しています」と認めます。その上で、「しかし、最先端のモデルの</a:t>
            </a:r>
            <a:r>
              <a:rPr lang="en-US" altLang="ja-JP" dirty="0"/>
              <a:t>『</a:t>
            </a:r>
            <a:r>
              <a:rPr lang="ja-JP" altLang="en-US" dirty="0"/>
              <a:t>現時点での性能</a:t>
            </a:r>
            <a:r>
              <a:rPr lang="en-US" altLang="ja-JP" dirty="0"/>
              <a:t>』</a:t>
            </a:r>
            <a:r>
              <a:rPr lang="ja-JP" altLang="en-US" dirty="0"/>
              <a:t>をスナップショットとして評価し、事後学習による改善の</a:t>
            </a:r>
            <a:r>
              <a:rPr lang="ja-JP" altLang="en-US" b="1" dirty="0"/>
              <a:t>傾向</a:t>
            </a:r>
            <a:r>
              <a:rPr lang="ja-JP" altLang="en-US" dirty="0"/>
              <a:t>を確認すること自体には、工学的な知見としての価値があると考えます」</a:t>
            </a:r>
          </a:p>
          <a:p>
            <a:br>
              <a:rPr lang="en-US" altLang="ja-JP" dirty="0"/>
            </a:br>
            <a:r>
              <a:rPr lang="ja-JP" altLang="en-US" b="1" dirty="0"/>
              <a:t>検出漏れ（</a:t>
            </a:r>
            <a:r>
              <a:rPr lang="en-US" altLang="ja-JP" b="1" dirty="0"/>
              <a:t>FN</a:t>
            </a:r>
            <a:r>
              <a:rPr lang="ja-JP" altLang="en-US" b="1" dirty="0"/>
              <a:t>）が減ったということは、</a:t>
            </a:r>
            <a:r>
              <a:rPr lang="en-US" altLang="ja-JP" b="1" dirty="0"/>
              <a:t>AI</a:t>
            </a:r>
            <a:r>
              <a:rPr lang="ja-JP" altLang="en-US" b="1" dirty="0"/>
              <a:t>が敏感になったということですよね。通常、感度を上げると過剰検知（</a:t>
            </a:r>
            <a:r>
              <a:rPr lang="en-US" altLang="ja-JP" b="1" dirty="0"/>
              <a:t>FP</a:t>
            </a:r>
            <a:r>
              <a:rPr lang="ja-JP" altLang="en-US" b="1" dirty="0"/>
              <a:t>）が増えるトレードオフの関係になるはずですが、あなたの結果では</a:t>
            </a:r>
            <a:r>
              <a:rPr lang="en-US" altLang="ja-JP" b="1" dirty="0"/>
              <a:t>FP</a:t>
            </a:r>
            <a:r>
              <a:rPr lang="ja-JP" altLang="en-US" b="1" dirty="0"/>
              <a:t>はずっと</a:t>
            </a:r>
            <a:r>
              <a:rPr lang="en-US" altLang="ja-JP" b="1" dirty="0"/>
              <a:t>0</a:t>
            </a:r>
            <a:r>
              <a:rPr lang="ja-JP" altLang="en-US" b="1" dirty="0"/>
              <a:t>です。これは「</a:t>
            </a:r>
            <a:r>
              <a:rPr lang="en-US" altLang="ja-JP" b="1" dirty="0"/>
              <a:t>FP</a:t>
            </a:r>
            <a:r>
              <a:rPr lang="ja-JP" altLang="en-US" b="1" dirty="0"/>
              <a:t>の判定基準」が甘すぎる（評価者に都合が良すぎる）のではありませんか？</a:t>
            </a:r>
            <a:endParaRPr lang="ja-JP" altLang="en-US" dirty="0"/>
          </a:p>
          <a:p>
            <a:r>
              <a:rPr lang="ja-JP" altLang="en-US" b="1" dirty="0"/>
              <a:t>教授の意図</a:t>
            </a:r>
            <a:r>
              <a:rPr lang="en-US" altLang="ja-JP" b="1" dirty="0"/>
              <a:t>:</a:t>
            </a:r>
            <a:r>
              <a:rPr lang="ja-JP" altLang="en-US" dirty="0"/>
              <a:t> の結果（</a:t>
            </a:r>
            <a:r>
              <a:rPr lang="en-US" altLang="ja-JP" dirty="0"/>
              <a:t>FN</a:t>
            </a:r>
            <a:r>
              <a:rPr lang="ja-JP" altLang="en-US" dirty="0"/>
              <a:t>減、</a:t>
            </a:r>
            <a:r>
              <a:rPr lang="en-US" altLang="ja-JP" dirty="0"/>
              <a:t>FP</a:t>
            </a:r>
            <a:r>
              <a:rPr lang="ja-JP" altLang="en-US" dirty="0"/>
              <a:t>ゼロ）が、一般的な機械学習の常識（トレードオフ）と矛盾しているように見えるため、評価の正当性を疑っています。</a:t>
            </a:r>
          </a:p>
          <a:p>
            <a:r>
              <a:rPr lang="ja-JP" altLang="en-US" b="1" dirty="0"/>
              <a:t>回答戦略</a:t>
            </a:r>
            <a:r>
              <a:rPr lang="en-US" altLang="ja-JP" b="1" dirty="0"/>
              <a:t>:</a:t>
            </a:r>
            <a:r>
              <a:rPr lang="ja-JP" altLang="en-US" dirty="0"/>
              <a:t> 「ご指摘のトレードオフが発生しなかった点は特筆すべきですが、これは</a:t>
            </a:r>
            <a:r>
              <a:rPr lang="en-US" altLang="ja-JP" dirty="0"/>
              <a:t>FP</a:t>
            </a:r>
            <a:r>
              <a:rPr lang="ja-JP" altLang="en-US" dirty="0"/>
              <a:t>を</a:t>
            </a:r>
            <a:r>
              <a:rPr lang="en-US" altLang="ja-JP" dirty="0"/>
              <a:t>『</a:t>
            </a:r>
            <a:r>
              <a:rPr lang="ja-JP" altLang="en-US" dirty="0"/>
              <a:t>完全な幻覚（ハルシネーション）</a:t>
            </a:r>
            <a:r>
              <a:rPr lang="en-US" altLang="ja-JP" dirty="0"/>
              <a:t>』</a:t>
            </a:r>
            <a:r>
              <a:rPr lang="ja-JP" altLang="en-US" dirty="0"/>
              <a:t>に限定して定義したためです。映像内の物体を誤ってラベル付けしたケース（例えば自転車をバイクとする等）は</a:t>
            </a:r>
            <a:r>
              <a:rPr lang="en-US" altLang="ja-JP" dirty="0"/>
              <a:t>『</a:t>
            </a:r>
            <a:r>
              <a:rPr lang="ja-JP" altLang="en-US" dirty="0"/>
              <a:t>不正解（</a:t>
            </a:r>
            <a:r>
              <a:rPr lang="en-US" altLang="ja-JP" dirty="0"/>
              <a:t>Mis</a:t>
            </a:r>
            <a:r>
              <a:rPr lang="ja-JP" altLang="en-US" dirty="0"/>
              <a:t>）</a:t>
            </a:r>
            <a:r>
              <a:rPr lang="en-US" altLang="ja-JP" dirty="0"/>
              <a:t>』</a:t>
            </a:r>
            <a:r>
              <a:rPr lang="ja-JP" altLang="en-US" dirty="0"/>
              <a:t>としてカウントしており、こちらを含めると誤検知に相当する事象は一定数存在します」と、定義によるマジックであることを正直に解説します。</a:t>
            </a:r>
          </a:p>
          <a:p>
            <a:endParaRPr lang="en-US" altLang="ja-JP" dirty="0"/>
          </a:p>
          <a:p>
            <a:r>
              <a:rPr lang="ja-JP" altLang="en-US" b="1" dirty="0"/>
              <a:t>「道路環境」で実験したとありますが、これって「音を聞いて車と答えた」のではなく、「道路の映像だから車がいるだろう」と</a:t>
            </a:r>
            <a:r>
              <a:rPr lang="en-US" altLang="ja-JP" b="1" dirty="0"/>
              <a:t>AI</a:t>
            </a:r>
            <a:r>
              <a:rPr lang="ja-JP" altLang="en-US" b="1" dirty="0"/>
              <a:t>が推測しただけ（コンテキストバイアス）ではないですか？ 例えば、アイドリングストップ中の静かな車が映っていても「エンジン音」と答えたりしませんか？</a:t>
            </a:r>
            <a:endParaRPr lang="ja-JP" altLang="en-US" dirty="0"/>
          </a:p>
          <a:p>
            <a:r>
              <a:rPr lang="ja-JP" altLang="en-US" b="1" dirty="0"/>
              <a:t>教授の意図</a:t>
            </a:r>
            <a:r>
              <a:rPr lang="en-US" altLang="ja-JP" b="1" dirty="0"/>
              <a:t>:</a:t>
            </a:r>
            <a:r>
              <a:rPr lang="ja-JP" altLang="en-US" dirty="0"/>
              <a:t> に関連して、マルチモーダルモデルが「音」をちゃんと聞いているのか、「映像の雰囲気」だけで答えているのか（因果関係の有無）を突いています。</a:t>
            </a:r>
          </a:p>
          <a:p>
            <a:r>
              <a:rPr lang="ja-JP" altLang="en-US" b="1" dirty="0"/>
              <a:t>回答戦略</a:t>
            </a:r>
            <a:r>
              <a:rPr lang="en-US" altLang="ja-JP" b="1" dirty="0"/>
              <a:t>:</a:t>
            </a:r>
            <a:r>
              <a:rPr lang="ja-JP" altLang="en-US" dirty="0"/>
              <a:t> 「ご指摘の可能性（バイアスによる推論）は十分に考えられます」と認めます。「実際、不正解（</a:t>
            </a:r>
            <a:r>
              <a:rPr lang="en-US" altLang="ja-JP" dirty="0"/>
              <a:t>Mis</a:t>
            </a:r>
            <a:r>
              <a:rPr lang="ja-JP" altLang="en-US" dirty="0"/>
              <a:t>）の中には音の記述が不一致なものが存在していましたが、音響特徴量に基づいているかを検証することは、今後の課題としています。</a:t>
            </a:r>
            <a:br>
              <a:rPr lang="en-US" altLang="ja-JP" dirty="0"/>
            </a:br>
            <a:br>
              <a:rPr lang="en-US" altLang="ja-JP" dirty="0"/>
            </a:br>
            <a:r>
              <a:rPr lang="ja-JP" altLang="en-US" dirty="0"/>
              <a:t>社会応用を聞かれた場合：</a:t>
            </a:r>
            <a:endParaRPr lang="en-US" altLang="ja-JP" dirty="0"/>
          </a:p>
          <a:p>
            <a:r>
              <a:rPr lang="ja-JP" altLang="en-US" dirty="0"/>
              <a:t>本研究では社会実装までは行っていませんが，動画と音響から発生源オブジェクトを記述できるため，例えば騒音調査において，どの物体がどの時間帯に音を出しているかを整理する支援用途への応用は考えられます。</a:t>
            </a:r>
            <a:endParaRPr lang="en-US" altLang="ja-JP" dirty="0"/>
          </a:p>
          <a:p>
            <a:endParaRPr lang="en-US" altLang="ja-JP" dirty="0"/>
          </a:p>
          <a:p>
            <a:endParaRPr lang="en-US" altLang="ja-JP" dirty="0"/>
          </a:p>
          <a:p>
            <a:r>
              <a:rPr lang="ja-JP" altLang="en-US" dirty="0"/>
              <a:t>属性や動作の定義，およびこのような構造化が妥当かどうかについては体系的な検証は行っておらず，本研究の制約の一つです。今後は定義の明確化や複数人によるアノテーションを行い，評価基準自体の妥当性を検証する必要があると考えています。</a:t>
            </a:r>
            <a:endParaRPr lang="en-US" altLang="ja-JP" dirty="0"/>
          </a:p>
          <a:p>
            <a:endParaRPr lang="en-US" altLang="ja-JP" dirty="0"/>
          </a:p>
          <a:p>
            <a:r>
              <a:rPr lang="ja-JP" altLang="en-US" dirty="0"/>
              <a:t>現在のエポック数が</a:t>
            </a:r>
            <a:r>
              <a:rPr lang="en-US" altLang="ja-JP" dirty="0"/>
              <a:t>10</a:t>
            </a:r>
            <a:r>
              <a:rPr lang="ja-JP" altLang="en-US" dirty="0"/>
              <a:t>、これを増減するなどパラメータを変化させて検証</a:t>
            </a:r>
            <a:br>
              <a:rPr lang="en-US" altLang="ja-JP" dirty="0"/>
            </a:br>
            <a:br>
              <a:rPr lang="en-US" altLang="ja-JP" dirty="0"/>
            </a:br>
            <a:r>
              <a:rPr lang="ja-JP" altLang="en-US" dirty="0"/>
              <a:t>プロンプト</a:t>
            </a:r>
            <a:br>
              <a:rPr lang="en-US" altLang="ja-JP" dirty="0"/>
            </a:br>
            <a:r>
              <a:rPr lang="ja-JP" altLang="en-US" dirty="0"/>
              <a:t>あなたは、映像と音声を統合解析し、音源を特定する専門家</a:t>
            </a:r>
            <a:r>
              <a:rPr lang="en-US" altLang="ja-JP" dirty="0"/>
              <a:t>AI</a:t>
            </a:r>
            <a:r>
              <a:rPr lang="ja-JP" altLang="en-US" dirty="0"/>
              <a:t>です。</a:t>
            </a:r>
          </a:p>
          <a:p>
            <a:r>
              <a:rPr lang="ja-JP" altLang="en-US" dirty="0"/>
              <a:t>以下のルールに従って動画を解析し、指定された</a:t>
            </a:r>
            <a:r>
              <a:rPr lang="en-US" altLang="ja-JP" dirty="0"/>
              <a:t>JSON</a:t>
            </a:r>
            <a:r>
              <a:rPr lang="ja-JP" altLang="en-US" dirty="0"/>
              <a:t>フォーマットで出力してください。</a:t>
            </a:r>
          </a:p>
          <a:p>
            <a:br>
              <a:rPr lang="ja-JP" altLang="en-US" dirty="0"/>
            </a:br>
            <a:endParaRPr lang="ja-JP" altLang="en-US" dirty="0"/>
          </a:p>
          <a:p>
            <a:r>
              <a:rPr lang="en-US" altLang="ja-JP" dirty="0"/>
              <a:t># </a:t>
            </a:r>
            <a:r>
              <a:rPr lang="ja-JP" altLang="en-US" dirty="0"/>
              <a:t>タスク</a:t>
            </a:r>
            <a:r>
              <a:rPr lang="en-US" altLang="ja-JP" dirty="0"/>
              <a:t>: </a:t>
            </a:r>
            <a:r>
              <a:rPr lang="ja-JP" altLang="en-US" dirty="0"/>
              <a:t>時系列音響イベントの抽出</a:t>
            </a:r>
          </a:p>
          <a:p>
            <a:r>
              <a:rPr lang="ja-JP" altLang="en-US" dirty="0"/>
              <a:t>動画全体から、発音物体（音を出している物体）が特定できる、意味のある音響イベントを時系列でリストアップしてください。</a:t>
            </a:r>
          </a:p>
          <a:p>
            <a:br>
              <a:rPr lang="ja-JP" altLang="en-US" dirty="0"/>
            </a:br>
            <a:endParaRPr lang="ja-JP" altLang="en-US" dirty="0"/>
          </a:p>
          <a:p>
            <a:r>
              <a:rPr lang="en-US" altLang="ja-JP" dirty="0"/>
              <a:t># </a:t>
            </a:r>
            <a:r>
              <a:rPr lang="ja-JP" altLang="en-US" dirty="0"/>
              <a:t>イベント抽出ルール</a:t>
            </a:r>
          </a:p>
          <a:p>
            <a:r>
              <a:rPr lang="en-US" altLang="ja-JP" dirty="0"/>
              <a:t>1. **</a:t>
            </a:r>
            <a:r>
              <a:rPr lang="ja-JP" altLang="en-US" dirty="0"/>
              <a:t>原則（イベント分離）**</a:t>
            </a:r>
            <a:r>
              <a:rPr lang="en-US" altLang="ja-JP" dirty="0"/>
              <a:t>: </a:t>
            </a:r>
            <a:r>
              <a:rPr lang="ja-JP" altLang="en-US" dirty="0"/>
              <a:t>異なる物体（例</a:t>
            </a:r>
            <a:r>
              <a:rPr lang="en-US" altLang="ja-JP" dirty="0"/>
              <a:t>: 1</a:t>
            </a:r>
            <a:r>
              <a:rPr lang="ja-JP" altLang="en-US" dirty="0"/>
              <a:t>台目の車と</a:t>
            </a:r>
            <a:r>
              <a:rPr lang="en-US" altLang="ja-JP" dirty="0"/>
              <a:t>2</a:t>
            </a:r>
            <a:r>
              <a:rPr lang="ja-JP" altLang="en-US" dirty="0"/>
              <a:t>台目の車）は別イベントとして分離する。</a:t>
            </a:r>
          </a:p>
          <a:p>
            <a:r>
              <a:rPr lang="en-US" altLang="ja-JP" dirty="0"/>
              <a:t>2. **</a:t>
            </a:r>
            <a:r>
              <a:rPr lang="ja-JP" altLang="en-US" dirty="0"/>
              <a:t>継続性（時間的統合）**</a:t>
            </a:r>
            <a:r>
              <a:rPr lang="en-US" altLang="ja-JP" dirty="0"/>
              <a:t>: </a:t>
            </a:r>
            <a:r>
              <a:rPr lang="ja-JP" altLang="en-US" dirty="0"/>
              <a:t>同一の発音物体による一連の継続的な動作は、途中で分割せず、開始から終了までを</a:t>
            </a:r>
            <a:r>
              <a:rPr lang="en-US" altLang="ja-JP" dirty="0"/>
              <a:t>1</a:t>
            </a:r>
            <a:r>
              <a:rPr lang="ja-JP" altLang="en-US" dirty="0"/>
              <a:t>つのイベントとする。</a:t>
            </a:r>
          </a:p>
          <a:p>
            <a:r>
              <a:rPr lang="en-US" altLang="ja-JP" dirty="0"/>
              <a:t>3. **</a:t>
            </a:r>
            <a:r>
              <a:rPr lang="ja-JP" altLang="en-US" dirty="0"/>
              <a:t>例外（グループ化）**</a:t>
            </a:r>
            <a:r>
              <a:rPr lang="en-US" altLang="ja-JP" dirty="0"/>
              <a:t>: </a:t>
            </a:r>
            <a:r>
              <a:rPr lang="ja-JP" altLang="en-US" dirty="0"/>
              <a:t>拍手や歓声など、物理的・聴覚的に不可分な群衆は</a:t>
            </a:r>
            <a:r>
              <a:rPr lang="en-US" altLang="ja-JP" dirty="0"/>
              <a:t>1</a:t>
            </a:r>
            <a:r>
              <a:rPr lang="ja-JP" altLang="en-US" dirty="0"/>
              <a:t>つのグループとして扱う。</a:t>
            </a:r>
          </a:p>
          <a:p>
            <a:br>
              <a:rPr lang="ja-JP" altLang="en-US" dirty="0"/>
            </a:br>
            <a:endParaRPr lang="ja-JP" altLang="en-US" dirty="0"/>
          </a:p>
          <a:p>
            <a:r>
              <a:rPr lang="en-US" altLang="ja-JP" dirty="0"/>
              <a:t># </a:t>
            </a:r>
            <a:r>
              <a:rPr lang="ja-JP" altLang="en-US" dirty="0"/>
              <a:t>出力フィールドの定義</a:t>
            </a:r>
          </a:p>
          <a:p>
            <a:r>
              <a:rPr lang="ja-JP" altLang="en-US" dirty="0"/>
              <a:t>各イベントには、以下の</a:t>
            </a:r>
            <a:r>
              <a:rPr lang="en-US" altLang="ja-JP" dirty="0"/>
              <a:t>2</a:t>
            </a:r>
            <a:r>
              <a:rPr lang="ja-JP" altLang="en-US" dirty="0"/>
              <a:t>つの形式で判断根拠を含めてください。</a:t>
            </a:r>
          </a:p>
          <a:p>
            <a:br>
              <a:rPr lang="ja-JP" altLang="en-US" dirty="0"/>
            </a:br>
            <a:endParaRPr lang="ja-JP" altLang="en-US" dirty="0"/>
          </a:p>
          <a:p>
            <a:r>
              <a:rPr lang="en-US" altLang="ja-JP" dirty="0"/>
              <a:t>1. **reasoning (</a:t>
            </a:r>
            <a:r>
              <a:rPr lang="ja-JP" altLang="en-US" dirty="0"/>
              <a:t>判断根拠・文章版</a:t>
            </a:r>
            <a:r>
              <a:rPr lang="en-US" altLang="ja-JP" dirty="0"/>
              <a:t>)**:</a:t>
            </a:r>
            <a:endParaRPr lang="ja-JP" altLang="en-US" dirty="0"/>
          </a:p>
          <a:p>
            <a:r>
              <a:rPr lang="ja-JP" altLang="en-US" dirty="0"/>
              <a:t>   </a:t>
            </a:r>
            <a:r>
              <a:rPr lang="en-US" altLang="ja-JP" dirty="0"/>
              <a:t>- </a:t>
            </a:r>
            <a:r>
              <a:rPr lang="ja-JP" altLang="en-US" dirty="0"/>
              <a:t>音と映像の同期、特定に至った理由を自然言語で記述してください。</a:t>
            </a:r>
          </a:p>
          <a:p>
            <a:r>
              <a:rPr lang="ja-JP" altLang="en-US" dirty="0"/>
              <a:t>   </a:t>
            </a:r>
            <a:r>
              <a:rPr lang="en-US" altLang="ja-JP" dirty="0"/>
              <a:t>- UI</a:t>
            </a:r>
            <a:r>
              <a:rPr lang="ja-JP" altLang="en-US" dirty="0"/>
              <a:t>表示用です。思考過程を含めて詳細に記述してください。</a:t>
            </a:r>
          </a:p>
          <a:p>
            <a:br>
              <a:rPr lang="ja-JP" altLang="en-US" dirty="0"/>
            </a:br>
            <a:endParaRPr lang="ja-JP" altLang="en-US" dirty="0"/>
          </a:p>
          <a:p>
            <a:r>
              <a:rPr lang="en-US" altLang="ja-JP" dirty="0"/>
              <a:t>2. **</a:t>
            </a:r>
            <a:r>
              <a:rPr lang="en-US" altLang="ja-JP" dirty="0" err="1"/>
              <a:t>structured_reasoning</a:t>
            </a:r>
            <a:r>
              <a:rPr lang="en-US" altLang="ja-JP" dirty="0"/>
              <a:t> (</a:t>
            </a:r>
            <a:r>
              <a:rPr lang="ja-JP" altLang="en-US" dirty="0"/>
              <a:t>判断根拠・構造化版</a:t>
            </a:r>
            <a:r>
              <a:rPr lang="en-US" altLang="ja-JP" dirty="0"/>
              <a:t>)**:</a:t>
            </a:r>
            <a:endParaRPr lang="ja-JP" altLang="en-US" dirty="0"/>
          </a:p>
          <a:p>
            <a:r>
              <a:rPr lang="ja-JP" altLang="en-US" dirty="0"/>
              <a:t>   </a:t>
            </a:r>
            <a:r>
              <a:rPr lang="en-US" altLang="ja-JP" dirty="0"/>
              <a:t>- **【</a:t>
            </a:r>
            <a:r>
              <a:rPr lang="ja-JP" altLang="en-US" dirty="0"/>
              <a:t>重要</a:t>
            </a:r>
            <a:r>
              <a:rPr lang="en-US" altLang="ja-JP" dirty="0"/>
              <a:t>】**: </a:t>
            </a:r>
            <a:r>
              <a:rPr lang="ja-JP" altLang="en-US" dirty="0"/>
              <a:t>ここでは映像を再度解析してはならない。必ず上記 **</a:t>
            </a:r>
            <a:r>
              <a:rPr lang="en-US" altLang="ja-JP" dirty="0"/>
              <a:t>`reasoning` (</a:t>
            </a:r>
            <a:r>
              <a:rPr lang="ja-JP" altLang="en-US" dirty="0"/>
              <a:t>自然言語の記述</a:t>
            </a:r>
            <a:r>
              <a:rPr lang="en-US" altLang="ja-JP" dirty="0"/>
              <a:t>)** </a:t>
            </a:r>
            <a:r>
              <a:rPr lang="ja-JP" altLang="en-US" dirty="0"/>
              <a:t>の内容**のみ**を情報源とすること。</a:t>
            </a:r>
          </a:p>
          <a:p>
            <a:r>
              <a:rPr lang="ja-JP" altLang="en-US" dirty="0"/>
              <a:t>   </a:t>
            </a:r>
            <a:r>
              <a:rPr lang="en-US" altLang="ja-JP" dirty="0"/>
              <a:t>- `reasoning` </a:t>
            </a:r>
            <a:r>
              <a:rPr lang="ja-JP" altLang="en-US" dirty="0"/>
              <a:t>に記述されていない情報は、たとえ映像に映っていても、ここには絶対に含めないこと（</a:t>
            </a:r>
            <a:r>
              <a:rPr lang="en-US" altLang="ja-JP" dirty="0"/>
              <a:t>NULL</a:t>
            </a:r>
            <a:r>
              <a:rPr lang="ja-JP" altLang="en-US" dirty="0"/>
              <a:t>または空文字とする）。</a:t>
            </a:r>
          </a:p>
          <a:p>
            <a:r>
              <a:rPr lang="ja-JP" altLang="en-US" dirty="0"/>
              <a:t>   </a:t>
            </a:r>
            <a:r>
              <a:rPr lang="en-US" altLang="ja-JP" dirty="0"/>
              <a:t>- </a:t>
            </a:r>
            <a:r>
              <a:rPr lang="ja-JP" altLang="en-US" dirty="0"/>
              <a:t>文章として記述された内容を、以下の</a:t>
            </a:r>
            <a:r>
              <a:rPr lang="en-US" altLang="ja-JP" dirty="0"/>
              <a:t>4</a:t>
            </a:r>
            <a:r>
              <a:rPr lang="ja-JP" altLang="en-US" dirty="0"/>
              <a:t>要素に厳密に分類・抽出して格納する。</a:t>
            </a:r>
          </a:p>
          <a:p>
            <a:br>
              <a:rPr lang="ja-JP" altLang="en-US" dirty="0"/>
            </a:br>
            <a:endParaRPr lang="ja-JP" altLang="en-US" dirty="0"/>
          </a:p>
          <a:p>
            <a:r>
              <a:rPr lang="ja-JP" altLang="en-US" dirty="0"/>
              <a:t>   </a:t>
            </a:r>
            <a:r>
              <a:rPr lang="en-US" altLang="ja-JP" dirty="0"/>
              <a:t>- **A. </a:t>
            </a:r>
            <a:r>
              <a:rPr lang="en-US" altLang="ja-JP" dirty="0" err="1"/>
              <a:t>object_features</a:t>
            </a:r>
            <a:r>
              <a:rPr lang="en-US" altLang="ja-JP" dirty="0"/>
              <a:t> (</a:t>
            </a:r>
            <a:r>
              <a:rPr lang="ja-JP" altLang="en-US" dirty="0"/>
              <a:t>物体属性 </a:t>
            </a:r>
            <a:r>
              <a:rPr lang="en-US" altLang="ja-JP" dirty="0"/>
              <a:t>&amp; </a:t>
            </a:r>
            <a:r>
              <a:rPr lang="ja-JP" altLang="en-US" dirty="0"/>
              <a:t>識別情報</a:t>
            </a:r>
            <a:r>
              <a:rPr lang="en-US" altLang="ja-JP" dirty="0"/>
              <a:t>)**:</a:t>
            </a:r>
            <a:endParaRPr lang="ja-JP" altLang="en-US" dirty="0"/>
          </a:p>
          <a:p>
            <a:r>
              <a:rPr lang="ja-JP" altLang="en-US" dirty="0"/>
              <a:t>     </a:t>
            </a:r>
            <a:r>
              <a:rPr lang="en-US" altLang="ja-JP" dirty="0"/>
              <a:t>- `reasoning` </a:t>
            </a:r>
            <a:r>
              <a:rPr lang="ja-JP" altLang="en-US" dirty="0"/>
              <a:t>内で言及された、発音物体そのものの視覚的特徴（色、形、種類、服装）。</a:t>
            </a:r>
          </a:p>
          <a:p>
            <a:r>
              <a:rPr lang="ja-JP" altLang="en-US" dirty="0"/>
              <a:t>     </a:t>
            </a:r>
            <a:r>
              <a:rPr lang="en-US" altLang="ja-JP" dirty="0"/>
              <a:t>- **</a:t>
            </a:r>
            <a:r>
              <a:rPr lang="ja-JP" altLang="en-US" dirty="0"/>
              <a:t>重要**</a:t>
            </a:r>
            <a:r>
              <a:rPr lang="en-US" altLang="ja-JP" dirty="0"/>
              <a:t>: </a:t>
            </a:r>
            <a:r>
              <a:rPr lang="ja-JP" altLang="en-US" dirty="0"/>
              <a:t>他の物体と区別するための「静的な位置関係」や「状態」はここに含める。（例</a:t>
            </a:r>
            <a:r>
              <a:rPr lang="en-US" altLang="ja-JP" dirty="0"/>
              <a:t>: </a:t>
            </a:r>
            <a:r>
              <a:rPr lang="ja-JP" altLang="en-US" dirty="0"/>
              <a:t>「右側の」「信号待ちしている」「</a:t>
            </a:r>
            <a:r>
              <a:rPr lang="en-US" altLang="ja-JP" dirty="0"/>
              <a:t>〜</a:t>
            </a:r>
            <a:r>
              <a:rPr lang="ja-JP" altLang="en-US" dirty="0"/>
              <a:t>の横にある」）</a:t>
            </a:r>
          </a:p>
          <a:p>
            <a:r>
              <a:rPr lang="ja-JP" altLang="en-US" dirty="0"/>
              <a:t>     </a:t>
            </a:r>
            <a:r>
              <a:rPr lang="en-US" altLang="ja-JP" dirty="0"/>
              <a:t>- **</a:t>
            </a:r>
            <a:r>
              <a:rPr lang="ja-JP" altLang="en-US" dirty="0"/>
              <a:t>禁止事項**</a:t>
            </a:r>
            <a:r>
              <a:rPr lang="en-US" altLang="ja-JP" dirty="0"/>
              <a:t>: </a:t>
            </a:r>
            <a:r>
              <a:rPr lang="ja-JP" altLang="en-US" dirty="0"/>
              <a:t>「</a:t>
            </a:r>
            <a:r>
              <a:rPr lang="en-US" altLang="ja-JP" dirty="0"/>
              <a:t>〜</a:t>
            </a:r>
            <a:r>
              <a:rPr lang="ja-JP" altLang="en-US" dirty="0"/>
              <a:t>から現れた」「</a:t>
            </a:r>
            <a:r>
              <a:rPr lang="en-US" altLang="ja-JP" dirty="0"/>
              <a:t>〜</a:t>
            </a:r>
            <a:r>
              <a:rPr lang="ja-JP" altLang="en-US" dirty="0"/>
              <a:t>へ向かう」といった**動的な移動の始点や経路**はここには含めず、必ず </a:t>
            </a:r>
            <a:r>
              <a:rPr lang="en-US" altLang="ja-JP" dirty="0"/>
              <a:t>`action` </a:t>
            </a:r>
            <a:r>
              <a:rPr lang="ja-JP" altLang="en-US" dirty="0"/>
              <a:t>に記述すること。</a:t>
            </a:r>
          </a:p>
          <a:p>
            <a:r>
              <a:rPr lang="ja-JP" altLang="en-US" dirty="0"/>
              <a:t>     </a:t>
            </a:r>
            <a:r>
              <a:rPr lang="en-US" altLang="ja-JP" dirty="0"/>
              <a:t>- </a:t>
            </a:r>
            <a:r>
              <a:rPr lang="ja-JP" altLang="en-US" dirty="0"/>
              <a:t>これらは物体を特定するための識別子（</a:t>
            </a:r>
            <a:r>
              <a:rPr lang="en-US" altLang="ja-JP" dirty="0"/>
              <a:t>Identifier</a:t>
            </a:r>
            <a:r>
              <a:rPr lang="ja-JP" altLang="en-US" dirty="0"/>
              <a:t>）として扱う。</a:t>
            </a:r>
          </a:p>
          <a:p>
            <a:br>
              <a:rPr lang="ja-JP" altLang="en-US" dirty="0"/>
            </a:br>
            <a:endParaRPr lang="ja-JP" altLang="en-US" dirty="0"/>
          </a:p>
          <a:p>
            <a:r>
              <a:rPr lang="ja-JP" altLang="en-US" dirty="0"/>
              <a:t>   </a:t>
            </a:r>
            <a:r>
              <a:rPr lang="en-US" altLang="ja-JP" dirty="0"/>
              <a:t>- **B. </a:t>
            </a:r>
            <a:r>
              <a:rPr lang="en-US" altLang="ja-JP" dirty="0" err="1"/>
              <a:t>scene_context</a:t>
            </a:r>
            <a:r>
              <a:rPr lang="en-US" altLang="ja-JP" dirty="0"/>
              <a:t> (</a:t>
            </a:r>
            <a:r>
              <a:rPr lang="ja-JP" altLang="en-US" dirty="0"/>
              <a:t>全体背景情報 </a:t>
            </a:r>
            <a:r>
              <a:rPr lang="en-US" altLang="ja-JP" dirty="0"/>
              <a:t>- Global Context)**:</a:t>
            </a:r>
            <a:endParaRPr lang="ja-JP" altLang="en-US" dirty="0"/>
          </a:p>
          <a:p>
            <a:r>
              <a:rPr lang="ja-JP" altLang="en-US" dirty="0"/>
              <a:t>     </a:t>
            </a:r>
            <a:r>
              <a:rPr lang="en-US" altLang="ja-JP" dirty="0"/>
              <a:t>- `reasoning` </a:t>
            </a:r>
            <a:r>
              <a:rPr lang="ja-JP" altLang="en-US" dirty="0"/>
              <a:t>内で言及された、**画面内のすべてのオブジェクトに共通して適用される環境情報**のみを記述する。</a:t>
            </a:r>
          </a:p>
          <a:p>
            <a:r>
              <a:rPr lang="ja-JP" altLang="en-US" dirty="0"/>
              <a:t>     </a:t>
            </a:r>
            <a:r>
              <a:rPr lang="en-US" altLang="ja-JP" dirty="0"/>
              <a:t>- **</a:t>
            </a:r>
            <a:r>
              <a:rPr lang="ja-JP" altLang="en-US" dirty="0"/>
              <a:t>内容**</a:t>
            </a:r>
            <a:r>
              <a:rPr lang="en-US" altLang="ja-JP" dirty="0"/>
              <a:t>: </a:t>
            </a:r>
            <a:r>
              <a:rPr lang="ja-JP" altLang="en-US" dirty="0"/>
              <a:t>文中の天候（晴れ、雨）、時間帯（昼、夜）、場所の大区分（高速道路、公園、室内）。</a:t>
            </a:r>
          </a:p>
          <a:p>
            <a:r>
              <a:rPr lang="ja-JP" altLang="en-US" dirty="0"/>
              <a:t>     </a:t>
            </a:r>
            <a:r>
              <a:rPr lang="en-US" altLang="ja-JP" dirty="0"/>
              <a:t>- **</a:t>
            </a:r>
            <a:r>
              <a:rPr lang="ja-JP" altLang="en-US" dirty="0"/>
              <a:t>禁止事項**</a:t>
            </a:r>
            <a:r>
              <a:rPr lang="en-US" altLang="ja-JP" dirty="0"/>
              <a:t>: </a:t>
            </a:r>
            <a:r>
              <a:rPr lang="ja-JP" altLang="en-US" dirty="0"/>
              <a:t>特定のオブジェクトに依存する情報（例</a:t>
            </a:r>
            <a:r>
              <a:rPr lang="en-US" altLang="ja-JP" dirty="0"/>
              <a:t>: </a:t>
            </a:r>
            <a:r>
              <a:rPr lang="ja-JP" altLang="en-US" dirty="0"/>
              <a:t>「画面端にいる」「木の下にいる」）はここには書かず、</a:t>
            </a:r>
            <a:r>
              <a:rPr lang="en-US" altLang="ja-JP" dirty="0"/>
              <a:t>`</a:t>
            </a:r>
            <a:r>
              <a:rPr lang="en-US" altLang="ja-JP" dirty="0" err="1"/>
              <a:t>object_features</a:t>
            </a:r>
            <a:r>
              <a:rPr lang="en-US" altLang="ja-JP" dirty="0"/>
              <a:t>` </a:t>
            </a:r>
            <a:r>
              <a:rPr lang="ja-JP" altLang="en-US" dirty="0"/>
              <a:t>に含めること。</a:t>
            </a:r>
          </a:p>
          <a:p>
            <a:br>
              <a:rPr lang="ja-JP" altLang="en-US" dirty="0"/>
            </a:br>
            <a:endParaRPr lang="ja-JP" altLang="en-US" dirty="0"/>
          </a:p>
          <a:p>
            <a:r>
              <a:rPr lang="ja-JP" altLang="en-US" dirty="0"/>
              <a:t>   </a:t>
            </a:r>
            <a:r>
              <a:rPr lang="en-US" altLang="ja-JP" dirty="0"/>
              <a:t>- **C. action (</a:t>
            </a:r>
            <a:r>
              <a:rPr lang="ja-JP" altLang="en-US" dirty="0"/>
              <a:t>動作</a:t>
            </a:r>
            <a:r>
              <a:rPr lang="en-US" altLang="ja-JP" dirty="0"/>
              <a:t>)**:</a:t>
            </a:r>
            <a:endParaRPr lang="ja-JP" altLang="en-US" dirty="0"/>
          </a:p>
          <a:p>
            <a:r>
              <a:rPr lang="ja-JP" altLang="en-US" dirty="0"/>
              <a:t>     </a:t>
            </a:r>
            <a:r>
              <a:rPr lang="en-US" altLang="ja-JP" dirty="0"/>
              <a:t>- `reasoning` </a:t>
            </a:r>
            <a:r>
              <a:rPr lang="ja-JP" altLang="en-US" dirty="0"/>
              <a:t>内で言及された、音の原因となる物理動作、移動方向、速度変化。</a:t>
            </a:r>
          </a:p>
          <a:p>
            <a:r>
              <a:rPr lang="ja-JP" altLang="en-US" dirty="0"/>
              <a:t>     </a:t>
            </a:r>
            <a:r>
              <a:rPr lang="en-US" altLang="ja-JP" dirty="0"/>
              <a:t>- **</a:t>
            </a:r>
            <a:r>
              <a:rPr lang="ja-JP" altLang="en-US" dirty="0"/>
              <a:t>移動情報**</a:t>
            </a:r>
            <a:r>
              <a:rPr lang="en-US" altLang="ja-JP" dirty="0"/>
              <a:t>: </a:t>
            </a:r>
            <a:r>
              <a:rPr lang="ja-JP" altLang="en-US" dirty="0"/>
              <a:t>「画面右端から」「左奥へ」といった**出現位置や移動経路**はすべてここに含めること。</a:t>
            </a:r>
          </a:p>
          <a:p>
            <a:br>
              <a:rPr lang="ja-JP" altLang="en-US" dirty="0"/>
            </a:br>
            <a:endParaRPr lang="ja-JP" altLang="en-US" dirty="0"/>
          </a:p>
          <a:p>
            <a:r>
              <a:rPr lang="ja-JP" altLang="en-US" dirty="0"/>
              <a:t>   </a:t>
            </a:r>
            <a:r>
              <a:rPr lang="en-US" altLang="ja-JP" dirty="0"/>
              <a:t>- **D. </a:t>
            </a:r>
            <a:r>
              <a:rPr lang="en-US" altLang="ja-JP" dirty="0" err="1"/>
              <a:t>sound_characteristics</a:t>
            </a:r>
            <a:r>
              <a:rPr lang="en-US" altLang="ja-JP" dirty="0"/>
              <a:t> (</a:t>
            </a:r>
            <a:r>
              <a:rPr lang="ja-JP" altLang="en-US" dirty="0"/>
              <a:t>音の特徴</a:t>
            </a:r>
            <a:r>
              <a:rPr lang="en-US" altLang="ja-JP" dirty="0"/>
              <a:t>)**:</a:t>
            </a:r>
            <a:endParaRPr lang="ja-JP" altLang="en-US" dirty="0"/>
          </a:p>
          <a:p>
            <a:r>
              <a:rPr lang="ja-JP" altLang="en-US" dirty="0"/>
              <a:t>     </a:t>
            </a:r>
            <a:r>
              <a:rPr lang="en-US" altLang="ja-JP" dirty="0"/>
              <a:t>- `reasoning` </a:t>
            </a:r>
            <a:r>
              <a:rPr lang="ja-JP" altLang="en-US" dirty="0"/>
              <a:t>内で言及された、音色、リズム、質感、音量変化。</a:t>
            </a:r>
          </a:p>
          <a:p>
            <a:br>
              <a:rPr lang="ja-JP" altLang="en-US" dirty="0"/>
            </a:br>
            <a:endParaRPr lang="ja-JP" altLang="en-US" dirty="0"/>
          </a:p>
          <a:p>
            <a:r>
              <a:rPr lang="en-US" altLang="ja-JP" dirty="0"/>
              <a:t># </a:t>
            </a:r>
            <a:r>
              <a:rPr lang="ja-JP" altLang="en-US" dirty="0"/>
              <a:t>画面外判定 </a:t>
            </a:r>
            <a:r>
              <a:rPr lang="en-US" altLang="ja-JP" dirty="0"/>
              <a:t>(Off-screen Sound)</a:t>
            </a:r>
            <a:endParaRPr lang="ja-JP" altLang="en-US" dirty="0"/>
          </a:p>
          <a:p>
            <a:r>
              <a:rPr lang="ja-JP" altLang="en-US" dirty="0"/>
              <a:t>音は聞こえるが、その発音物体が画面内に映っていない場合は、</a:t>
            </a:r>
            <a:r>
              <a:rPr lang="en-US" altLang="ja-JP" dirty="0"/>
              <a:t>`</a:t>
            </a:r>
            <a:r>
              <a:rPr lang="en-US" altLang="ja-JP" dirty="0" err="1"/>
              <a:t>is_off_screen</a:t>
            </a:r>
            <a:r>
              <a:rPr lang="en-US" altLang="ja-JP" dirty="0"/>
              <a:t>` </a:t>
            </a:r>
            <a:r>
              <a:rPr lang="ja-JP" altLang="en-US" dirty="0"/>
              <a:t>を </a:t>
            </a:r>
            <a:r>
              <a:rPr lang="en-US" altLang="ja-JP" dirty="0"/>
              <a:t>`true` </a:t>
            </a:r>
            <a:r>
              <a:rPr lang="ja-JP" altLang="en-US" dirty="0"/>
              <a:t>に設定してください。</a:t>
            </a:r>
          </a:p>
          <a:p>
            <a:br>
              <a:rPr lang="ja-JP" altLang="en-US" dirty="0"/>
            </a:br>
            <a:endParaRPr lang="ja-JP" altLang="en-US" dirty="0"/>
          </a:p>
          <a:p>
            <a:r>
              <a:rPr lang="en-US" altLang="ja-JP" dirty="0"/>
              <a:t># </a:t>
            </a:r>
            <a:r>
              <a:rPr lang="ja-JP" altLang="en-US" dirty="0"/>
              <a:t>出力フォーマット </a:t>
            </a:r>
            <a:r>
              <a:rPr lang="en-US" altLang="ja-JP" dirty="0"/>
              <a:t>(JSON Schema)</a:t>
            </a:r>
            <a:endParaRPr lang="ja-JP" altLang="en-US" dirty="0"/>
          </a:p>
          <a:p>
            <a:r>
              <a:rPr lang="ja-JP" altLang="en-US" dirty="0"/>
              <a:t>**</a:t>
            </a:r>
            <a:r>
              <a:rPr lang="en-US" altLang="ja-JP" dirty="0"/>
              <a:t>Markdown</a:t>
            </a:r>
            <a:r>
              <a:rPr lang="ja-JP" altLang="en-US" dirty="0"/>
              <a:t>タグ（</a:t>
            </a:r>
            <a:r>
              <a:rPr lang="en-US" altLang="ja-JP" dirty="0"/>
              <a:t>```</a:t>
            </a:r>
            <a:r>
              <a:rPr lang="en-US" altLang="ja-JP" dirty="0" err="1"/>
              <a:t>json</a:t>
            </a:r>
            <a:r>
              <a:rPr lang="ja-JP" altLang="en-US" dirty="0"/>
              <a:t>）や前置きは一切不要です。** 以下の</a:t>
            </a:r>
            <a:r>
              <a:rPr lang="en-US" altLang="ja-JP" dirty="0"/>
              <a:t>JSON</a:t>
            </a:r>
            <a:r>
              <a:rPr lang="ja-JP" altLang="en-US" dirty="0"/>
              <a:t>構造のみを出力してください。</a:t>
            </a:r>
          </a:p>
          <a:p>
            <a:br>
              <a:rPr lang="ja-JP" altLang="en-US" dirty="0"/>
            </a:br>
            <a:endParaRPr lang="ja-JP" altLang="en-US" dirty="0"/>
          </a:p>
          <a:p>
            <a:r>
              <a:rPr lang="en-US" altLang="ja-JP" dirty="0"/>
              <a:t>{</a:t>
            </a:r>
            <a:endParaRPr lang="ja-JP" altLang="en-US" dirty="0"/>
          </a:p>
          <a:p>
            <a:r>
              <a:rPr lang="ja-JP" altLang="en-US" dirty="0"/>
              <a:t>  </a:t>
            </a:r>
            <a:r>
              <a:rPr lang="en-US" altLang="ja-JP" dirty="0"/>
              <a:t>"</a:t>
            </a:r>
            <a:r>
              <a:rPr lang="en-US" altLang="ja-JP" dirty="0" err="1"/>
              <a:t>reclassified_category</a:t>
            </a:r>
            <a:r>
              <a:rPr lang="en-US" altLang="ja-JP" dirty="0"/>
              <a:t>": "</a:t>
            </a:r>
            <a:r>
              <a:rPr lang="ja-JP" altLang="en-US" dirty="0"/>
              <a:t>（動画の内容に基づいた最適なカテゴリ名）</a:t>
            </a:r>
            <a:r>
              <a:rPr lang="en-US" altLang="ja-JP" dirty="0"/>
              <a:t>",</a:t>
            </a:r>
            <a:endParaRPr lang="ja-JP" altLang="en-US" dirty="0"/>
          </a:p>
          <a:p>
            <a:r>
              <a:rPr lang="ja-JP" altLang="en-US" dirty="0"/>
              <a:t>  </a:t>
            </a:r>
            <a:r>
              <a:rPr lang="en-US" altLang="ja-JP" dirty="0"/>
              <a:t>"events": [</a:t>
            </a:r>
            <a:endParaRPr lang="ja-JP" altLang="en-US" dirty="0"/>
          </a:p>
          <a:p>
            <a:r>
              <a:rPr lang="ja-JP" altLang="en-US" dirty="0"/>
              <a:t>    </a:t>
            </a:r>
            <a:r>
              <a:rPr lang="en-US" altLang="ja-JP" dirty="0"/>
              <a:t>{</a:t>
            </a:r>
            <a:endParaRPr lang="ja-JP" altLang="en-US" dirty="0"/>
          </a:p>
          <a:p>
            <a:r>
              <a:rPr lang="ja-JP" altLang="en-US" dirty="0"/>
              <a:t>      </a:t>
            </a:r>
            <a:r>
              <a:rPr lang="en-US" altLang="ja-JP" dirty="0"/>
              <a:t>"</a:t>
            </a:r>
            <a:r>
              <a:rPr lang="en-US" altLang="ja-JP" dirty="0" err="1"/>
              <a:t>event_number</a:t>
            </a:r>
            <a:r>
              <a:rPr lang="en-US" altLang="ja-JP" dirty="0"/>
              <a:t>": 1,</a:t>
            </a:r>
            <a:endParaRPr lang="ja-JP" altLang="en-US" dirty="0"/>
          </a:p>
          <a:p>
            <a:r>
              <a:rPr lang="ja-JP" altLang="en-US" dirty="0"/>
              <a:t>      </a:t>
            </a:r>
            <a:r>
              <a:rPr lang="en-US" altLang="ja-JP" dirty="0"/>
              <a:t>"timestamp": "M:SS-M:SS",</a:t>
            </a:r>
            <a:endParaRPr lang="ja-JP" altLang="en-US" dirty="0"/>
          </a:p>
          <a:p>
            <a:r>
              <a:rPr lang="ja-JP" altLang="en-US" dirty="0"/>
              <a:t>      </a:t>
            </a:r>
            <a:r>
              <a:rPr lang="en-US" altLang="ja-JP" dirty="0"/>
              <a:t>"</a:t>
            </a:r>
            <a:r>
              <a:rPr lang="en-US" altLang="ja-JP" dirty="0" err="1"/>
              <a:t>event_name</a:t>
            </a:r>
            <a:r>
              <a:rPr lang="en-US" altLang="ja-JP" dirty="0"/>
              <a:t>": "</a:t>
            </a:r>
            <a:r>
              <a:rPr lang="ja-JP" altLang="en-US" dirty="0"/>
              <a:t>（音響イベントの簡潔な名称）</a:t>
            </a:r>
            <a:r>
              <a:rPr lang="en-US" altLang="ja-JP" dirty="0"/>
              <a:t>",</a:t>
            </a:r>
            <a:endParaRPr lang="ja-JP" altLang="en-US" dirty="0"/>
          </a:p>
          <a:p>
            <a:r>
              <a:rPr lang="ja-JP" altLang="en-US" dirty="0"/>
              <a:t>      </a:t>
            </a:r>
            <a:r>
              <a:rPr lang="en-US" altLang="ja-JP" dirty="0"/>
              <a:t>"</a:t>
            </a:r>
            <a:r>
              <a:rPr lang="en-US" altLang="ja-JP" dirty="0" err="1"/>
              <a:t>causal_object</a:t>
            </a:r>
            <a:r>
              <a:rPr lang="en-US" altLang="ja-JP" dirty="0"/>
              <a:t>": "</a:t>
            </a:r>
            <a:r>
              <a:rPr lang="ja-JP" altLang="en-US" dirty="0"/>
              <a:t>（発音物体：音を出している主体）</a:t>
            </a:r>
            <a:r>
              <a:rPr lang="en-US" altLang="ja-JP" dirty="0"/>
              <a:t>",</a:t>
            </a:r>
            <a:endParaRPr lang="ja-JP" altLang="en-US" dirty="0"/>
          </a:p>
          <a:p>
            <a:r>
              <a:rPr lang="ja-JP" altLang="en-US" dirty="0"/>
              <a:t>      </a:t>
            </a:r>
            <a:r>
              <a:rPr lang="en-US" altLang="ja-JP" dirty="0"/>
              <a:t>"</a:t>
            </a:r>
            <a:r>
              <a:rPr lang="en-US" altLang="ja-JP" dirty="0" err="1"/>
              <a:t>causal_object_en_translation</a:t>
            </a:r>
            <a:r>
              <a:rPr lang="en-US" altLang="ja-JP" dirty="0"/>
              <a:t>": "</a:t>
            </a:r>
            <a:r>
              <a:rPr lang="ja-JP" altLang="en-US" dirty="0"/>
              <a:t>（発音物体の英語名）</a:t>
            </a:r>
            <a:r>
              <a:rPr lang="en-US" altLang="ja-JP" dirty="0"/>
              <a:t>",</a:t>
            </a:r>
            <a:endParaRPr lang="ja-JP" altLang="en-US" dirty="0"/>
          </a:p>
          <a:p>
            <a:r>
              <a:rPr lang="ja-JP" altLang="en-US" dirty="0"/>
              <a:t>      </a:t>
            </a:r>
            <a:r>
              <a:rPr lang="en-US" altLang="ja-JP" dirty="0"/>
              <a:t>"reasoning": "</a:t>
            </a:r>
            <a:r>
              <a:rPr lang="ja-JP" altLang="en-US" dirty="0"/>
              <a:t>（文章での判断根拠。例</a:t>
            </a:r>
            <a:r>
              <a:rPr lang="en-US" altLang="ja-JP" dirty="0"/>
              <a:t>: </a:t>
            </a:r>
            <a:r>
              <a:rPr lang="ja-JP" altLang="en-US" dirty="0"/>
              <a:t>画面左から白いバンが走行しており、エンジン音とタイヤの音が映像と同期しているため</a:t>
            </a:r>
            <a:r>
              <a:rPr lang="en-US" altLang="ja-JP" dirty="0"/>
              <a:t>...</a:t>
            </a:r>
            <a:r>
              <a:rPr lang="ja-JP" altLang="en-US" dirty="0"/>
              <a:t>）</a:t>
            </a:r>
            <a:r>
              <a:rPr lang="en-US" altLang="ja-JP" dirty="0"/>
              <a:t>",</a:t>
            </a:r>
            <a:endParaRPr lang="ja-JP" altLang="en-US" dirty="0"/>
          </a:p>
          <a:p>
            <a:r>
              <a:rPr lang="ja-JP" altLang="en-US" dirty="0"/>
              <a:t>      </a:t>
            </a:r>
            <a:r>
              <a:rPr lang="en-US" altLang="ja-JP" dirty="0"/>
              <a:t>"</a:t>
            </a:r>
            <a:r>
              <a:rPr lang="en-US" altLang="ja-JP" dirty="0" err="1"/>
              <a:t>structured_reasoning</a:t>
            </a:r>
            <a:r>
              <a:rPr lang="en-US" altLang="ja-JP" dirty="0"/>
              <a:t>": {</a:t>
            </a:r>
            <a:endParaRPr lang="ja-JP" altLang="en-US" dirty="0"/>
          </a:p>
          <a:p>
            <a:r>
              <a:rPr lang="ja-JP" altLang="en-US" dirty="0"/>
              <a:t>        </a:t>
            </a:r>
            <a:r>
              <a:rPr lang="en-US" altLang="ja-JP" dirty="0"/>
              <a:t>"</a:t>
            </a:r>
            <a:r>
              <a:rPr lang="en-US" altLang="ja-JP" dirty="0" err="1"/>
              <a:t>object_features</a:t>
            </a:r>
            <a:r>
              <a:rPr lang="en-US" altLang="ja-JP" dirty="0"/>
              <a:t>": "</a:t>
            </a:r>
            <a:r>
              <a:rPr lang="ja-JP" altLang="en-US" dirty="0"/>
              <a:t>（例</a:t>
            </a:r>
            <a:r>
              <a:rPr lang="en-US" altLang="ja-JP" dirty="0"/>
              <a:t>: </a:t>
            </a:r>
            <a:r>
              <a:rPr lang="ja-JP" altLang="en-US" dirty="0"/>
              <a:t>白い商用バン）</a:t>
            </a:r>
            <a:r>
              <a:rPr lang="en-US" altLang="ja-JP" dirty="0"/>
              <a:t>",</a:t>
            </a:r>
            <a:endParaRPr lang="ja-JP" altLang="en-US" dirty="0"/>
          </a:p>
          <a:p>
            <a:r>
              <a:rPr lang="ja-JP" altLang="en-US" dirty="0"/>
              <a:t>        </a:t>
            </a:r>
            <a:r>
              <a:rPr lang="en-US" altLang="ja-JP" dirty="0"/>
              <a:t>"</a:t>
            </a:r>
            <a:r>
              <a:rPr lang="en-US" altLang="ja-JP" dirty="0" err="1"/>
              <a:t>scene_context</a:t>
            </a:r>
            <a:r>
              <a:rPr lang="en-US" altLang="ja-JP" dirty="0"/>
              <a:t>": "</a:t>
            </a:r>
            <a:r>
              <a:rPr lang="ja-JP" altLang="en-US" dirty="0"/>
              <a:t>（例</a:t>
            </a:r>
            <a:r>
              <a:rPr lang="en-US" altLang="ja-JP" dirty="0"/>
              <a:t>: </a:t>
            </a:r>
            <a:r>
              <a:rPr lang="ja-JP" altLang="en-US" dirty="0"/>
              <a:t>昼間の住宅街の道路）</a:t>
            </a:r>
            <a:r>
              <a:rPr lang="en-US" altLang="ja-JP" dirty="0"/>
              <a:t>",</a:t>
            </a:r>
            <a:endParaRPr lang="ja-JP" altLang="en-US" dirty="0"/>
          </a:p>
          <a:p>
            <a:r>
              <a:rPr lang="ja-JP" altLang="en-US" dirty="0"/>
              <a:t>        </a:t>
            </a:r>
            <a:r>
              <a:rPr lang="en-US" altLang="ja-JP" dirty="0"/>
              <a:t>"action": "</a:t>
            </a:r>
            <a:r>
              <a:rPr lang="ja-JP" altLang="en-US" dirty="0"/>
              <a:t>（例</a:t>
            </a:r>
            <a:r>
              <a:rPr lang="en-US" altLang="ja-JP" dirty="0"/>
              <a:t>: </a:t>
            </a:r>
            <a:r>
              <a:rPr lang="ja-JP" altLang="en-US" dirty="0"/>
              <a:t>画面左から右へ高速で通過している）</a:t>
            </a:r>
            <a:r>
              <a:rPr lang="en-US" altLang="ja-JP" dirty="0"/>
              <a:t>",</a:t>
            </a:r>
            <a:endParaRPr lang="ja-JP" altLang="en-US" dirty="0"/>
          </a:p>
          <a:p>
            <a:r>
              <a:rPr lang="ja-JP" altLang="en-US" dirty="0"/>
              <a:t>        </a:t>
            </a:r>
            <a:r>
              <a:rPr lang="en-US" altLang="ja-JP" dirty="0"/>
              <a:t>"</a:t>
            </a:r>
            <a:r>
              <a:rPr lang="en-US" altLang="ja-JP" dirty="0" err="1"/>
              <a:t>sound_characteristics</a:t>
            </a:r>
            <a:r>
              <a:rPr lang="en-US" altLang="ja-JP" dirty="0"/>
              <a:t>": "</a:t>
            </a:r>
            <a:r>
              <a:rPr lang="ja-JP" altLang="en-US" dirty="0"/>
              <a:t>（例</a:t>
            </a:r>
            <a:r>
              <a:rPr lang="en-US" altLang="ja-JP" dirty="0"/>
              <a:t>: </a:t>
            </a:r>
            <a:r>
              <a:rPr lang="ja-JP" altLang="en-US" dirty="0"/>
              <a:t>エンジンの低周波音とタイヤの走行音）</a:t>
            </a:r>
            <a:r>
              <a:rPr lang="en-US" altLang="ja-JP" dirty="0"/>
              <a:t>"</a:t>
            </a:r>
            <a:endParaRPr lang="ja-JP" altLang="en-US" dirty="0"/>
          </a:p>
          <a:p>
            <a:r>
              <a:rPr lang="ja-JP" altLang="en-US" dirty="0"/>
              <a:t>      </a:t>
            </a:r>
            <a:r>
              <a:rPr lang="en-US" altLang="ja-JP" dirty="0"/>
              <a:t>},</a:t>
            </a:r>
            <a:endParaRPr lang="ja-JP" altLang="en-US" dirty="0"/>
          </a:p>
          <a:p>
            <a:r>
              <a:rPr lang="ja-JP" altLang="en-US" dirty="0"/>
              <a:t>      </a:t>
            </a:r>
            <a:r>
              <a:rPr lang="en-US" altLang="ja-JP" dirty="0"/>
              <a:t>"</a:t>
            </a:r>
            <a:r>
              <a:rPr lang="en-US" altLang="ja-JP" dirty="0" err="1"/>
              <a:t>is_off_screen</a:t>
            </a:r>
            <a:r>
              <a:rPr lang="en-US" altLang="ja-JP" dirty="0"/>
              <a:t>": false,</a:t>
            </a:r>
            <a:endParaRPr lang="ja-JP" altLang="en-US" dirty="0"/>
          </a:p>
          <a:p>
            <a:r>
              <a:rPr lang="ja-JP" altLang="en-US" dirty="0"/>
              <a:t>      </a:t>
            </a:r>
            <a:r>
              <a:rPr lang="en-US" altLang="ja-JP" dirty="0"/>
              <a:t>"</a:t>
            </a:r>
            <a:r>
              <a:rPr lang="en-US" altLang="ja-JP" dirty="0" err="1"/>
              <a:t>bounding_box</a:t>
            </a:r>
            <a:r>
              <a:rPr lang="en-US" altLang="ja-JP" dirty="0"/>
              <a:t>": { "</a:t>
            </a:r>
            <a:r>
              <a:rPr lang="en-US" altLang="ja-JP" dirty="0" err="1"/>
              <a:t>y_min</a:t>
            </a:r>
            <a:r>
              <a:rPr lang="en-US" altLang="ja-JP" dirty="0"/>
              <a:t>": 0.1, "</a:t>
            </a:r>
            <a:r>
              <a:rPr lang="en-US" altLang="ja-JP" dirty="0" err="1"/>
              <a:t>x_min</a:t>
            </a:r>
            <a:r>
              <a:rPr lang="en-US" altLang="ja-JP" dirty="0"/>
              <a:t>": 0.1, "</a:t>
            </a:r>
            <a:r>
              <a:rPr lang="en-US" altLang="ja-JP" dirty="0" err="1"/>
              <a:t>y_max</a:t>
            </a:r>
            <a:r>
              <a:rPr lang="en-US" altLang="ja-JP" dirty="0"/>
              <a:t>": 0.2, "</a:t>
            </a:r>
            <a:r>
              <a:rPr lang="en-US" altLang="ja-JP" dirty="0" err="1"/>
              <a:t>x_max</a:t>
            </a:r>
            <a:r>
              <a:rPr lang="en-US" altLang="ja-JP" dirty="0"/>
              <a:t>": 0.2 }</a:t>
            </a:r>
            <a:endParaRPr lang="ja-JP" altLang="en-US" dirty="0"/>
          </a:p>
          <a:p>
            <a:r>
              <a:rPr lang="ja-JP" altLang="en-US" dirty="0"/>
              <a:t>    </a:t>
            </a:r>
            <a:r>
              <a:rPr lang="en-US" altLang="ja-JP" dirty="0"/>
              <a:t>}</a:t>
            </a:r>
            <a:endParaRPr lang="ja-JP" altLang="en-US" dirty="0"/>
          </a:p>
          <a:p>
            <a:r>
              <a:rPr lang="ja-JP" altLang="en-US" dirty="0"/>
              <a:t>  </a:t>
            </a:r>
            <a:r>
              <a:rPr lang="en-US" altLang="ja-JP" dirty="0"/>
              <a:t>]</a:t>
            </a:r>
            <a:endParaRPr lang="ja-JP" altLang="en-US" dirty="0"/>
          </a:p>
          <a:p>
            <a:r>
              <a:rPr lang="en-US" altLang="ja-JP" dirty="0"/>
              <a:t>}</a:t>
            </a:r>
            <a:endParaRPr lang="ja-JP" altLang="en-US" dirty="0"/>
          </a:p>
          <a:p>
            <a:endParaRPr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6837186B-806A-4EA8-B565-1724343EE10B}" type="slidenum">
              <a:rPr kumimoji="1" lang="ja-JP" altLang="en-US" smtClean="0"/>
              <a:t>30</a:t>
            </a:fld>
            <a:endParaRPr kumimoji="1" lang="ja-JP" altLang="en-US"/>
          </a:p>
        </p:txBody>
      </p:sp>
    </p:spTree>
    <p:extLst>
      <p:ext uri="{BB962C8B-B14F-4D97-AF65-F5344CB8AC3E}">
        <p14:creationId xmlns:p14="http://schemas.microsoft.com/office/powerpoint/2010/main" val="1169864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メイリオ" panose="020B0604030504040204" pitchFamily="50" charset="-128"/>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7" name="Date Placeholder 6"/>
          <p:cNvSpPr>
            <a:spLocks noGrp="1"/>
          </p:cNvSpPr>
          <p:nvPr>
            <p:ph type="dt" sz="half" idx="10"/>
          </p:nvPr>
        </p:nvSpPr>
        <p:spPr/>
        <p:txBody>
          <a:bodyPr/>
          <a:lstStyle/>
          <a:p>
            <a:fld id="{00DE5B42-8AF3-4A1A-8D88-D3A402E97040}" type="datetime1">
              <a:rPr kumimoji="1" lang="ja-JP" altLang="en-US" smtClean="0"/>
              <a:t>2026/2/2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3688253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8" name="Title 1"/>
          <p:cNvSpPr>
            <a:spLocks noGrp="1"/>
          </p:cNvSpPr>
          <p:nvPr>
            <p:ph type="title"/>
          </p:nvPr>
        </p:nvSpPr>
        <p:spPr/>
        <p:txBody>
          <a:bodyPr>
            <a:noAutofit/>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59C90ECE-119C-4A11-8E21-CE0DD0CEEC72}" type="datetime1">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sz="2800"/>
            </a:lvl1pPr>
          </a:lstStyle>
          <a:p>
            <a:fld id="{8213A850-EEC5-482E-871C-F91D51FCFBE2}" type="slidenum">
              <a:rPr kumimoji="1" lang="ja-JP" altLang="en-US" smtClean="0"/>
              <a:pPr/>
              <a:t>‹#›</a:t>
            </a:fld>
            <a:endParaRPr kumimoji="1" lang="ja-JP" altLang="en-US" sz="2800" dirty="0"/>
          </a:p>
        </p:txBody>
      </p:sp>
    </p:spTree>
    <p:extLst>
      <p:ext uri="{BB962C8B-B14F-4D97-AF65-F5344CB8AC3E}">
        <p14:creationId xmlns:p14="http://schemas.microsoft.com/office/powerpoint/2010/main" val="2521277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メイリオ" panose="020B0604030504040204" pitchFamily="50" charset="-128"/>
              </a:defRPr>
            </a:lvl1pPr>
          </a:lstStyle>
          <a:p>
            <a:r>
              <a:rPr lang="ja-JP" altLang="en-US" dirty="0"/>
              <a:t>マスター タイトルの書式設定</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1E4AC17A-379A-4212-8F34-F780C237446B}" type="datetime1">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350377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9A96B782-67C6-4CAC-A886-CF4D95A41D89}" type="datetime1">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lvl1pPr>
              <a:defRPr sz="2400"/>
            </a:lvl1pPr>
          </a:lstStyle>
          <a:p>
            <a:fld id="{8213A850-EEC5-482E-871C-F91D51FCFBE2}" type="slidenum">
              <a:rPr kumimoji="1" lang="ja-JP" altLang="en-US" smtClean="0"/>
              <a:pPr/>
              <a:t>‹#›</a:t>
            </a:fld>
            <a:endParaRPr kumimoji="1" lang="ja-JP" altLang="en-US" sz="2400"/>
          </a:p>
        </p:txBody>
      </p:sp>
    </p:spTree>
    <p:extLst>
      <p:ext uri="{BB962C8B-B14F-4D97-AF65-F5344CB8AC3E}">
        <p14:creationId xmlns:p14="http://schemas.microsoft.com/office/powerpoint/2010/main" val="3212119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120000" y="2505075"/>
            <a:ext cx="5025216"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ja-JP" altLang="en-US"/>
              <a:t>マスター テキストの書式設定</a:t>
            </a:r>
          </a:p>
        </p:txBody>
      </p:sp>
      <p:sp>
        <p:nvSpPr>
          <p:cNvPr id="6" name="Content Placeholder 5"/>
          <p:cNvSpPr>
            <a:spLocks noGrp="1"/>
          </p:cNvSpPr>
          <p:nvPr>
            <p:ph sz="quarter" idx="4"/>
          </p:nvPr>
        </p:nvSpPr>
        <p:spPr>
          <a:xfrm>
            <a:off x="6319840" y="2505075"/>
            <a:ext cx="503554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9738960-94A4-4A5B-A32D-05423D24A0D1}" type="datetime1">
              <a:rPr kumimoji="1" lang="ja-JP" altLang="en-US" smtClean="0"/>
              <a:t>2026/2/2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899867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C1000D9-3A04-45D6-B58B-F834A952423C}" type="datetime1">
              <a:rPr kumimoji="1" lang="ja-JP" altLang="en-US" smtClean="0"/>
              <a:t>2026/2/2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1652886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40EB9C-47BE-4295-AADA-E648520D23DF}" type="datetime1">
              <a:rPr kumimoji="1" lang="ja-JP" altLang="en-US" smtClean="0"/>
              <a:t>2026/2/2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634395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DD6171F-94B2-465C-B1F4-C9A1845966F4}" type="datetime1">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2834836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8D9EEE0-8B65-4DF3-AF37-908E0ADD452D}" type="datetime1">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186335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8276D08-B7BB-4101-ABD1-AA93D61802E2}" type="datetime1">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3486834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2F1E1CD-E83A-450A-ACE2-F5817448D72E}" type="datetime1">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3357698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ja-JP" altLang="en-US"/>
              <a:t>マスター タイトルの書式設定</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79E518A-7370-4EBF-8A97-EB301A83A578}" type="datetime1">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latin typeface="メイリオ" panose="020B0604030504040204" pitchFamily="50" charset="-128"/>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latin typeface="メイリオ" panose="020B0604030504040204" pitchFamily="50" charset="-128"/>
              </a:rPr>
              <a:t>”</a:t>
            </a:r>
          </a:p>
        </p:txBody>
      </p:sp>
    </p:spTree>
    <p:extLst>
      <p:ext uri="{BB962C8B-B14F-4D97-AF65-F5344CB8AC3E}">
        <p14:creationId xmlns:p14="http://schemas.microsoft.com/office/powerpoint/2010/main" val="4144630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3A3607C-9218-45B6-ADF4-6B27CCC12642}" type="datetime1">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15437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ja-JP" altLang="en-US"/>
              <a:t>マスター テキストの書式設定</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ja-JP" altLang="en-US"/>
              <a:t>マスター テキストの書式設定</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A4565187-6894-4B24-9CAE-692C9A6014FC}" type="datetime1">
              <a:rPr kumimoji="1" lang="ja-JP" altLang="en-US" smtClean="0"/>
              <a:t>2026/2/2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2486147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9F9F6988-CFDF-4BE0-B284-E463F5797A8C}" type="datetime1">
              <a:rPr kumimoji="1" lang="ja-JP" altLang="en-US" smtClean="0"/>
              <a:t>2026/2/2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36796898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1372415-0E05-4C41-A107-F668A25C9EA1}" type="datetime1">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115625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01D32B2-8D7D-494B-993F-56CC6C2090A7}" type="datetime1">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13A850-EEC5-482E-871C-F91D51FCFBE2}" type="slidenum">
              <a:rPr kumimoji="1" lang="ja-JP" altLang="en-US" smtClean="0"/>
              <a:t>‹#›</a:t>
            </a:fld>
            <a:endParaRPr kumimoji="1" lang="ja-JP" altLang="en-US"/>
          </a:p>
        </p:txBody>
      </p:sp>
    </p:spTree>
    <p:extLst>
      <p:ext uri="{BB962C8B-B14F-4D97-AF65-F5344CB8AC3E}">
        <p14:creationId xmlns:p14="http://schemas.microsoft.com/office/powerpoint/2010/main" val="4263605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latin typeface="メイリオ" panose="020B0604030504040204" pitchFamily="50" charset="-128"/>
              </a:defRPr>
            </a:lvl1pPr>
          </a:lstStyle>
          <a:p>
            <a:fld id="{9925A4AD-9054-4579-A295-5C52D5207038}" type="datetime1">
              <a:rPr kumimoji="1" lang="ja-JP" altLang="en-US" smtClean="0"/>
              <a:t>2026/2/2</a:t>
            </a:fld>
            <a:endParaRPr kumimoji="1" lang="ja-JP" alt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latin typeface="メイリオ" panose="020B0604030504040204" pitchFamily="50" charset="-128"/>
              </a:defRPr>
            </a:lvl1pPr>
          </a:lstStyle>
          <a:p>
            <a:endParaRPr kumimoji="1" lang="ja-JP"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latin typeface="メイリオ" panose="020B0604030504040204" pitchFamily="50" charset="-128"/>
              </a:defRPr>
            </a:lvl1pPr>
          </a:lstStyle>
          <a:p>
            <a:fld id="{8213A850-EEC5-482E-871C-F91D51FCFBE2}" type="slidenum">
              <a:rPr kumimoji="1" lang="ja-JP" altLang="en-US" smtClean="0"/>
              <a:pPr/>
              <a:t>‹#›</a:t>
            </a:fld>
            <a:endParaRPr kumimoji="1" lang="ja-JP" altLang="en-US" dirty="0"/>
          </a:p>
        </p:txBody>
      </p:sp>
    </p:spTree>
    <p:extLst>
      <p:ext uri="{BB962C8B-B14F-4D97-AF65-F5344CB8AC3E}">
        <p14:creationId xmlns:p14="http://schemas.microsoft.com/office/powerpoint/2010/main" val="269740151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ftr="0" dt="0"/>
  <p:txStyles>
    <p:titleStyle>
      <a:lvl1pPr algn="l" defTabSz="914400" rtl="0" eaLnBrk="1" latinLnBrk="0" hangingPunct="1">
        <a:lnSpc>
          <a:spcPct val="90000"/>
        </a:lnSpc>
        <a:spcBef>
          <a:spcPct val="0"/>
        </a:spcBef>
        <a:buNone/>
        <a:defRPr kumimoji="1"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メイリオ" panose="020B0604030504040204" pitchFamily="50" charset="-128"/>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メイリオ" panose="020B0604030504040204" pitchFamily="50" charset="-12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メイリオ" panose="020B0604030504040204" pitchFamily="50" charset="-12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メイリオ" panose="020B0604030504040204" pitchFamily="50" charset="-12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メイリオ" panose="020B0604030504040204" pitchFamily="50" charset="-12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メイリオ" panose="020B0604030504040204" pitchFamily="50" charset="-12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671552-5EC8-525C-1C20-DACC30DA02BA}"/>
              </a:ext>
            </a:extLst>
          </p:cNvPr>
          <p:cNvSpPr>
            <a:spLocks noGrp="1"/>
          </p:cNvSpPr>
          <p:nvPr>
            <p:ph type="ctrTitle"/>
          </p:nvPr>
        </p:nvSpPr>
        <p:spPr>
          <a:xfrm>
            <a:off x="1524000" y="2608255"/>
            <a:ext cx="9144000" cy="1641490"/>
          </a:xfrm>
        </p:spPr>
        <p:txBody>
          <a:bodyPr anchor="ctr">
            <a:normAutofit/>
          </a:bodyPr>
          <a:lstStyle/>
          <a:p>
            <a:pPr algn="ctr"/>
            <a:r>
              <a:rPr lang="en-US" altLang="ja-JP" sz="4000" b="1" spc="0" dirty="0"/>
              <a:t>MLLM</a:t>
            </a:r>
            <a:r>
              <a:rPr lang="ja-JP" altLang="ja-JP" sz="4000" b="1" spc="0" dirty="0"/>
              <a:t>を用いた音響・映像統合解析に</a:t>
            </a:r>
            <a:br>
              <a:rPr lang="en-US" altLang="ja-JP" sz="4000" b="1" spc="0" dirty="0"/>
            </a:br>
            <a:r>
              <a:rPr lang="ja-JP" altLang="ja-JP" sz="4000" b="1" spc="0" dirty="0"/>
              <a:t>基づくオブジェクト同定手法の提案</a:t>
            </a:r>
            <a:endParaRPr lang="ja-JP" altLang="ja-JP" sz="4000" spc="0" dirty="0"/>
          </a:p>
        </p:txBody>
      </p:sp>
      <p:sp>
        <p:nvSpPr>
          <p:cNvPr id="3" name="字幕 2">
            <a:extLst>
              <a:ext uri="{FF2B5EF4-FFF2-40B4-BE49-F238E27FC236}">
                <a16:creationId xmlns:a16="http://schemas.microsoft.com/office/drawing/2014/main" id="{5CADD247-2593-AF88-4FAC-8FFBAFD406D8}"/>
              </a:ext>
            </a:extLst>
          </p:cNvPr>
          <p:cNvSpPr>
            <a:spLocks noGrp="1"/>
          </p:cNvSpPr>
          <p:nvPr>
            <p:ph type="subTitle" idx="1"/>
          </p:nvPr>
        </p:nvSpPr>
        <p:spPr>
          <a:xfrm>
            <a:off x="2181726" y="5439747"/>
            <a:ext cx="9144000" cy="754025"/>
          </a:xfrm>
        </p:spPr>
        <p:txBody>
          <a:bodyPr>
            <a:noAutofit/>
          </a:bodyPr>
          <a:lstStyle/>
          <a:p>
            <a:r>
              <a:rPr lang="ja-JP" altLang="en-US" sz="2800" dirty="0">
                <a:latin typeface="+mj-ea"/>
                <a:ea typeface="+mj-ea"/>
              </a:rPr>
              <a:t>上智大学理工学部 情報理工学科</a:t>
            </a:r>
            <a:endParaRPr lang="en-US" altLang="ja-JP" sz="2800" dirty="0">
              <a:latin typeface="+mj-ea"/>
              <a:ea typeface="+mj-ea"/>
            </a:endParaRPr>
          </a:p>
          <a:p>
            <a:r>
              <a:rPr lang="en-US" altLang="ja-JP" sz="2800" dirty="0">
                <a:latin typeface="+mj-ea"/>
                <a:ea typeface="+mj-ea"/>
              </a:rPr>
              <a:t>A2278812</a:t>
            </a:r>
            <a:r>
              <a:rPr lang="en-US" altLang="ja-JP" sz="2800" dirty="0"/>
              <a:t> </a:t>
            </a:r>
            <a:r>
              <a:rPr lang="ja-JP" altLang="en-US" sz="2800" dirty="0"/>
              <a:t>多田大地</a:t>
            </a:r>
            <a:endParaRPr kumimoji="1" lang="ja-JP" altLang="en-US" sz="2800" dirty="0"/>
          </a:p>
        </p:txBody>
      </p:sp>
      <p:sp>
        <p:nvSpPr>
          <p:cNvPr id="4" name="スライド番号プレースホルダー 3">
            <a:extLst>
              <a:ext uri="{FF2B5EF4-FFF2-40B4-BE49-F238E27FC236}">
                <a16:creationId xmlns:a16="http://schemas.microsoft.com/office/drawing/2014/main" id="{3B5569AE-6641-2650-65A5-87FC8E592E21}"/>
              </a:ext>
            </a:extLst>
          </p:cNvPr>
          <p:cNvSpPr>
            <a:spLocks noGrp="1"/>
          </p:cNvSpPr>
          <p:nvPr>
            <p:ph type="sldNum" sz="quarter" idx="12"/>
          </p:nvPr>
        </p:nvSpPr>
        <p:spPr/>
        <p:txBody>
          <a:bodyPr/>
          <a:lstStyle/>
          <a:p>
            <a:fld id="{8213A850-EEC5-482E-871C-F91D51FCFBE2}" type="slidenum">
              <a:rPr kumimoji="1" lang="ja-JP" altLang="en-US" sz="2800" smtClean="0"/>
              <a:t>1</a:t>
            </a:fld>
            <a:endParaRPr kumimoji="1" lang="ja-JP" altLang="en-US" sz="2800"/>
          </a:p>
        </p:txBody>
      </p:sp>
    </p:spTree>
    <p:extLst>
      <p:ext uri="{BB962C8B-B14F-4D97-AF65-F5344CB8AC3E}">
        <p14:creationId xmlns:p14="http://schemas.microsoft.com/office/powerpoint/2010/main" val="247178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6D3761-735A-44A1-CDEE-AEC2F8F5FE22}"/>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800804C4-6FAA-37AC-5588-385F01412F85}"/>
              </a:ext>
            </a:extLst>
          </p:cNvPr>
          <p:cNvSpPr>
            <a:spLocks noGrp="1"/>
          </p:cNvSpPr>
          <p:nvPr>
            <p:ph idx="1"/>
          </p:nvPr>
        </p:nvSpPr>
        <p:spPr>
          <a:xfrm>
            <a:off x="979100" y="1690688"/>
            <a:ext cx="10233800" cy="4351338"/>
          </a:xfrm>
        </p:spPr>
        <p:txBody>
          <a:bodyPr>
            <a:noAutofit/>
          </a:bodyPr>
          <a:lstStyle/>
          <a:p>
            <a:pPr marL="514350" indent="-514350">
              <a:buFont typeface="+mj-lt"/>
              <a:buAutoNum type="arabicPeriod"/>
            </a:pPr>
            <a:r>
              <a:rPr kumimoji="1" lang="ja-JP" altLang="en-US" dirty="0"/>
              <a:t>研究概要</a:t>
            </a:r>
            <a:endParaRPr kumimoji="1" lang="en-US" altLang="ja-JP" dirty="0"/>
          </a:p>
          <a:p>
            <a:pPr marL="514350" indent="-514350">
              <a:buFont typeface="+mj-lt"/>
              <a:buAutoNum type="arabicPeriod"/>
            </a:pPr>
            <a:r>
              <a:rPr lang="ja-JP" altLang="en-US" dirty="0"/>
              <a:t>研究背景</a:t>
            </a:r>
            <a:endParaRPr lang="en-US" altLang="ja-JP" dirty="0"/>
          </a:p>
          <a:p>
            <a:pPr marL="514350" indent="-514350">
              <a:buFont typeface="+mj-lt"/>
              <a:buAutoNum type="arabicPeriod"/>
            </a:pPr>
            <a:r>
              <a:rPr lang="ja-JP" altLang="en-US" dirty="0"/>
              <a:t>関連研究</a:t>
            </a:r>
            <a:endParaRPr lang="en-US" altLang="ja-JP" dirty="0"/>
          </a:p>
          <a:p>
            <a:pPr marL="514350" indent="-514350">
              <a:buFont typeface="+mj-lt"/>
              <a:buAutoNum type="arabicPeriod"/>
            </a:pPr>
            <a:r>
              <a:rPr lang="ja-JP" altLang="en-US" dirty="0"/>
              <a:t>研究目的</a:t>
            </a:r>
            <a:endParaRPr lang="en-US" altLang="ja-JP" dirty="0"/>
          </a:p>
          <a:p>
            <a:pPr marL="514350" indent="-514350">
              <a:buFont typeface="+mj-lt"/>
              <a:buAutoNum type="arabicPeriod"/>
            </a:pPr>
            <a:r>
              <a:rPr kumimoji="1" lang="ja-JP" altLang="en-US" dirty="0"/>
              <a:t>研究アプローチ</a:t>
            </a:r>
            <a:endParaRPr kumimoji="1" lang="en-US" altLang="ja-JP" dirty="0"/>
          </a:p>
          <a:p>
            <a:pPr marL="514350" indent="-514350">
              <a:buFont typeface="+mj-lt"/>
              <a:buAutoNum type="arabicPeriod"/>
            </a:pPr>
            <a:r>
              <a:rPr kumimoji="1" lang="ja-JP" altLang="en-US" dirty="0"/>
              <a:t>システム構成</a:t>
            </a:r>
            <a:endParaRPr kumimoji="1" lang="en-US" altLang="ja-JP" dirty="0"/>
          </a:p>
          <a:p>
            <a:pPr marL="514350" indent="-514350">
              <a:buFont typeface="+mj-lt"/>
              <a:buAutoNum type="arabicPeriod"/>
            </a:pPr>
            <a:r>
              <a:rPr kumimoji="1" lang="ja-JP" altLang="en-US" dirty="0"/>
              <a:t>ユーザーインターフェース</a:t>
            </a:r>
            <a:endParaRPr kumimoji="1" lang="en-US" altLang="ja-JP" dirty="0"/>
          </a:p>
          <a:p>
            <a:pPr marL="514350" indent="-514350">
              <a:buFont typeface="+mj-lt"/>
              <a:buAutoNum type="arabicPeriod"/>
            </a:pPr>
            <a:r>
              <a:rPr kumimoji="1" lang="ja-JP" altLang="en-US" dirty="0"/>
              <a:t>評価実験</a:t>
            </a:r>
            <a:endParaRPr kumimoji="1" lang="en-US" altLang="ja-JP" dirty="0"/>
          </a:p>
          <a:p>
            <a:pPr marL="514350" indent="-514350">
              <a:buFont typeface="+mj-lt"/>
              <a:buAutoNum type="arabicPeriod"/>
            </a:pPr>
            <a:r>
              <a:rPr kumimoji="1" lang="ja-JP" altLang="en-US" dirty="0"/>
              <a:t>今後の展望</a:t>
            </a:r>
          </a:p>
        </p:txBody>
      </p:sp>
      <p:sp>
        <p:nvSpPr>
          <p:cNvPr id="4" name="スライド番号プレースホルダー 3">
            <a:extLst>
              <a:ext uri="{FF2B5EF4-FFF2-40B4-BE49-F238E27FC236}">
                <a16:creationId xmlns:a16="http://schemas.microsoft.com/office/drawing/2014/main" id="{1B582CD6-BF2C-A63C-030B-C85F852460FB}"/>
              </a:ext>
            </a:extLst>
          </p:cNvPr>
          <p:cNvSpPr>
            <a:spLocks noGrp="1"/>
          </p:cNvSpPr>
          <p:nvPr>
            <p:ph type="sldNum" sz="quarter" idx="12"/>
          </p:nvPr>
        </p:nvSpPr>
        <p:spPr/>
        <p:txBody>
          <a:bodyPr/>
          <a:lstStyle/>
          <a:p>
            <a:fld id="{8213A850-EEC5-482E-871C-F91D51FCFBE2}" type="slidenum">
              <a:rPr kumimoji="1" lang="ja-JP" altLang="en-US" smtClean="0"/>
              <a:t>2</a:t>
            </a:fld>
            <a:endParaRPr kumimoji="1" lang="ja-JP" altLang="en-US" dirty="0"/>
          </a:p>
        </p:txBody>
      </p:sp>
    </p:spTree>
    <p:extLst>
      <p:ext uri="{BB962C8B-B14F-4D97-AF65-F5344CB8AC3E}">
        <p14:creationId xmlns:p14="http://schemas.microsoft.com/office/powerpoint/2010/main" val="912979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79FD459-09F8-CE5E-16D1-0FC1028572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D1D901-AED3-AEEC-6464-38086F2204BE}"/>
              </a:ext>
            </a:extLst>
          </p:cNvPr>
          <p:cNvSpPr>
            <a:spLocks noGrp="1"/>
          </p:cNvSpPr>
          <p:nvPr>
            <p:ph type="title"/>
          </p:nvPr>
        </p:nvSpPr>
        <p:spPr/>
        <p:txBody>
          <a:bodyPr>
            <a:normAutofit/>
          </a:bodyPr>
          <a:lstStyle/>
          <a:p>
            <a:pPr marL="914400" indent="-914400">
              <a:buFont typeface="+mj-lt"/>
              <a:buAutoNum type="arabicPeriod"/>
            </a:pPr>
            <a:r>
              <a:rPr kumimoji="1" lang="ja-JP" altLang="en-US" dirty="0">
                <a:solidFill>
                  <a:schemeClr val="tx1"/>
                </a:solidFill>
              </a:rPr>
              <a:t>研究概要</a:t>
            </a:r>
          </a:p>
        </p:txBody>
      </p:sp>
      <p:graphicFrame>
        <p:nvGraphicFramePr>
          <p:cNvPr id="11" name="コンテンツ プレースホルダー 5">
            <a:extLst>
              <a:ext uri="{FF2B5EF4-FFF2-40B4-BE49-F238E27FC236}">
                <a16:creationId xmlns:a16="http://schemas.microsoft.com/office/drawing/2014/main" id="{660CE6E1-91FC-EADB-BE04-3DD5EC7055AE}"/>
              </a:ext>
            </a:extLst>
          </p:cNvPr>
          <p:cNvGraphicFramePr>
            <a:graphicFrameLocks noGrp="1"/>
          </p:cNvGraphicFramePr>
          <p:nvPr>
            <p:ph sz="half" idx="1"/>
            <p:extLst>
              <p:ext uri="{D42A27DB-BD31-4B8C-83A1-F6EECF244321}">
                <p14:modId xmlns:p14="http://schemas.microsoft.com/office/powerpoint/2010/main" val="1381721970"/>
              </p:ext>
            </p:extLst>
          </p:nvPr>
        </p:nvGraphicFramePr>
        <p:xfrm>
          <a:off x="1120775" y="1825625"/>
          <a:ext cx="5024438"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スライド番号プレースホルダー 3">
            <a:extLst>
              <a:ext uri="{FF2B5EF4-FFF2-40B4-BE49-F238E27FC236}">
                <a16:creationId xmlns:a16="http://schemas.microsoft.com/office/drawing/2014/main" id="{F5851BAF-F125-2CDE-78C4-ED02F478B719}"/>
              </a:ext>
            </a:extLst>
          </p:cNvPr>
          <p:cNvSpPr>
            <a:spLocks noGrp="1"/>
          </p:cNvSpPr>
          <p:nvPr>
            <p:ph type="sldNum" sz="quarter" idx="12"/>
          </p:nvPr>
        </p:nvSpPr>
        <p:spPr/>
        <p:txBody>
          <a:bodyPr>
            <a:noAutofit/>
          </a:bodyPr>
          <a:lstStyle/>
          <a:p>
            <a:pPr>
              <a:lnSpc>
                <a:spcPct val="90000"/>
              </a:lnSpc>
              <a:spcAft>
                <a:spcPts val="600"/>
              </a:spcAft>
            </a:pPr>
            <a:fld id="{8213A850-EEC5-482E-871C-F91D51FCFBE2}" type="slidenum">
              <a:rPr kumimoji="1" lang="ja-JP" altLang="en-US" sz="2800" smtClean="0"/>
              <a:pPr>
                <a:lnSpc>
                  <a:spcPct val="90000"/>
                </a:lnSpc>
                <a:spcAft>
                  <a:spcPts val="600"/>
                </a:spcAft>
              </a:pPr>
              <a:t>3</a:t>
            </a:fld>
            <a:endParaRPr kumimoji="1" lang="ja-JP" altLang="en-US" sz="2800"/>
          </a:p>
        </p:txBody>
      </p:sp>
      <p:sp>
        <p:nvSpPr>
          <p:cNvPr id="12" name="矢印: 下 11">
            <a:extLst>
              <a:ext uri="{FF2B5EF4-FFF2-40B4-BE49-F238E27FC236}">
                <a16:creationId xmlns:a16="http://schemas.microsoft.com/office/drawing/2014/main" id="{4197F338-E9FE-0500-0C92-97CC0BBA26CC}"/>
              </a:ext>
            </a:extLst>
          </p:cNvPr>
          <p:cNvSpPr/>
          <p:nvPr/>
        </p:nvSpPr>
        <p:spPr>
          <a:xfrm>
            <a:off x="3038142" y="3848894"/>
            <a:ext cx="1189703" cy="304800"/>
          </a:xfrm>
          <a:prstGeom prst="downArrow">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descr="グラフィカル ユーザー インターフェイス, テーブル&#10;&#10;AI 生成コンテンツは誤りを含む可能性があります。">
            <a:extLst>
              <a:ext uri="{FF2B5EF4-FFF2-40B4-BE49-F238E27FC236}">
                <a16:creationId xmlns:a16="http://schemas.microsoft.com/office/drawing/2014/main" id="{3596CE1B-0790-0791-BE23-FE68233E0602}"/>
              </a:ext>
            </a:extLst>
          </p:cNvPr>
          <p:cNvPicPr>
            <a:picLocks noChangeAspect="1"/>
          </p:cNvPicPr>
          <p:nvPr/>
        </p:nvPicPr>
        <p:blipFill>
          <a:blip r:embed="rId9"/>
          <a:srcRect l="49266" t="18822" r="23390" b="51262"/>
          <a:stretch>
            <a:fillRect/>
          </a:stretch>
        </p:blipFill>
        <p:spPr>
          <a:xfrm>
            <a:off x="6961235" y="1744790"/>
            <a:ext cx="3716595" cy="2840540"/>
          </a:xfrm>
          <a:prstGeom prst="rect">
            <a:avLst/>
          </a:prstGeom>
        </p:spPr>
      </p:pic>
      <p:pic>
        <p:nvPicPr>
          <p:cNvPr id="15" name="図 14" descr="グラフィカル ユーザー インターフェイス, テーブル&#10;&#10;AI 生成コンテンツは誤りを含む可能性があります。">
            <a:extLst>
              <a:ext uri="{FF2B5EF4-FFF2-40B4-BE49-F238E27FC236}">
                <a16:creationId xmlns:a16="http://schemas.microsoft.com/office/drawing/2014/main" id="{BAAB99C5-F413-3F76-90A5-F4B9B02C7C92}"/>
              </a:ext>
            </a:extLst>
          </p:cNvPr>
          <p:cNvPicPr>
            <a:picLocks noChangeAspect="1"/>
          </p:cNvPicPr>
          <p:nvPr/>
        </p:nvPicPr>
        <p:blipFill>
          <a:blip r:embed="rId9"/>
          <a:srcRect l="57248" t="76685" r="31432" b="7831"/>
          <a:stretch>
            <a:fillRect/>
          </a:stretch>
        </p:blipFill>
        <p:spPr>
          <a:xfrm>
            <a:off x="8002363" y="4689987"/>
            <a:ext cx="1634338" cy="1561706"/>
          </a:xfrm>
          <a:prstGeom prst="rect">
            <a:avLst/>
          </a:prstGeom>
        </p:spPr>
      </p:pic>
      <p:sp>
        <p:nvSpPr>
          <p:cNvPr id="16" name="正方形/長方形 15">
            <a:extLst>
              <a:ext uri="{FF2B5EF4-FFF2-40B4-BE49-F238E27FC236}">
                <a16:creationId xmlns:a16="http://schemas.microsoft.com/office/drawing/2014/main" id="{C78A22F0-7EC8-C848-779E-2F017F16124B}"/>
              </a:ext>
            </a:extLst>
          </p:cNvPr>
          <p:cNvSpPr/>
          <p:nvPr/>
        </p:nvSpPr>
        <p:spPr>
          <a:xfrm>
            <a:off x="7222655" y="3250669"/>
            <a:ext cx="711977" cy="27911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088CE76F-368A-92A6-D1F7-E897882187F9}"/>
              </a:ext>
            </a:extLst>
          </p:cNvPr>
          <p:cNvSpPr/>
          <p:nvPr/>
        </p:nvSpPr>
        <p:spPr>
          <a:xfrm>
            <a:off x="7222654" y="1769976"/>
            <a:ext cx="711977" cy="27911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9075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2748FBF-94D8-D4EB-B5CB-0BFA991D4D40}"/>
              </a:ext>
            </a:extLst>
          </p:cNvPr>
          <p:cNvSpPr>
            <a:spLocks noGrp="1"/>
          </p:cNvSpPr>
          <p:nvPr>
            <p:ph idx="1"/>
          </p:nvPr>
        </p:nvSpPr>
        <p:spPr>
          <a:xfrm>
            <a:off x="838199" y="1825624"/>
            <a:ext cx="10974859" cy="4530725"/>
          </a:xfrm>
        </p:spPr>
        <p:txBody>
          <a:bodyPr>
            <a:normAutofit lnSpcReduction="10000"/>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lang="ja-JP" altLang="en-US" sz="3700" b="1" dirty="0">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a typeface="メイリオ" panose="020B0604030504040204" pitchFamily="50" charset="-128"/>
              </a:rPr>
              <a:t>マルチモーダル大規模言語モデル</a:t>
            </a:r>
            <a:r>
              <a:rPr lang="en-US" altLang="ja-JP" sz="3700" b="1" dirty="0">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a typeface="メイリオ" panose="020B0604030504040204" pitchFamily="50" charset="-128"/>
              </a:rPr>
              <a:t>(MLLM)</a:t>
            </a:r>
            <a:r>
              <a:rPr lang="ja-JP" altLang="en-US" sz="3700" b="1" dirty="0">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a typeface="メイリオ" panose="020B0604030504040204" pitchFamily="50" charset="-128"/>
              </a:rPr>
              <a:t>とは：</a:t>
            </a:r>
            <a:r>
              <a:rPr kumimoji="1" lang="ja-JP" altLang="en-US" sz="4000" dirty="0"/>
              <a:t>テキスト，画像，音声，動画といった，</a:t>
            </a:r>
            <a:br>
              <a:rPr kumimoji="1" lang="en-US" altLang="ja-JP" sz="4000" dirty="0"/>
            </a:br>
            <a:r>
              <a:rPr kumimoji="1" lang="ja-JP" altLang="en-US" sz="4000" dirty="0"/>
              <a:t>複数の異なるデータ形式を処理するモデル</a:t>
            </a:r>
            <a:endParaRPr kumimoji="1" lang="en-US" altLang="ja-JP" sz="4000" dirty="0"/>
          </a:p>
          <a:p>
            <a:pPr>
              <a:lnSpc>
                <a:spcPct val="110000"/>
              </a:lnSpc>
            </a:pPr>
            <a:r>
              <a:rPr kumimoji="1" lang="ja-JP" altLang="en-US" sz="4000" dirty="0"/>
              <a:t>視覚情報，音響情報を，他の言語と同様の</a:t>
            </a:r>
            <a:br>
              <a:rPr kumimoji="1" lang="en-US" altLang="ja-JP" sz="4000" dirty="0"/>
            </a:br>
            <a:r>
              <a:rPr kumimoji="1" lang="ja-JP" altLang="en-US" sz="4000" dirty="0"/>
              <a:t>文脈で</a:t>
            </a:r>
            <a:r>
              <a:rPr lang="ja-JP" altLang="en-US" sz="4000" dirty="0"/>
              <a:t>解釈</a:t>
            </a:r>
            <a:br>
              <a:rPr kumimoji="1" lang="en-US" altLang="ja-JP" sz="4000" dirty="0"/>
            </a:br>
            <a:r>
              <a:rPr lang="ja-JP" altLang="en-US" sz="4000" dirty="0"/>
              <a:t>➡通常の</a:t>
            </a:r>
            <a:r>
              <a:rPr lang="en-US" altLang="ja-JP" sz="4000" dirty="0"/>
              <a:t>LLM</a:t>
            </a:r>
            <a:r>
              <a:rPr lang="ja-JP" altLang="en-US" sz="4000" dirty="0"/>
              <a:t>に比べて複雑なタスクを実行</a:t>
            </a:r>
            <a:endParaRPr lang="en-US" altLang="ja-JP" sz="4000" dirty="0"/>
          </a:p>
          <a:p>
            <a:pPr marL="2151063" indent="-2151063">
              <a:buNone/>
            </a:pPr>
            <a:r>
              <a:rPr kumimoji="1" lang="ja-JP" altLang="en-US" dirty="0"/>
              <a:t>　　　　　　</a:t>
            </a:r>
          </a:p>
        </p:txBody>
      </p:sp>
      <p:sp>
        <p:nvSpPr>
          <p:cNvPr id="4" name="スライド番号プレースホルダー 3">
            <a:extLst>
              <a:ext uri="{FF2B5EF4-FFF2-40B4-BE49-F238E27FC236}">
                <a16:creationId xmlns:a16="http://schemas.microsoft.com/office/drawing/2014/main" id="{706C52C9-D939-3C27-251C-1E48F1A00A6E}"/>
              </a:ext>
            </a:extLst>
          </p:cNvPr>
          <p:cNvSpPr>
            <a:spLocks noGrp="1"/>
          </p:cNvSpPr>
          <p:nvPr>
            <p:ph type="sldNum" sz="quarter" idx="12"/>
          </p:nvPr>
        </p:nvSpPr>
        <p:spPr/>
        <p:txBody>
          <a:bodyPr/>
          <a:lstStyle/>
          <a:p>
            <a:fld id="{8213A850-EEC5-482E-871C-F91D51FCFBE2}" type="slidenum">
              <a:rPr kumimoji="1" lang="ja-JP" altLang="en-US" smtClean="0"/>
              <a:t>4</a:t>
            </a:fld>
            <a:endParaRPr kumimoji="1" lang="ja-JP" altLang="en-US"/>
          </a:p>
        </p:txBody>
      </p:sp>
      <p:sp>
        <p:nvSpPr>
          <p:cNvPr id="5" name="タイトル 1">
            <a:extLst>
              <a:ext uri="{FF2B5EF4-FFF2-40B4-BE49-F238E27FC236}">
                <a16:creationId xmlns:a16="http://schemas.microsoft.com/office/drawing/2014/main" id="{64D2FFC3-0437-8BEE-DCED-781878453697}"/>
              </a:ext>
            </a:extLst>
          </p:cNvPr>
          <p:cNvSpPr>
            <a:spLocks noGrp="1"/>
          </p:cNvSpPr>
          <p:nvPr>
            <p:ph type="title"/>
          </p:nvPr>
        </p:nvSpPr>
        <p:spPr>
          <a:xfrm>
            <a:off x="838200" y="365125"/>
            <a:ext cx="10515600" cy="1325563"/>
          </a:xfrm>
        </p:spPr>
        <p:txBody>
          <a:bodyPr/>
          <a:lstStyle/>
          <a:p>
            <a:pPr marL="914400" indent="-914400">
              <a:buFont typeface="+mj-lt"/>
              <a:buAutoNum type="arabicPeriod" startAt="2"/>
            </a:pPr>
            <a:r>
              <a:rPr kumimoji="1" lang="ja-JP" altLang="en-US" dirty="0"/>
              <a:t>研究背景　➀</a:t>
            </a:r>
            <a:r>
              <a:rPr kumimoji="1" lang="en-US" altLang="ja-JP" dirty="0"/>
              <a:t>MLLM</a:t>
            </a:r>
            <a:r>
              <a:rPr kumimoji="1" lang="ja-JP" altLang="en-US" dirty="0"/>
              <a:t>の発展</a:t>
            </a:r>
          </a:p>
        </p:txBody>
      </p:sp>
    </p:spTree>
    <p:extLst>
      <p:ext uri="{BB962C8B-B14F-4D97-AF65-F5344CB8AC3E}">
        <p14:creationId xmlns:p14="http://schemas.microsoft.com/office/powerpoint/2010/main" val="1729057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0CF7A-6B6A-D5E5-4CA5-9A20EE3447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9A34BA-CE89-DD3B-BFF6-10BF3FDA33CF}"/>
              </a:ext>
            </a:extLst>
          </p:cNvPr>
          <p:cNvSpPr>
            <a:spLocks noGrp="1"/>
          </p:cNvSpPr>
          <p:nvPr>
            <p:ph type="title"/>
          </p:nvPr>
        </p:nvSpPr>
        <p:spPr>
          <a:xfrm>
            <a:off x="838200" y="365125"/>
            <a:ext cx="11174730" cy="1325563"/>
          </a:xfrm>
        </p:spPr>
        <p:txBody>
          <a:bodyPr>
            <a:normAutofit/>
          </a:bodyPr>
          <a:lstStyle/>
          <a:p>
            <a:pPr marL="914400" indent="-914400">
              <a:buFont typeface="+mj-lt"/>
              <a:buAutoNum type="arabicPeriod" startAt="2"/>
            </a:pPr>
            <a:r>
              <a:rPr kumimoji="1" lang="ja-JP" altLang="en-US" dirty="0"/>
              <a:t>研究背景　②音源特定の課題</a:t>
            </a:r>
          </a:p>
        </p:txBody>
      </p:sp>
      <p:sp>
        <p:nvSpPr>
          <p:cNvPr id="3" name="コンテンツ プレースホルダー 2">
            <a:extLst>
              <a:ext uri="{FF2B5EF4-FFF2-40B4-BE49-F238E27FC236}">
                <a16:creationId xmlns:a16="http://schemas.microsoft.com/office/drawing/2014/main" id="{CCA6A0CD-2DC4-E18D-78B7-C13A604103FE}"/>
              </a:ext>
            </a:extLst>
          </p:cNvPr>
          <p:cNvSpPr>
            <a:spLocks noGrp="1"/>
          </p:cNvSpPr>
          <p:nvPr>
            <p:ph idx="1"/>
          </p:nvPr>
        </p:nvSpPr>
        <p:spPr>
          <a:xfrm>
            <a:off x="840658" y="1847850"/>
            <a:ext cx="10741800" cy="4351338"/>
          </a:xfrm>
        </p:spPr>
        <p:txBody>
          <a:bodyPr>
            <a:normAutofit/>
          </a:bodyPr>
          <a:lstStyle/>
          <a:p>
            <a:pPr marL="0" indent="0">
              <a:buNone/>
            </a:pPr>
            <a:r>
              <a:rPr lang="en-US" altLang="ja-JP" sz="4000" u="sng" dirty="0"/>
              <a:t>MLLM</a:t>
            </a:r>
            <a:r>
              <a:rPr lang="ja-JP" altLang="en-US" sz="4000" u="sng" dirty="0"/>
              <a:t>等の</a:t>
            </a:r>
            <a:r>
              <a:rPr lang="en-US" altLang="ja-JP" sz="4000" u="sng" dirty="0"/>
              <a:t>AI</a:t>
            </a:r>
            <a:r>
              <a:rPr lang="ja-JP" altLang="en-US" sz="4000" u="sng" dirty="0"/>
              <a:t>研究は静止画理解が中心</a:t>
            </a:r>
            <a:br>
              <a:rPr lang="en-US" altLang="ja-JP" sz="3600" dirty="0"/>
            </a:br>
            <a:endParaRPr lang="en-US" altLang="ja-JP" sz="3600" dirty="0"/>
          </a:p>
          <a:p>
            <a:pPr>
              <a:lnSpc>
                <a:spcPct val="100000"/>
              </a:lnSpc>
            </a:pPr>
            <a:r>
              <a:rPr lang="ja-JP" altLang="en-US" sz="3600" dirty="0"/>
              <a:t>動画理解に関する研究もあるが，相対的に少ない</a:t>
            </a:r>
            <a:br>
              <a:rPr lang="en-US" altLang="ja-JP" sz="3600" dirty="0"/>
            </a:br>
            <a:r>
              <a:rPr lang="ja-JP" altLang="en-US" sz="3600" dirty="0"/>
              <a:t>➡音源を特定する研究</a:t>
            </a:r>
            <a:r>
              <a:rPr lang="en-US" altLang="ja-JP" sz="3600" dirty="0"/>
              <a:t>(</a:t>
            </a:r>
            <a:r>
              <a:rPr lang="ja-JP" altLang="en-US" sz="3600" dirty="0"/>
              <a:t>音源定位など</a:t>
            </a:r>
            <a:r>
              <a:rPr lang="en-US" altLang="ja-JP" sz="3600" dirty="0"/>
              <a:t>)</a:t>
            </a:r>
            <a:r>
              <a:rPr lang="ja-JP" altLang="en-US" sz="3600" dirty="0"/>
              <a:t>も同様</a:t>
            </a:r>
            <a:endParaRPr lang="en-US" altLang="ja-JP" sz="3600" dirty="0"/>
          </a:p>
          <a:p>
            <a:pPr>
              <a:lnSpc>
                <a:spcPct val="150000"/>
              </a:lnSpc>
            </a:pPr>
            <a:r>
              <a:rPr lang="ja-JP" altLang="en-US" sz="3600" dirty="0"/>
              <a:t>精度評価後，事後学習など精度改善のプロセスに</a:t>
            </a:r>
            <a:br>
              <a:rPr lang="en-US" altLang="ja-JP" sz="3600" dirty="0"/>
            </a:br>
            <a:r>
              <a:rPr lang="ja-JP" altLang="en-US" sz="3600" dirty="0"/>
              <a:t>関する研究事例の不足</a:t>
            </a:r>
            <a:endParaRPr lang="en-US" altLang="ja-JP" sz="3600" dirty="0"/>
          </a:p>
          <a:p>
            <a:endParaRPr lang="ja-JP" altLang="en-US" sz="3200" dirty="0">
              <a:solidFill>
                <a:schemeClr val="tx2">
                  <a:lumMod val="40000"/>
                  <a:lumOff val="60000"/>
                </a:schemeClr>
              </a:solidFill>
            </a:endParaRPr>
          </a:p>
        </p:txBody>
      </p:sp>
      <p:sp>
        <p:nvSpPr>
          <p:cNvPr id="4" name="スライド番号プレースホルダー 3">
            <a:extLst>
              <a:ext uri="{FF2B5EF4-FFF2-40B4-BE49-F238E27FC236}">
                <a16:creationId xmlns:a16="http://schemas.microsoft.com/office/drawing/2014/main" id="{5F4219F8-3FAD-B0CA-30F7-BF2F8AEC29F7}"/>
              </a:ext>
            </a:extLst>
          </p:cNvPr>
          <p:cNvSpPr>
            <a:spLocks noGrp="1"/>
          </p:cNvSpPr>
          <p:nvPr>
            <p:ph type="sldNum" sz="quarter" idx="12"/>
          </p:nvPr>
        </p:nvSpPr>
        <p:spPr/>
        <p:txBody>
          <a:bodyPr/>
          <a:lstStyle/>
          <a:p>
            <a:fld id="{8213A850-EEC5-482E-871C-F91D51FCFBE2}" type="slidenum">
              <a:rPr kumimoji="1" lang="ja-JP" altLang="en-US" smtClean="0"/>
              <a:t>5</a:t>
            </a:fld>
            <a:endParaRPr kumimoji="1" lang="ja-JP" altLang="en-US"/>
          </a:p>
        </p:txBody>
      </p:sp>
    </p:spTree>
    <p:extLst>
      <p:ext uri="{BB962C8B-B14F-4D97-AF65-F5344CB8AC3E}">
        <p14:creationId xmlns:p14="http://schemas.microsoft.com/office/powerpoint/2010/main" val="1377727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156D58-4AFF-E985-5052-3B30EB4CA506}"/>
              </a:ext>
            </a:extLst>
          </p:cNvPr>
          <p:cNvSpPr>
            <a:spLocks noGrp="1"/>
          </p:cNvSpPr>
          <p:nvPr>
            <p:ph type="title"/>
          </p:nvPr>
        </p:nvSpPr>
        <p:spPr/>
        <p:txBody>
          <a:bodyPr/>
          <a:lstStyle/>
          <a:p>
            <a:pPr marL="914400" indent="-914400">
              <a:buFont typeface="+mj-lt"/>
              <a:buAutoNum type="arabicPeriod" startAt="3"/>
            </a:pPr>
            <a:r>
              <a:rPr lang="ja-JP" altLang="en-US" dirty="0"/>
              <a:t>関連</a:t>
            </a:r>
            <a:r>
              <a:rPr kumimoji="1" lang="ja-JP" altLang="en-US" dirty="0"/>
              <a:t>研究</a:t>
            </a:r>
          </a:p>
        </p:txBody>
      </p:sp>
      <p:sp>
        <p:nvSpPr>
          <p:cNvPr id="3" name="コンテンツ プレースホルダー 2">
            <a:extLst>
              <a:ext uri="{FF2B5EF4-FFF2-40B4-BE49-F238E27FC236}">
                <a16:creationId xmlns:a16="http://schemas.microsoft.com/office/drawing/2014/main" id="{2809B212-3DD4-3F85-D3BE-29C06762F4B4}"/>
              </a:ext>
            </a:extLst>
          </p:cNvPr>
          <p:cNvSpPr>
            <a:spLocks noGrp="1"/>
          </p:cNvSpPr>
          <p:nvPr>
            <p:ph idx="1"/>
          </p:nvPr>
        </p:nvSpPr>
        <p:spPr>
          <a:xfrm>
            <a:off x="1120000" y="1825625"/>
            <a:ext cx="10975544" cy="4351338"/>
          </a:xfrm>
        </p:spPr>
        <p:txBody>
          <a:bodyPr>
            <a:normAutofit/>
          </a:bodyPr>
          <a:lstStyle/>
          <a:p>
            <a:pPr marL="0" indent="0">
              <a:buNone/>
            </a:pPr>
            <a:r>
              <a:rPr lang="en-US" altLang="ja-JP" dirty="0"/>
              <a:t>“</a:t>
            </a:r>
            <a:r>
              <a:rPr lang="en-US" altLang="ja-JP" b="1" dirty="0" err="1"/>
              <a:t>Bubogpt</a:t>
            </a:r>
            <a:r>
              <a:rPr lang="en-US" altLang="ja-JP" b="1" dirty="0"/>
              <a:t>: Enabling visual grounding in multi-modal </a:t>
            </a:r>
            <a:r>
              <a:rPr lang="en-US" altLang="ja-JP" b="1" dirty="0" err="1"/>
              <a:t>llms</a:t>
            </a:r>
            <a:r>
              <a:rPr lang="en-US" altLang="ja-JP" b="1" dirty="0"/>
              <a:t>,</a:t>
            </a:r>
            <a:r>
              <a:rPr lang="en-US" altLang="ja-JP" dirty="0"/>
              <a:t>”(2023)</a:t>
            </a:r>
            <a:br>
              <a:rPr lang="en-US" altLang="ja-JP" dirty="0"/>
            </a:br>
            <a:r>
              <a:rPr lang="en-US" altLang="ja-JP" dirty="0"/>
              <a:t>(</a:t>
            </a:r>
            <a:r>
              <a:rPr lang="en-US" altLang="ja-JP" sz="2400" dirty="0"/>
              <a:t>Zhao,</a:t>
            </a:r>
            <a:r>
              <a:rPr lang="ja-JP" altLang="en-US" sz="2400" dirty="0"/>
              <a:t> </a:t>
            </a:r>
            <a:r>
              <a:rPr lang="en-US" altLang="ja-JP" sz="2400" dirty="0"/>
              <a:t>Lin</a:t>
            </a:r>
            <a:r>
              <a:rPr lang="ja-JP" altLang="en-US" sz="2400" dirty="0"/>
              <a:t> </a:t>
            </a:r>
            <a:r>
              <a:rPr lang="en-US" altLang="ja-JP" sz="2400" dirty="0"/>
              <a:t>et</a:t>
            </a:r>
            <a:r>
              <a:rPr lang="ja-JP" altLang="en-US" sz="2400" dirty="0"/>
              <a:t> </a:t>
            </a:r>
            <a:r>
              <a:rPr lang="en-US" altLang="ja-JP" sz="2400" dirty="0"/>
              <a:t>al.)</a:t>
            </a:r>
          </a:p>
          <a:p>
            <a:pPr>
              <a:lnSpc>
                <a:spcPct val="150000"/>
              </a:lnSpc>
            </a:pPr>
            <a:r>
              <a:rPr kumimoji="1" lang="ja-JP" altLang="en-US" sz="3000" dirty="0"/>
              <a:t>視覚，音声，言語に加え，テキストと画像領域を紐づける</a:t>
            </a:r>
            <a:endParaRPr kumimoji="1" lang="en-US" altLang="ja-JP" sz="3000" dirty="0"/>
          </a:p>
          <a:p>
            <a:pPr>
              <a:lnSpc>
                <a:spcPct val="150000"/>
              </a:lnSpc>
            </a:pPr>
            <a:r>
              <a:rPr lang="ja-JP" altLang="en-US" sz="3000" dirty="0"/>
              <a:t>入力されたテキストエンティティに対応する画像領域を特定</a:t>
            </a:r>
            <a:endParaRPr lang="en-US" altLang="ja-JP" sz="3000" dirty="0"/>
          </a:p>
          <a:p>
            <a:pPr>
              <a:lnSpc>
                <a:spcPct val="150000"/>
              </a:lnSpc>
            </a:pPr>
            <a:r>
              <a:rPr kumimoji="1" lang="ja-JP" altLang="en-US" sz="3000" dirty="0"/>
              <a:t>整合・不整合のペアを含む指示データセットによる学習</a:t>
            </a:r>
          </a:p>
        </p:txBody>
      </p:sp>
      <p:sp>
        <p:nvSpPr>
          <p:cNvPr id="4" name="スライド番号プレースホルダー 3">
            <a:extLst>
              <a:ext uri="{FF2B5EF4-FFF2-40B4-BE49-F238E27FC236}">
                <a16:creationId xmlns:a16="http://schemas.microsoft.com/office/drawing/2014/main" id="{7B1DD1BB-B888-6E5A-0A68-0E32E5F2F43A}"/>
              </a:ext>
            </a:extLst>
          </p:cNvPr>
          <p:cNvSpPr>
            <a:spLocks noGrp="1"/>
          </p:cNvSpPr>
          <p:nvPr>
            <p:ph type="sldNum" sz="quarter" idx="12"/>
          </p:nvPr>
        </p:nvSpPr>
        <p:spPr/>
        <p:txBody>
          <a:bodyPr/>
          <a:lstStyle/>
          <a:p>
            <a:fld id="{8213A850-EEC5-482E-871C-F91D51FCFBE2}" type="slidenum">
              <a:rPr kumimoji="1" lang="ja-JP" altLang="en-US" smtClean="0"/>
              <a:t>6</a:t>
            </a:fld>
            <a:endParaRPr kumimoji="1" lang="ja-JP" altLang="en-US"/>
          </a:p>
        </p:txBody>
      </p:sp>
    </p:spTree>
    <p:extLst>
      <p:ext uri="{BB962C8B-B14F-4D97-AF65-F5344CB8AC3E}">
        <p14:creationId xmlns:p14="http://schemas.microsoft.com/office/powerpoint/2010/main" val="3026980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E78D8-7375-ADB2-C529-B4731815ED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CFA37E-C508-FD6C-4381-4CF4D06CC542}"/>
              </a:ext>
            </a:extLst>
          </p:cNvPr>
          <p:cNvSpPr>
            <a:spLocks noGrp="1"/>
          </p:cNvSpPr>
          <p:nvPr>
            <p:ph type="title"/>
          </p:nvPr>
        </p:nvSpPr>
        <p:spPr/>
        <p:txBody>
          <a:bodyPr/>
          <a:lstStyle/>
          <a:p>
            <a:pPr marL="914400" indent="-914400">
              <a:buFont typeface="+mj-lt"/>
              <a:buAutoNum type="arabicPeriod" startAt="4"/>
            </a:pPr>
            <a:r>
              <a:rPr kumimoji="1" lang="ja-JP" altLang="en-US" dirty="0"/>
              <a:t>研究目的</a:t>
            </a:r>
          </a:p>
        </p:txBody>
      </p:sp>
      <p:sp>
        <p:nvSpPr>
          <p:cNvPr id="3" name="コンテンツ プレースホルダー 2">
            <a:extLst>
              <a:ext uri="{FF2B5EF4-FFF2-40B4-BE49-F238E27FC236}">
                <a16:creationId xmlns:a16="http://schemas.microsoft.com/office/drawing/2014/main" id="{DCC63FBC-9CD4-1EB1-F4A8-3C3E31AD6BA1}"/>
              </a:ext>
            </a:extLst>
          </p:cNvPr>
          <p:cNvSpPr>
            <a:spLocks noGrp="1"/>
          </p:cNvSpPr>
          <p:nvPr>
            <p:ph idx="1"/>
          </p:nvPr>
        </p:nvSpPr>
        <p:spPr/>
        <p:txBody>
          <a:bodyPr>
            <a:normAutofit/>
          </a:bodyPr>
          <a:lstStyle/>
          <a:p>
            <a:pPr>
              <a:lnSpc>
                <a:spcPct val="150000"/>
              </a:lnSpc>
            </a:pPr>
            <a:r>
              <a:rPr kumimoji="1" lang="ja-JP" altLang="en-US" sz="3200" dirty="0"/>
              <a:t>動画内の音源オブジェクトを，</a:t>
            </a:r>
            <a:br>
              <a:rPr kumimoji="1" lang="en-US" altLang="ja-JP" sz="3200" dirty="0"/>
            </a:br>
            <a:r>
              <a:rPr lang="ja-JP" altLang="en-US" sz="3200" dirty="0"/>
              <a:t>商用</a:t>
            </a:r>
            <a:r>
              <a:rPr kumimoji="1" lang="en-US" altLang="ja-JP" sz="3200" dirty="0"/>
              <a:t>MLLM(Gemini</a:t>
            </a:r>
            <a:r>
              <a:rPr kumimoji="1" lang="ja-JP" altLang="en-US" sz="3200" dirty="0"/>
              <a:t> </a:t>
            </a:r>
            <a:r>
              <a:rPr kumimoji="1" lang="en-US" altLang="ja-JP" sz="3200" dirty="0"/>
              <a:t>2.5</a:t>
            </a:r>
            <a:r>
              <a:rPr kumimoji="1" lang="ja-JP" altLang="en-US" sz="3200" dirty="0"/>
              <a:t> </a:t>
            </a:r>
            <a:r>
              <a:rPr kumimoji="1" lang="en-US" altLang="ja-JP" sz="3200" dirty="0"/>
              <a:t>Pro)</a:t>
            </a:r>
            <a:r>
              <a:rPr kumimoji="1" lang="ja-JP" altLang="en-US" sz="3200" dirty="0"/>
              <a:t>により特定</a:t>
            </a:r>
            <a:br>
              <a:rPr kumimoji="1" lang="en-US" altLang="ja-JP" sz="3200" dirty="0"/>
            </a:br>
            <a:r>
              <a:rPr kumimoji="1" lang="en-US" altLang="ja-JP" sz="3200" dirty="0"/>
              <a:t>(</a:t>
            </a:r>
            <a:r>
              <a:rPr kumimoji="1" lang="ja-JP" altLang="en-US" sz="3200" dirty="0"/>
              <a:t>オブジェクト同定</a:t>
            </a:r>
            <a:r>
              <a:rPr kumimoji="1" lang="en-US" altLang="ja-JP" sz="3200" dirty="0"/>
              <a:t>)</a:t>
            </a:r>
          </a:p>
          <a:p>
            <a:pPr>
              <a:lnSpc>
                <a:spcPct val="160000"/>
              </a:lnSpc>
            </a:pPr>
            <a:r>
              <a:rPr lang="ja-JP" altLang="en-US" sz="3200" dirty="0"/>
              <a:t>学習</a:t>
            </a:r>
            <a:r>
              <a:rPr lang="en-US" altLang="ja-JP" sz="3200" dirty="0"/>
              <a:t>(</a:t>
            </a:r>
            <a:r>
              <a:rPr lang="ja-JP" altLang="en-US" sz="3200" dirty="0"/>
              <a:t>ファインチューニング</a:t>
            </a:r>
            <a:r>
              <a:rPr lang="en-US" altLang="ja-JP" sz="3200" dirty="0"/>
              <a:t>)</a:t>
            </a:r>
            <a:r>
              <a:rPr lang="ja-JP" altLang="en-US" sz="3200" dirty="0"/>
              <a:t>による</a:t>
            </a:r>
            <a:r>
              <a:rPr lang="ja-JP" altLang="en-US" sz="3200" u="sng" dirty="0"/>
              <a:t>オブジェクト同定</a:t>
            </a:r>
            <a:br>
              <a:rPr lang="en-US" altLang="ja-JP" sz="3200" u="sng" dirty="0"/>
            </a:br>
            <a:r>
              <a:rPr lang="ja-JP" altLang="en-US" sz="3200" dirty="0"/>
              <a:t>の精度向上の検証</a:t>
            </a:r>
            <a:endParaRPr kumimoji="1" lang="en-US" altLang="ja-JP" sz="3200" dirty="0"/>
          </a:p>
        </p:txBody>
      </p:sp>
      <p:sp>
        <p:nvSpPr>
          <p:cNvPr id="4" name="スライド番号プレースホルダー 3">
            <a:extLst>
              <a:ext uri="{FF2B5EF4-FFF2-40B4-BE49-F238E27FC236}">
                <a16:creationId xmlns:a16="http://schemas.microsoft.com/office/drawing/2014/main" id="{718D1B0E-CB6A-3D1D-D57E-EB0775712AED}"/>
              </a:ext>
            </a:extLst>
          </p:cNvPr>
          <p:cNvSpPr>
            <a:spLocks noGrp="1"/>
          </p:cNvSpPr>
          <p:nvPr>
            <p:ph type="sldNum" sz="quarter" idx="12"/>
          </p:nvPr>
        </p:nvSpPr>
        <p:spPr/>
        <p:txBody>
          <a:bodyPr/>
          <a:lstStyle/>
          <a:p>
            <a:fld id="{8213A850-EEC5-482E-871C-F91D51FCFBE2}" type="slidenum">
              <a:rPr kumimoji="1" lang="ja-JP" altLang="en-US" smtClean="0"/>
              <a:t>7</a:t>
            </a:fld>
            <a:endParaRPr kumimoji="1" lang="ja-JP" altLang="en-US" dirty="0"/>
          </a:p>
        </p:txBody>
      </p:sp>
    </p:spTree>
    <p:extLst>
      <p:ext uri="{BB962C8B-B14F-4D97-AF65-F5344CB8AC3E}">
        <p14:creationId xmlns:p14="http://schemas.microsoft.com/office/powerpoint/2010/main" val="1152272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DC01D-7ACD-984C-DDA6-F491335443BA}"/>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89548B6-149B-DCAD-7861-3BF884FD348C}"/>
              </a:ext>
            </a:extLst>
          </p:cNvPr>
          <p:cNvSpPr>
            <a:spLocks noGrp="1"/>
          </p:cNvSpPr>
          <p:nvPr>
            <p:ph type="sldNum" sz="quarter" idx="12"/>
          </p:nvPr>
        </p:nvSpPr>
        <p:spPr/>
        <p:txBody>
          <a:bodyPr/>
          <a:lstStyle/>
          <a:p>
            <a:fld id="{8213A850-EEC5-482E-871C-F91D51FCFBE2}" type="slidenum">
              <a:rPr kumimoji="1" lang="ja-JP" altLang="en-US" smtClean="0"/>
              <a:t>8</a:t>
            </a:fld>
            <a:endParaRPr kumimoji="1" lang="ja-JP" altLang="en-US" dirty="0"/>
          </a:p>
        </p:txBody>
      </p:sp>
      <p:sp>
        <p:nvSpPr>
          <p:cNvPr id="7" name="タイトル 1">
            <a:extLst>
              <a:ext uri="{FF2B5EF4-FFF2-40B4-BE49-F238E27FC236}">
                <a16:creationId xmlns:a16="http://schemas.microsoft.com/office/drawing/2014/main" id="{0341C254-86CA-A4C9-E97D-E548562632FF}"/>
              </a:ext>
            </a:extLst>
          </p:cNvPr>
          <p:cNvSpPr txBox="1">
            <a:spLocks/>
          </p:cNvSpPr>
          <p:nvPr/>
        </p:nvSpPr>
        <p:spPr>
          <a:xfrm>
            <a:off x="838200" y="365125"/>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メイリオ" panose="020B0604030504040204" pitchFamily="50" charset="-128"/>
                <a:ea typeface="+mj-ea"/>
                <a:cs typeface="+mj-cs"/>
              </a:defRPr>
            </a:lvl1pPr>
          </a:lstStyle>
          <a:p>
            <a:pPr marL="914400" marR="0" lvl="0" indent="-914400" algn="l" defTabSz="914400" rtl="0" eaLnBrk="1" fontAlgn="auto" latinLnBrk="0" hangingPunct="1">
              <a:lnSpc>
                <a:spcPct val="90000"/>
              </a:lnSpc>
              <a:spcBef>
                <a:spcPct val="0"/>
              </a:spcBef>
              <a:spcAft>
                <a:spcPts val="0"/>
              </a:spcAft>
              <a:buClrTx/>
              <a:buSzTx/>
              <a:buFont typeface="+mj-lt"/>
              <a:buAutoNum type="arabicPeriod" startAt="5"/>
              <a:tabLst/>
              <a:defRPr/>
            </a:pPr>
            <a:r>
              <a:rPr kumimoji="1" lang="ja-JP" altLang="en-US" sz="5400" b="0" i="0" u="none" strike="noStrike" kern="1200" cap="none" spc="0" normalizeH="0" baseline="0" noProof="0" dirty="0">
                <a:ln>
                  <a:noFill/>
                </a:ln>
                <a:gradFill flip="none" rotWithShape="1">
                  <a:gsLst>
                    <a:gs pos="28000">
                      <a:sysClr val="window" lastClr="FFFFFF">
                        <a:lumMod val="93000"/>
                      </a:sysClr>
                    </a:gs>
                    <a:gs pos="0">
                      <a:sysClr val="windowText" lastClr="000000">
                        <a:lumMod val="25000"/>
                        <a:lumOff val="75000"/>
                      </a:sysClr>
                    </a:gs>
                    <a:gs pos="100000">
                      <a:srgbClr val="94D7E4">
                        <a:lumMod val="0"/>
                        <a:lumOff val="100000"/>
                      </a:srgbClr>
                    </a:gs>
                  </a:gsLst>
                  <a:lin ang="4800000" scaled="0"/>
                  <a:tileRect/>
                </a:gradFill>
                <a:effectLst/>
                <a:uLnTx/>
                <a:uFillTx/>
                <a:latin typeface="メイリオ" panose="020B0604030504040204" pitchFamily="50" charset="-128"/>
                <a:ea typeface="メイリオ" panose="020B0604030504040204" pitchFamily="50" charset="-128"/>
                <a:cs typeface="+mj-cs"/>
              </a:rPr>
              <a:t>研究アプローチ</a:t>
            </a:r>
          </a:p>
        </p:txBody>
      </p:sp>
      <p:sp>
        <p:nvSpPr>
          <p:cNvPr id="10" name="コンテンツ プレースホルダー 2">
            <a:extLst>
              <a:ext uri="{FF2B5EF4-FFF2-40B4-BE49-F238E27FC236}">
                <a16:creationId xmlns:a16="http://schemas.microsoft.com/office/drawing/2014/main" id="{FF6E5068-2BB0-D0D9-8FBF-A6F4B31E2D2F}"/>
              </a:ext>
            </a:extLst>
          </p:cNvPr>
          <p:cNvSpPr>
            <a:spLocks noGrp="1"/>
          </p:cNvSpPr>
          <p:nvPr>
            <p:ph sz="half" idx="2"/>
          </p:nvPr>
        </p:nvSpPr>
        <p:spPr>
          <a:xfrm>
            <a:off x="6367167" y="1847850"/>
            <a:ext cx="5033962" cy="4351338"/>
          </a:xfrm>
        </p:spPr>
        <p:txBody>
          <a:bodyPr vert="horz" lIns="91440" tIns="45720" rIns="91440" bIns="45720" rtlCol="0">
            <a:normAutofit/>
          </a:bodyPr>
          <a:lstStyle/>
          <a:p>
            <a:pPr>
              <a:lnSpc>
                <a:spcPct val="100000"/>
              </a:lnSpc>
            </a:pPr>
            <a:r>
              <a:rPr kumimoji="1" lang="ja-JP" altLang="en-US" dirty="0">
                <a:gradFill>
                  <a:gsLst>
                    <a:gs pos="34000">
                      <a:srgbClr val="EDEDED"/>
                    </a:gs>
                    <a:gs pos="0">
                      <a:srgbClr val="BFBFBF"/>
                    </a:gs>
                    <a:gs pos="100000">
                      <a:srgbClr val="FFFFFF"/>
                    </a:gs>
                  </a:gsLst>
                  <a:lin ang="4800000" scaled="0"/>
                </a:gradFill>
                <a:latin typeface="+mn-lt"/>
              </a:rPr>
              <a:t>フィードバックを用いた</a:t>
            </a:r>
            <a:r>
              <a:rPr kumimoji="1" lang="en-US" altLang="ja-JP" dirty="0">
                <a:gradFill>
                  <a:gsLst>
                    <a:gs pos="34000">
                      <a:srgbClr val="EDEDED"/>
                    </a:gs>
                    <a:gs pos="0">
                      <a:srgbClr val="BFBFBF"/>
                    </a:gs>
                    <a:gs pos="100000">
                      <a:srgbClr val="FFFFFF"/>
                    </a:gs>
                  </a:gsLst>
                  <a:lin ang="4800000" scaled="0"/>
                </a:gradFill>
                <a:latin typeface="+mn-lt"/>
              </a:rPr>
              <a:t>Human-in-the-Loop</a:t>
            </a:r>
            <a:r>
              <a:rPr kumimoji="1" lang="ja-JP" altLang="en-US" dirty="0">
                <a:gradFill>
                  <a:gsLst>
                    <a:gs pos="34000">
                      <a:srgbClr val="EDEDED"/>
                    </a:gs>
                    <a:gs pos="0">
                      <a:srgbClr val="BFBFBF"/>
                    </a:gs>
                    <a:gs pos="100000">
                      <a:srgbClr val="FFFFFF"/>
                    </a:gs>
                  </a:gsLst>
                  <a:lin ang="4800000" scaled="0"/>
                </a:gradFill>
                <a:latin typeface="+mn-lt"/>
              </a:rPr>
              <a:t>型の</a:t>
            </a:r>
            <a:br>
              <a:rPr kumimoji="1" lang="en-US" altLang="ja-JP" dirty="0">
                <a:gradFill>
                  <a:gsLst>
                    <a:gs pos="34000">
                      <a:srgbClr val="EDEDED"/>
                    </a:gs>
                    <a:gs pos="0">
                      <a:srgbClr val="BFBFBF"/>
                    </a:gs>
                    <a:gs pos="100000">
                      <a:srgbClr val="FFFFFF"/>
                    </a:gs>
                  </a:gsLst>
                  <a:lin ang="4800000" scaled="0"/>
                </a:gradFill>
                <a:latin typeface="+mn-lt"/>
              </a:rPr>
            </a:br>
            <a:r>
              <a:rPr kumimoji="1" lang="ja-JP" altLang="en-US" dirty="0">
                <a:gradFill>
                  <a:gsLst>
                    <a:gs pos="34000">
                      <a:srgbClr val="EDEDED"/>
                    </a:gs>
                    <a:gs pos="0">
                      <a:srgbClr val="BFBFBF"/>
                    </a:gs>
                    <a:gs pos="100000">
                      <a:srgbClr val="FFFFFF"/>
                    </a:gs>
                  </a:gsLst>
                  <a:lin ang="4800000" scaled="0"/>
                </a:gradFill>
                <a:latin typeface="+mn-lt"/>
              </a:rPr>
              <a:t>継続的改善サイクル</a:t>
            </a:r>
            <a:endParaRPr kumimoji="1" lang="en-US" altLang="ja-JP" dirty="0">
              <a:gradFill>
                <a:gsLst>
                  <a:gs pos="34000">
                    <a:srgbClr val="EDEDED"/>
                  </a:gs>
                  <a:gs pos="0">
                    <a:srgbClr val="BFBFBF"/>
                  </a:gs>
                  <a:gs pos="100000">
                    <a:srgbClr val="FFFFFF"/>
                  </a:gs>
                </a:gsLst>
                <a:lin ang="4800000" scaled="0"/>
              </a:gradFill>
              <a:latin typeface="+mn-lt"/>
            </a:endParaRPr>
          </a:p>
          <a:p>
            <a:pPr>
              <a:lnSpc>
                <a:spcPct val="100000"/>
              </a:lnSpc>
            </a:pPr>
            <a:r>
              <a:rPr kumimoji="1" lang="en-US" altLang="ja-JP" dirty="0">
                <a:gradFill>
                  <a:gsLst>
                    <a:gs pos="34000">
                      <a:srgbClr val="EDEDED"/>
                    </a:gs>
                    <a:gs pos="0">
                      <a:srgbClr val="BFBFBF"/>
                    </a:gs>
                    <a:gs pos="100000">
                      <a:srgbClr val="FFFFFF"/>
                    </a:gs>
                  </a:gsLst>
                  <a:lin ang="4800000" scaled="0"/>
                </a:gradFill>
                <a:latin typeface="+mn-lt"/>
              </a:rPr>
              <a:t>MLLM</a:t>
            </a:r>
            <a:r>
              <a:rPr kumimoji="1" lang="ja-JP" altLang="en-US" dirty="0">
                <a:gradFill>
                  <a:gsLst>
                    <a:gs pos="34000">
                      <a:srgbClr val="EDEDED"/>
                    </a:gs>
                    <a:gs pos="0">
                      <a:srgbClr val="BFBFBF"/>
                    </a:gs>
                    <a:gs pos="100000">
                      <a:srgbClr val="FFFFFF"/>
                    </a:gs>
                  </a:gsLst>
                  <a:lin ang="4800000" scaled="0"/>
                </a:gradFill>
                <a:latin typeface="+mn-lt"/>
              </a:rPr>
              <a:t>における事後学習</a:t>
            </a:r>
            <a:br>
              <a:rPr kumimoji="1" lang="en-US" altLang="ja-JP" dirty="0">
                <a:gradFill>
                  <a:gsLst>
                    <a:gs pos="34000">
                      <a:srgbClr val="EDEDED"/>
                    </a:gs>
                    <a:gs pos="0">
                      <a:srgbClr val="BFBFBF"/>
                    </a:gs>
                    <a:gs pos="100000">
                      <a:srgbClr val="FFFFFF"/>
                    </a:gs>
                  </a:gsLst>
                  <a:lin ang="4800000" scaled="0"/>
                </a:gradFill>
                <a:latin typeface="+mn-lt"/>
              </a:rPr>
            </a:br>
            <a:r>
              <a:rPr kumimoji="1" lang="ja-JP" altLang="en-US" dirty="0">
                <a:gradFill>
                  <a:gsLst>
                    <a:gs pos="34000">
                      <a:srgbClr val="EDEDED"/>
                    </a:gs>
                    <a:gs pos="0">
                      <a:srgbClr val="BFBFBF"/>
                    </a:gs>
                    <a:gs pos="100000">
                      <a:srgbClr val="FFFFFF"/>
                    </a:gs>
                  </a:gsLst>
                  <a:lin ang="4800000" scaled="0"/>
                </a:gradFill>
                <a:latin typeface="+mn-lt"/>
              </a:rPr>
              <a:t>システムの実装，効果検証</a:t>
            </a:r>
            <a:endParaRPr kumimoji="1" lang="en-US" altLang="ja-JP" dirty="0">
              <a:gradFill>
                <a:gsLst>
                  <a:gs pos="34000">
                    <a:srgbClr val="EDEDED"/>
                  </a:gs>
                  <a:gs pos="0">
                    <a:srgbClr val="BFBFBF"/>
                  </a:gs>
                  <a:gs pos="100000">
                    <a:srgbClr val="FFFFFF"/>
                  </a:gs>
                </a:gsLst>
                <a:lin ang="4800000" scaled="0"/>
              </a:gradFill>
              <a:latin typeface="+mn-lt"/>
            </a:endParaRPr>
          </a:p>
          <a:p>
            <a:pPr>
              <a:lnSpc>
                <a:spcPct val="100000"/>
              </a:lnSpc>
            </a:pPr>
            <a:r>
              <a:rPr lang="en-US" altLang="ja-JP" dirty="0">
                <a:gradFill>
                  <a:gsLst>
                    <a:gs pos="34000">
                      <a:srgbClr val="EDEDED"/>
                    </a:gs>
                    <a:gs pos="0">
                      <a:srgbClr val="BFBFBF"/>
                    </a:gs>
                    <a:gs pos="100000">
                      <a:srgbClr val="FFFFFF"/>
                    </a:gs>
                  </a:gsLst>
                  <a:lin ang="4800000" scaled="0"/>
                </a:gradFill>
                <a:latin typeface="+mn-lt"/>
              </a:rPr>
              <a:t>GUI</a:t>
            </a:r>
            <a:r>
              <a:rPr lang="ja-JP" altLang="en-US" dirty="0">
                <a:gradFill>
                  <a:gsLst>
                    <a:gs pos="34000">
                      <a:srgbClr val="EDEDED"/>
                    </a:gs>
                    <a:gs pos="0">
                      <a:srgbClr val="BFBFBF"/>
                    </a:gs>
                    <a:gs pos="100000">
                      <a:srgbClr val="FFFFFF"/>
                    </a:gs>
                  </a:gsLst>
                  <a:lin ang="4800000" scaled="0"/>
                </a:gradFill>
                <a:latin typeface="+mn-lt"/>
              </a:rPr>
              <a:t>操作が可能な</a:t>
            </a:r>
            <a:br>
              <a:rPr lang="en-US" altLang="ja-JP" dirty="0">
                <a:gradFill>
                  <a:gsLst>
                    <a:gs pos="34000">
                      <a:srgbClr val="EDEDED"/>
                    </a:gs>
                    <a:gs pos="0">
                      <a:srgbClr val="BFBFBF"/>
                    </a:gs>
                    <a:gs pos="100000">
                      <a:srgbClr val="FFFFFF"/>
                    </a:gs>
                  </a:gsLst>
                  <a:lin ang="4800000" scaled="0"/>
                </a:gradFill>
                <a:latin typeface="+mn-lt"/>
              </a:rPr>
            </a:br>
            <a:r>
              <a:rPr lang="ja-JP" altLang="en-US" dirty="0">
                <a:gradFill>
                  <a:gsLst>
                    <a:gs pos="34000">
                      <a:srgbClr val="EDEDED"/>
                    </a:gs>
                    <a:gs pos="0">
                      <a:srgbClr val="BFBFBF"/>
                    </a:gs>
                    <a:gs pos="100000">
                      <a:srgbClr val="FFFFFF"/>
                    </a:gs>
                  </a:gsLst>
                  <a:lin ang="4800000" scaled="0"/>
                </a:gradFill>
                <a:latin typeface="+mn-lt"/>
              </a:rPr>
              <a:t>アプリケーションで実装</a:t>
            </a:r>
            <a:endParaRPr kumimoji="1" lang="ja-JP" altLang="en-US" dirty="0">
              <a:gradFill>
                <a:gsLst>
                  <a:gs pos="34000">
                    <a:srgbClr val="EDEDED"/>
                  </a:gs>
                  <a:gs pos="0">
                    <a:srgbClr val="BFBFBF"/>
                  </a:gs>
                  <a:gs pos="100000">
                    <a:srgbClr val="FFFFFF"/>
                  </a:gs>
                </a:gsLst>
                <a:lin ang="4800000" scaled="0"/>
              </a:gradFill>
              <a:latin typeface="+mn-lt"/>
            </a:endParaRPr>
          </a:p>
        </p:txBody>
      </p:sp>
      <p:sp>
        <p:nvSpPr>
          <p:cNvPr id="12" name="コンテンツ プレースホルダー 11">
            <a:extLst>
              <a:ext uri="{FF2B5EF4-FFF2-40B4-BE49-F238E27FC236}">
                <a16:creationId xmlns:a16="http://schemas.microsoft.com/office/drawing/2014/main" id="{AECEBEA7-333C-12DC-2E66-D0B60B4EB65F}"/>
              </a:ext>
            </a:extLst>
          </p:cNvPr>
          <p:cNvSpPr>
            <a:spLocks noGrp="1"/>
          </p:cNvSpPr>
          <p:nvPr>
            <p:ph sz="half" idx="1"/>
          </p:nvPr>
        </p:nvSpPr>
        <p:spPr>
          <a:xfrm>
            <a:off x="1111254" y="5215847"/>
            <a:ext cx="5033962" cy="550786"/>
          </a:xfrm>
        </p:spPr>
        <p:txBody>
          <a:bodyPr>
            <a:normAutofit/>
          </a:bodyPr>
          <a:lstStyle/>
          <a:p>
            <a:pPr marL="0" indent="0" algn="ctr">
              <a:buNone/>
            </a:pPr>
            <a:r>
              <a:rPr lang="ja-JP" altLang="en-US" b="1" dirty="0">
                <a:solidFill>
                  <a:schemeClr val="accent5">
                    <a:lumMod val="60000"/>
                    <a:lumOff val="40000"/>
                  </a:schemeClr>
                </a:solidFill>
              </a:rPr>
              <a:t>提案手法の学習サイクル</a:t>
            </a:r>
          </a:p>
        </p:txBody>
      </p:sp>
      <p:pic>
        <p:nvPicPr>
          <p:cNvPr id="16" name="図 15" descr="テキスト, 記号 が含まれている画像&#10;&#10;AI 生成コンテンツは誤りを含む可能性があります。">
            <a:extLst>
              <a:ext uri="{FF2B5EF4-FFF2-40B4-BE49-F238E27FC236}">
                <a16:creationId xmlns:a16="http://schemas.microsoft.com/office/drawing/2014/main" id="{A0BE8751-B4BA-7269-D2EF-823298864726}"/>
              </a:ext>
            </a:extLst>
          </p:cNvPr>
          <p:cNvPicPr>
            <a:picLocks noChangeAspect="1"/>
          </p:cNvPicPr>
          <p:nvPr/>
        </p:nvPicPr>
        <p:blipFill>
          <a:blip r:embed="rId3"/>
          <a:stretch>
            <a:fillRect/>
          </a:stretch>
        </p:blipFill>
        <p:spPr>
          <a:xfrm>
            <a:off x="910295" y="1821233"/>
            <a:ext cx="5435879" cy="3264068"/>
          </a:xfrm>
          <a:prstGeom prst="rect">
            <a:avLst/>
          </a:prstGeom>
        </p:spPr>
      </p:pic>
    </p:spTree>
    <p:extLst>
      <p:ext uri="{BB962C8B-B14F-4D97-AF65-F5344CB8AC3E}">
        <p14:creationId xmlns:p14="http://schemas.microsoft.com/office/powerpoint/2010/main" val="3090735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0AF4B-4866-2950-9D41-896695832B64}"/>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2B03147-1878-7B38-4AAE-13AA62FA9249}"/>
              </a:ext>
            </a:extLst>
          </p:cNvPr>
          <p:cNvSpPr>
            <a:spLocks noGrp="1"/>
          </p:cNvSpPr>
          <p:nvPr>
            <p:ph idx="1"/>
          </p:nvPr>
        </p:nvSpPr>
        <p:spPr>
          <a:xfrm>
            <a:off x="979100" y="1776463"/>
            <a:ext cx="10233800" cy="4351338"/>
          </a:xfrm>
        </p:spPr>
        <p:txBody>
          <a:bodyPr>
            <a:normAutofit lnSpcReduction="10000"/>
          </a:bodyPr>
          <a:lstStyle/>
          <a:p>
            <a:pPr marL="0" indent="0">
              <a:buNone/>
            </a:pPr>
            <a:r>
              <a:rPr kumimoji="1" lang="ja-JP" altLang="en-US" sz="3200" b="1" i="0" u="none" strike="noStrike" kern="1200" cap="none" spc="0" normalizeH="0" baseline="0" noProof="0" dirty="0">
                <a:ln>
                  <a:noFill/>
                </a:ln>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ffectLst/>
                <a:uLnTx/>
                <a:uFillTx/>
                <a:latin typeface="メイリオ" panose="020B0604030504040204" pitchFamily="50" charset="-128"/>
                <a:ea typeface="メイリオ" panose="020B0604030504040204" pitchFamily="50" charset="-128"/>
                <a:cs typeface="+mn-cs"/>
              </a:rPr>
              <a:t>システムの流れ</a:t>
            </a:r>
            <a:endParaRPr kumimoji="1" lang="en-US" altLang="ja-JP" sz="3200" b="1" i="0" u="none" strike="noStrike" kern="1200" cap="none" spc="0" normalizeH="0" baseline="0" noProof="0" dirty="0">
              <a:ln>
                <a:noFill/>
              </a:ln>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ffectLst/>
              <a:uLnTx/>
              <a:uFillTx/>
              <a:latin typeface="メイリオ" panose="020B0604030504040204" pitchFamily="50" charset="-128"/>
              <a:ea typeface="メイリオ" panose="020B0604030504040204" pitchFamily="50" charset="-128"/>
              <a:cs typeface="+mn-cs"/>
            </a:endParaRPr>
          </a:p>
          <a:p>
            <a:pPr marL="0" indent="0">
              <a:lnSpc>
                <a:spcPct val="100000"/>
              </a:lnSpc>
              <a:buNone/>
            </a:pPr>
            <a:r>
              <a:rPr kumimoji="1" lang="ja-JP" altLang="en-US" dirty="0"/>
              <a:t>統合解析</a:t>
            </a:r>
            <a:r>
              <a:rPr kumimoji="1" lang="en-US" altLang="ja-JP" dirty="0"/>
              <a:t>(Gemini 2.5 Pro)</a:t>
            </a:r>
            <a:r>
              <a:rPr lang="ja-JP" altLang="en-US" dirty="0"/>
              <a:t>・・・</a:t>
            </a:r>
            <a:br>
              <a:rPr kumimoji="1" lang="en-US" altLang="ja-JP" dirty="0"/>
            </a:br>
            <a:r>
              <a:rPr kumimoji="1" lang="ja-JP" altLang="en-US" dirty="0"/>
              <a:t>動画から音が発生した事象</a:t>
            </a:r>
            <a:r>
              <a:rPr kumimoji="1" lang="en-US" altLang="ja-JP" dirty="0"/>
              <a:t>(</a:t>
            </a:r>
            <a:r>
              <a:rPr kumimoji="1" lang="ja-JP" altLang="en-US" dirty="0"/>
              <a:t>音響イベント</a:t>
            </a:r>
            <a:r>
              <a:rPr kumimoji="1" lang="en-US" altLang="ja-JP" dirty="0"/>
              <a:t>)</a:t>
            </a:r>
            <a:r>
              <a:rPr kumimoji="1" lang="ja-JP" altLang="en-US" dirty="0"/>
              <a:t>を出力</a:t>
            </a:r>
            <a:endParaRPr kumimoji="1" lang="en-US" altLang="ja-JP" dirty="0"/>
          </a:p>
          <a:p>
            <a:pPr marL="514350" indent="-514350">
              <a:lnSpc>
                <a:spcPct val="100000"/>
              </a:lnSpc>
              <a:buFont typeface="+mj-lt"/>
              <a:buAutoNum type="arabicPeriod"/>
            </a:pPr>
            <a:r>
              <a:rPr kumimoji="1" lang="ja-JP" altLang="en-US" dirty="0"/>
              <a:t>評価・教師データ作成・・・</a:t>
            </a:r>
            <a:br>
              <a:rPr kumimoji="1" lang="en-US" altLang="ja-JP" dirty="0"/>
            </a:br>
            <a:r>
              <a:rPr lang="ja-JP" altLang="en-US" dirty="0"/>
              <a:t>出力</a:t>
            </a:r>
            <a:r>
              <a:rPr kumimoji="1" lang="ja-JP" altLang="en-US" dirty="0"/>
              <a:t>されたイベントを人手で修正し，教師データの作成</a:t>
            </a:r>
            <a:br>
              <a:rPr kumimoji="1" lang="en-US" altLang="ja-JP" dirty="0"/>
            </a:br>
            <a:r>
              <a:rPr lang="ja-JP" altLang="en-US" dirty="0"/>
              <a:t>修正前後を比較し精度評価の実施</a:t>
            </a:r>
            <a:endParaRPr lang="en-US" altLang="ja-JP" dirty="0"/>
          </a:p>
          <a:p>
            <a:pPr marL="514350" indent="-514350">
              <a:lnSpc>
                <a:spcPct val="100000"/>
              </a:lnSpc>
              <a:buFont typeface="+mj-lt"/>
              <a:buAutoNum type="arabicPeriod"/>
            </a:pPr>
            <a:r>
              <a:rPr lang="ja-JP" altLang="en-US" dirty="0"/>
              <a:t>ファインチューニング・・・</a:t>
            </a:r>
            <a:br>
              <a:rPr lang="en-US" altLang="ja-JP" dirty="0"/>
            </a:br>
            <a:r>
              <a:rPr lang="ja-JP" altLang="en-US" dirty="0"/>
              <a:t>教師データをファインチューニングで学習し，</a:t>
            </a:r>
            <a:br>
              <a:rPr lang="en-US" altLang="ja-JP" dirty="0"/>
            </a:br>
            <a:r>
              <a:rPr lang="ja-JP" altLang="en-US" dirty="0"/>
              <a:t>学習済みモデルを作成して同様に解析</a:t>
            </a:r>
            <a:br>
              <a:rPr lang="en-US" altLang="ja-JP" dirty="0"/>
            </a:br>
            <a:r>
              <a:rPr lang="ja-JP" altLang="en-US" dirty="0"/>
              <a:t>➡学習済みモデルとベースモデルで精度比較</a:t>
            </a:r>
            <a:endParaRPr lang="en-US" altLang="ja-JP" dirty="0"/>
          </a:p>
          <a:p>
            <a:pPr marL="0" indent="0">
              <a:lnSpc>
                <a:spcPct val="100000"/>
              </a:lnSpc>
              <a:buNone/>
            </a:pPr>
            <a:endParaRPr kumimoji="1" lang="ja-JP" altLang="en-US" dirty="0"/>
          </a:p>
        </p:txBody>
      </p:sp>
      <p:sp>
        <p:nvSpPr>
          <p:cNvPr id="4" name="スライド番号プレースホルダー 3">
            <a:extLst>
              <a:ext uri="{FF2B5EF4-FFF2-40B4-BE49-F238E27FC236}">
                <a16:creationId xmlns:a16="http://schemas.microsoft.com/office/drawing/2014/main" id="{82482382-6367-D10E-F711-632FACADF26C}"/>
              </a:ext>
            </a:extLst>
          </p:cNvPr>
          <p:cNvSpPr>
            <a:spLocks noGrp="1"/>
          </p:cNvSpPr>
          <p:nvPr>
            <p:ph type="sldNum" sz="quarter" idx="12"/>
          </p:nvPr>
        </p:nvSpPr>
        <p:spPr/>
        <p:txBody>
          <a:bodyPr/>
          <a:lstStyle/>
          <a:p>
            <a:fld id="{8213A850-EEC5-482E-871C-F91D51FCFBE2}" type="slidenum">
              <a:rPr kumimoji="1" lang="ja-JP" altLang="en-US" smtClean="0"/>
              <a:t>9</a:t>
            </a:fld>
            <a:endParaRPr kumimoji="1" lang="ja-JP" altLang="en-US" dirty="0"/>
          </a:p>
        </p:txBody>
      </p:sp>
      <p:sp>
        <p:nvSpPr>
          <p:cNvPr id="7" name="タイトル 1">
            <a:extLst>
              <a:ext uri="{FF2B5EF4-FFF2-40B4-BE49-F238E27FC236}">
                <a16:creationId xmlns:a16="http://schemas.microsoft.com/office/drawing/2014/main" id="{3C0EFD79-603F-DD16-30A1-01E1CA9856E1}"/>
              </a:ext>
            </a:extLst>
          </p:cNvPr>
          <p:cNvSpPr>
            <a:spLocks noGrp="1"/>
          </p:cNvSpPr>
          <p:nvPr>
            <p:ph type="title"/>
          </p:nvPr>
        </p:nvSpPr>
        <p:spPr>
          <a:xfrm>
            <a:off x="838200" y="365125"/>
            <a:ext cx="10515600" cy="1325563"/>
          </a:xfrm>
        </p:spPr>
        <p:txBody>
          <a:bodyPr/>
          <a:lstStyle/>
          <a:p>
            <a:pPr marL="914400" indent="-914400">
              <a:buFont typeface="+mj-lt"/>
              <a:buAutoNum type="arabicPeriod" startAt="6"/>
            </a:pPr>
            <a:r>
              <a:rPr kumimoji="1" lang="ja-JP" altLang="en-US" dirty="0"/>
              <a:t>システム構成</a:t>
            </a:r>
          </a:p>
        </p:txBody>
      </p:sp>
    </p:spTree>
    <p:extLst>
      <p:ext uri="{BB962C8B-B14F-4D97-AF65-F5344CB8AC3E}">
        <p14:creationId xmlns:p14="http://schemas.microsoft.com/office/powerpoint/2010/main" val="752299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493B8-D177-D6EF-164D-5A30B06221B0}"/>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65A2265-33DD-F73D-3686-09296A6AAF63}"/>
              </a:ext>
            </a:extLst>
          </p:cNvPr>
          <p:cNvSpPr>
            <a:spLocks noGrp="1"/>
          </p:cNvSpPr>
          <p:nvPr>
            <p:ph idx="1"/>
          </p:nvPr>
        </p:nvSpPr>
        <p:spPr>
          <a:xfrm>
            <a:off x="979099" y="1690687"/>
            <a:ext cx="10643405" cy="4577765"/>
          </a:xfrm>
        </p:spPr>
        <p:txBody>
          <a:bodyPr>
            <a:normAutofit fontScale="70000" lnSpcReduction="20000"/>
          </a:body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1" lang="ja-JP" altLang="en-US" sz="3600" b="1" i="0" u="none" strike="noStrike" kern="1200" cap="none" spc="0" normalizeH="0" baseline="0" noProof="0" dirty="0">
                <a:ln>
                  <a:noFill/>
                </a:ln>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ffectLst/>
                <a:uLnTx/>
                <a:uFillTx/>
                <a:latin typeface="メイリオ" panose="020B0604030504040204" pitchFamily="50" charset="-128"/>
                <a:ea typeface="メイリオ" panose="020B0604030504040204" pitchFamily="50" charset="-128"/>
                <a:cs typeface="+mn-cs"/>
              </a:rPr>
              <a:t>解析ロジック</a:t>
            </a:r>
            <a:r>
              <a:rPr kumimoji="1" lang="en-US" altLang="ja-JP" sz="3600" b="1" i="0" u="none" strike="noStrike" kern="1200" cap="none" spc="0" normalizeH="0" baseline="0" noProof="0" dirty="0">
                <a:ln>
                  <a:noFill/>
                </a:ln>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ffectLst/>
                <a:uLnTx/>
                <a:uFillTx/>
                <a:latin typeface="メイリオ" panose="020B0604030504040204" pitchFamily="50" charset="-128"/>
                <a:ea typeface="メイリオ" panose="020B0604030504040204" pitchFamily="50" charset="-128"/>
                <a:cs typeface="+mn-cs"/>
              </a:rPr>
              <a:t>(Gemini 2.5 Pro)</a:t>
            </a:r>
            <a:br>
              <a:rPr lang="en-US" altLang="ja-JP" sz="3600" dirty="0"/>
            </a:br>
            <a:r>
              <a:rPr lang="ja-JP" altLang="en-US" sz="3600" dirty="0"/>
              <a:t>以下のルールでオブジェクトを出力するようプロンプト指示</a:t>
            </a:r>
            <a:endParaRPr lang="en-US" altLang="ja-JP" sz="3600" dirty="0"/>
          </a:p>
          <a:p>
            <a:pPr>
              <a:lnSpc>
                <a:spcPct val="150000"/>
              </a:lnSpc>
            </a:pPr>
            <a:r>
              <a:rPr kumimoji="1" lang="ja-JP" altLang="en-US" sz="3600" dirty="0"/>
              <a:t>音の発生した時系列順に，</a:t>
            </a:r>
            <a:br>
              <a:rPr kumimoji="1" lang="en-US" altLang="ja-JP" sz="3600" dirty="0"/>
            </a:br>
            <a:r>
              <a:rPr kumimoji="1" lang="ja-JP" altLang="en-US" sz="3600" dirty="0"/>
              <a:t>映像内で</a:t>
            </a:r>
            <a:r>
              <a:rPr kumimoji="1" lang="ja-JP" altLang="en-US" sz="3600" u="sng" dirty="0"/>
              <a:t>物体が音を発している出来事</a:t>
            </a:r>
            <a:r>
              <a:rPr kumimoji="1" lang="en-US" altLang="ja-JP" sz="3600" u="sng" dirty="0"/>
              <a:t>(</a:t>
            </a:r>
            <a:r>
              <a:rPr kumimoji="1" lang="ja-JP" altLang="en-US" sz="3600" u="sng" dirty="0"/>
              <a:t>音響イベント</a:t>
            </a:r>
            <a:r>
              <a:rPr kumimoji="1" lang="en-US" altLang="ja-JP" sz="3600" u="sng" dirty="0"/>
              <a:t>)</a:t>
            </a:r>
            <a:r>
              <a:rPr kumimoji="1" lang="ja-JP" altLang="en-US" sz="3600" dirty="0"/>
              <a:t>を出力</a:t>
            </a:r>
            <a:endParaRPr kumimoji="1" lang="en-US" altLang="ja-JP" sz="3600" dirty="0"/>
          </a:p>
          <a:p>
            <a:pPr>
              <a:lnSpc>
                <a:spcPct val="150000"/>
              </a:lnSpc>
            </a:pPr>
            <a:r>
              <a:rPr kumimoji="1" lang="ja-JP" altLang="en-US" sz="3600" dirty="0"/>
              <a:t>主にリストに含める内容</a:t>
            </a:r>
            <a:r>
              <a:rPr lang="ja-JP" altLang="en-US" sz="3600" dirty="0"/>
              <a:t>・・・</a:t>
            </a:r>
            <a:br>
              <a:rPr lang="en-US" altLang="ja-JP" sz="3600" dirty="0"/>
            </a:br>
            <a:r>
              <a:rPr kumimoji="1" lang="ja-JP" altLang="en-US" sz="3600" u="sng" dirty="0"/>
              <a:t>タイムスタンプ</a:t>
            </a:r>
            <a:r>
              <a:rPr kumimoji="1" lang="ja-JP" altLang="en-US" sz="3600" dirty="0"/>
              <a:t>，</a:t>
            </a:r>
            <a:r>
              <a:rPr kumimoji="1" lang="ja-JP" altLang="en-US" sz="3600" u="sng" dirty="0"/>
              <a:t>音源</a:t>
            </a:r>
            <a:r>
              <a:rPr kumimoji="1" lang="ja-JP" altLang="en-US" sz="3600" dirty="0"/>
              <a:t>，</a:t>
            </a:r>
            <a:r>
              <a:rPr kumimoji="1" lang="ja-JP" altLang="en-US" sz="3600" u="sng" dirty="0"/>
              <a:t>推論根拠</a:t>
            </a:r>
            <a:r>
              <a:rPr kumimoji="1" lang="en-US" altLang="ja-JP" sz="3600" u="sng" dirty="0"/>
              <a:t>(</a:t>
            </a:r>
            <a:r>
              <a:rPr kumimoji="1" lang="ja-JP" altLang="en-US" sz="3600" u="sng" dirty="0"/>
              <a:t>その音源</a:t>
            </a:r>
            <a:r>
              <a:rPr lang="ja-JP" altLang="en-US" sz="3600" u="sng" dirty="0"/>
              <a:t>を</a:t>
            </a:r>
            <a:r>
              <a:rPr kumimoji="1" lang="ja-JP" altLang="en-US" sz="3600" u="sng" dirty="0"/>
              <a:t>特定した理由</a:t>
            </a:r>
            <a:r>
              <a:rPr kumimoji="1" lang="en-US" altLang="ja-JP" sz="3600" u="sng" dirty="0"/>
              <a:t>)</a:t>
            </a:r>
            <a:endParaRPr lang="en-US" altLang="ja-JP" sz="3600" u="sng" dirty="0"/>
          </a:p>
          <a:p>
            <a:pPr>
              <a:lnSpc>
                <a:spcPct val="150000"/>
              </a:lnSpc>
            </a:pPr>
            <a:r>
              <a:rPr lang="ja-JP" altLang="en-US" sz="3600" dirty="0"/>
              <a:t>推論根拠を物体，属性，動作，音，に分割して構造化データを構成</a:t>
            </a:r>
            <a:endParaRPr lang="en-US" altLang="ja-JP" sz="3600" dirty="0"/>
          </a:p>
          <a:p>
            <a:pPr marL="0" indent="0">
              <a:lnSpc>
                <a:spcPct val="150000"/>
              </a:lnSpc>
              <a:buNone/>
            </a:pPr>
            <a:r>
              <a:rPr lang="en-US" altLang="ja-JP" sz="3600" dirty="0"/>
              <a:t>※</a:t>
            </a:r>
            <a:r>
              <a:rPr lang="ja-JP" altLang="en-US" sz="3600" dirty="0"/>
              <a:t>画面外の音源は評価指標</a:t>
            </a:r>
            <a:r>
              <a:rPr lang="en-US" altLang="ja-JP" sz="3600" dirty="0"/>
              <a:t>(</a:t>
            </a:r>
            <a:r>
              <a:rPr lang="ja-JP" altLang="en-US" sz="3600" dirty="0"/>
              <a:t>後述</a:t>
            </a:r>
            <a:r>
              <a:rPr lang="en-US" altLang="ja-JP" sz="3600" dirty="0"/>
              <a:t>)</a:t>
            </a:r>
            <a:r>
              <a:rPr lang="ja-JP" altLang="en-US" sz="3600" dirty="0"/>
              <a:t>から排除</a:t>
            </a:r>
            <a:endParaRPr lang="en-US" altLang="ja-JP" sz="3600" dirty="0"/>
          </a:p>
          <a:p>
            <a:pPr marL="0" indent="0">
              <a:buNone/>
            </a:pP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6BF442C1-E4C6-AE8F-5606-A34E27C6F178}"/>
              </a:ext>
            </a:extLst>
          </p:cNvPr>
          <p:cNvSpPr>
            <a:spLocks noGrp="1"/>
          </p:cNvSpPr>
          <p:nvPr>
            <p:ph type="sldNum" sz="quarter" idx="12"/>
          </p:nvPr>
        </p:nvSpPr>
        <p:spPr/>
        <p:txBody>
          <a:bodyPr/>
          <a:lstStyle/>
          <a:p>
            <a:fld id="{8213A850-EEC5-482E-871C-F91D51FCFBE2}" type="slidenum">
              <a:rPr kumimoji="1" lang="ja-JP" altLang="en-US" smtClean="0"/>
              <a:t>10</a:t>
            </a:fld>
            <a:endParaRPr kumimoji="1" lang="ja-JP" altLang="en-US" dirty="0"/>
          </a:p>
        </p:txBody>
      </p:sp>
      <p:sp>
        <p:nvSpPr>
          <p:cNvPr id="10" name="タイトル 1">
            <a:extLst>
              <a:ext uri="{FF2B5EF4-FFF2-40B4-BE49-F238E27FC236}">
                <a16:creationId xmlns:a16="http://schemas.microsoft.com/office/drawing/2014/main" id="{12C1BC66-1790-DE0D-0852-12DCE8923154}"/>
              </a:ext>
            </a:extLst>
          </p:cNvPr>
          <p:cNvSpPr>
            <a:spLocks noGrp="1"/>
          </p:cNvSpPr>
          <p:nvPr>
            <p:ph type="title"/>
          </p:nvPr>
        </p:nvSpPr>
        <p:spPr>
          <a:xfrm>
            <a:off x="838200" y="365125"/>
            <a:ext cx="10515600" cy="1325563"/>
          </a:xfrm>
        </p:spPr>
        <p:txBody>
          <a:bodyPr/>
          <a:lstStyle/>
          <a:p>
            <a:pPr marL="914400" indent="-914400">
              <a:buFont typeface="+mj-lt"/>
              <a:buAutoNum type="arabicPeriod" startAt="6"/>
            </a:pPr>
            <a:r>
              <a:rPr kumimoji="1" lang="ja-JP" altLang="en-US" dirty="0"/>
              <a:t>システム構成</a:t>
            </a:r>
          </a:p>
        </p:txBody>
      </p:sp>
    </p:spTree>
    <p:extLst>
      <p:ext uri="{BB962C8B-B14F-4D97-AF65-F5344CB8AC3E}">
        <p14:creationId xmlns:p14="http://schemas.microsoft.com/office/powerpoint/2010/main" val="3063715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C4FE-1060-7449-4C66-FEB4166AAB1B}"/>
            </a:ext>
          </a:extLst>
        </p:cNvPr>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3A2FF7E6-4014-8EC4-6EDB-69D2C85C06E8}"/>
              </a:ext>
            </a:extLst>
          </p:cNvPr>
          <p:cNvSpPr>
            <a:spLocks noGrp="1"/>
          </p:cNvSpPr>
          <p:nvPr>
            <p:ph type="body" idx="1"/>
          </p:nvPr>
        </p:nvSpPr>
        <p:spPr>
          <a:xfrm>
            <a:off x="838200" y="1681163"/>
            <a:ext cx="5307016" cy="823912"/>
          </a:xfrm>
        </p:spPr>
        <p:txBody>
          <a:bodyPr anchor="ctr">
            <a:normAutofit fontScale="25000" lnSpcReduction="20000"/>
          </a:bodyPr>
          <a:lstStyle/>
          <a:p>
            <a:pPr algn="ctr"/>
            <a:br>
              <a:rPr lang="en-US" altLang="ja-JP" sz="4600" b="1" dirty="0"/>
            </a:br>
            <a:r>
              <a:rPr lang="ja-JP" altLang="en-US" sz="11200" b="1" dirty="0"/>
              <a:t>バウンディングボックスの描画</a:t>
            </a:r>
            <a:endParaRPr lang="en-US" altLang="ja-JP" sz="11200" b="1" dirty="0"/>
          </a:p>
          <a:p>
            <a:pPr algn="ctr"/>
            <a:r>
              <a:rPr lang="en-US" altLang="ja-JP" sz="11200" b="1" dirty="0"/>
              <a:t>(</a:t>
            </a:r>
            <a:r>
              <a:rPr lang="ja-JP" altLang="en-US" sz="11200" b="1" dirty="0"/>
              <a:t>視覚補助ツール</a:t>
            </a:r>
            <a:r>
              <a:rPr lang="en-US" altLang="ja-JP" sz="11200" b="1" dirty="0"/>
              <a:t>)</a:t>
            </a:r>
          </a:p>
          <a:p>
            <a:endParaRPr lang="ja-JP" altLang="en-US" dirty="0"/>
          </a:p>
        </p:txBody>
      </p:sp>
      <p:sp>
        <p:nvSpPr>
          <p:cNvPr id="3" name="コンテンツ プレースホルダー 2">
            <a:extLst>
              <a:ext uri="{FF2B5EF4-FFF2-40B4-BE49-F238E27FC236}">
                <a16:creationId xmlns:a16="http://schemas.microsoft.com/office/drawing/2014/main" id="{864903FD-5FFD-7CA4-C335-D9476EACBE6E}"/>
              </a:ext>
            </a:extLst>
          </p:cNvPr>
          <p:cNvSpPr>
            <a:spLocks noGrp="1"/>
          </p:cNvSpPr>
          <p:nvPr>
            <p:ph sz="half" idx="2"/>
          </p:nvPr>
        </p:nvSpPr>
        <p:spPr>
          <a:xfrm>
            <a:off x="838200" y="2505075"/>
            <a:ext cx="5307016" cy="3684588"/>
          </a:xfrm>
        </p:spPr>
        <p:txBody>
          <a:bodyPr>
            <a:noAutofit/>
          </a:bodyPr>
          <a:lstStyle/>
          <a:p>
            <a:pPr>
              <a:lnSpc>
                <a:spcPct val="110000"/>
              </a:lnSpc>
            </a:pPr>
            <a:r>
              <a:rPr kumimoji="1" lang="ja-JP" altLang="en-US" sz="3000" dirty="0"/>
              <a:t>オブジェクトを赤枠で囲む</a:t>
            </a:r>
            <a:endParaRPr kumimoji="1" lang="en-US" altLang="ja-JP" sz="3000" dirty="0"/>
          </a:p>
          <a:p>
            <a:pPr>
              <a:lnSpc>
                <a:spcPct val="110000"/>
              </a:lnSpc>
            </a:pPr>
            <a:r>
              <a:rPr lang="en-US" altLang="ja-JP" sz="3000" dirty="0"/>
              <a:t>Cloud</a:t>
            </a:r>
            <a:r>
              <a:rPr lang="ja-JP" altLang="en-US" sz="3000" dirty="0"/>
              <a:t> </a:t>
            </a:r>
            <a:r>
              <a:rPr lang="en-US" altLang="ja-JP" sz="3000" dirty="0"/>
              <a:t>Vision</a:t>
            </a:r>
            <a:r>
              <a:rPr lang="ja-JP" altLang="en-US" sz="3000" dirty="0"/>
              <a:t> </a:t>
            </a:r>
            <a:r>
              <a:rPr lang="en-US" altLang="ja-JP" sz="3000" dirty="0"/>
              <a:t>API</a:t>
            </a:r>
            <a:r>
              <a:rPr lang="ja-JP" altLang="en-US" sz="3000" dirty="0"/>
              <a:t>・・・</a:t>
            </a:r>
            <a:endParaRPr lang="en-US" altLang="ja-JP" sz="3000" dirty="0"/>
          </a:p>
          <a:p>
            <a:pPr lvl="1">
              <a:lnSpc>
                <a:spcPct val="110000"/>
              </a:lnSpc>
            </a:pPr>
            <a:r>
              <a:rPr lang="ja-JP" altLang="en-US" sz="2800" dirty="0"/>
              <a:t>物体検出に特化して学習</a:t>
            </a:r>
            <a:br>
              <a:rPr lang="en-US" altLang="ja-JP" sz="2800" dirty="0"/>
            </a:br>
            <a:r>
              <a:rPr lang="ja-JP" altLang="en-US" sz="2800" dirty="0"/>
              <a:t>された専用ツール</a:t>
            </a:r>
            <a:endParaRPr lang="en-US" altLang="ja-JP" sz="2800" dirty="0"/>
          </a:p>
          <a:p>
            <a:pPr lvl="1">
              <a:lnSpc>
                <a:spcPct val="110000"/>
              </a:lnSpc>
            </a:pPr>
            <a:r>
              <a:rPr lang="ja-JP" altLang="en-US" sz="2800" dirty="0"/>
              <a:t>音源オブジェクトを空間的に可視化</a:t>
            </a:r>
            <a:br>
              <a:rPr lang="en-US" altLang="ja-JP" dirty="0"/>
            </a:br>
            <a:r>
              <a:rPr lang="ja-JP" altLang="en-US" dirty="0"/>
              <a:t>　　　　　　　　　</a:t>
            </a:r>
            <a:br>
              <a:rPr lang="en-US" altLang="ja-JP" dirty="0"/>
            </a:br>
            <a:r>
              <a:rPr lang="ja-JP" altLang="en-US" dirty="0"/>
              <a:t>　　　</a:t>
            </a:r>
            <a:endParaRPr kumimoji="1" lang="ja-JP" altLang="en-US" dirty="0"/>
          </a:p>
        </p:txBody>
      </p:sp>
      <p:sp>
        <p:nvSpPr>
          <p:cNvPr id="5" name="スライド番号プレースホルダー 4">
            <a:extLst>
              <a:ext uri="{FF2B5EF4-FFF2-40B4-BE49-F238E27FC236}">
                <a16:creationId xmlns:a16="http://schemas.microsoft.com/office/drawing/2014/main" id="{22EDC3BB-7635-0650-1F16-9FFAAFF9A1F8}"/>
              </a:ext>
            </a:extLst>
          </p:cNvPr>
          <p:cNvSpPr>
            <a:spLocks noGrp="1"/>
          </p:cNvSpPr>
          <p:nvPr>
            <p:ph type="sldNum" sz="quarter" idx="12"/>
          </p:nvPr>
        </p:nvSpPr>
        <p:spPr/>
        <p:txBody>
          <a:bodyPr/>
          <a:lstStyle/>
          <a:p>
            <a:fld id="{8213A850-EEC5-482E-871C-F91D51FCFBE2}" type="slidenum">
              <a:rPr kumimoji="1" lang="ja-JP" altLang="en-US" sz="2800" smtClean="0"/>
              <a:t>11</a:t>
            </a:fld>
            <a:endParaRPr kumimoji="1" lang="ja-JP" altLang="en-US" sz="2800" dirty="0"/>
          </a:p>
        </p:txBody>
      </p:sp>
      <p:sp>
        <p:nvSpPr>
          <p:cNvPr id="14" name="タイトル 1">
            <a:extLst>
              <a:ext uri="{FF2B5EF4-FFF2-40B4-BE49-F238E27FC236}">
                <a16:creationId xmlns:a16="http://schemas.microsoft.com/office/drawing/2014/main" id="{9858DC16-78C8-0D99-113D-59F9F3D2BDF9}"/>
              </a:ext>
            </a:extLst>
          </p:cNvPr>
          <p:cNvSpPr>
            <a:spLocks noGrp="1"/>
          </p:cNvSpPr>
          <p:nvPr>
            <p:ph type="title"/>
          </p:nvPr>
        </p:nvSpPr>
        <p:spPr>
          <a:xfrm>
            <a:off x="838200" y="365125"/>
            <a:ext cx="10515600" cy="1325563"/>
          </a:xfrm>
        </p:spPr>
        <p:txBody>
          <a:bodyPr/>
          <a:lstStyle/>
          <a:p>
            <a:pPr marL="914400" indent="-914400">
              <a:buFont typeface="+mj-lt"/>
              <a:buAutoNum type="arabicPeriod" startAt="6"/>
            </a:pPr>
            <a:r>
              <a:rPr kumimoji="1" lang="ja-JP" altLang="en-US" dirty="0"/>
              <a:t>システム構成</a:t>
            </a:r>
          </a:p>
        </p:txBody>
      </p:sp>
      <p:pic>
        <p:nvPicPr>
          <p:cNvPr id="8" name="図 7" descr="建物, 道路, 車, ストリート が含まれている画像&#10;&#10;AI 生成コンテンツは誤りを含む可能性があります。">
            <a:extLst>
              <a:ext uri="{FF2B5EF4-FFF2-40B4-BE49-F238E27FC236}">
                <a16:creationId xmlns:a16="http://schemas.microsoft.com/office/drawing/2014/main" id="{B8F3F193-F669-B041-C16F-B5F486F0DBE4}"/>
              </a:ext>
            </a:extLst>
          </p:cNvPr>
          <p:cNvPicPr>
            <a:picLocks noChangeAspect="1"/>
          </p:cNvPicPr>
          <p:nvPr/>
        </p:nvPicPr>
        <p:blipFill>
          <a:blip r:embed="rId3"/>
          <a:stretch>
            <a:fillRect/>
          </a:stretch>
        </p:blipFill>
        <p:spPr>
          <a:xfrm>
            <a:off x="6375980" y="2621134"/>
            <a:ext cx="5405762" cy="2162304"/>
          </a:xfrm>
          <a:prstGeom prst="rect">
            <a:avLst/>
          </a:prstGeom>
        </p:spPr>
      </p:pic>
    </p:spTree>
    <p:extLst>
      <p:ext uri="{BB962C8B-B14F-4D97-AF65-F5344CB8AC3E}">
        <p14:creationId xmlns:p14="http://schemas.microsoft.com/office/powerpoint/2010/main" val="1646777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92387-3F0B-2F58-98A2-3831F32FAFFA}"/>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9A2E0EC-5664-0B1A-D533-3215832F9B82}"/>
              </a:ext>
            </a:extLst>
          </p:cNvPr>
          <p:cNvSpPr>
            <a:spLocks noGrp="1"/>
          </p:cNvSpPr>
          <p:nvPr>
            <p:ph idx="1"/>
          </p:nvPr>
        </p:nvSpPr>
        <p:spPr>
          <a:xfrm>
            <a:off x="838200" y="1503440"/>
            <a:ext cx="11353800" cy="4852909"/>
          </a:xfrm>
        </p:spPr>
        <p:txBody>
          <a:bodyPr>
            <a:normAutofit fontScale="850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ja-JP" altLang="en-US" sz="3200" b="1" dirty="0">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a typeface="メイリオ" panose="020B0604030504040204" pitchFamily="50" charset="-128"/>
              </a:rPr>
              <a:t>代表フレームの抽出，物体検出</a:t>
            </a:r>
            <a:endParaRPr kumimoji="1" lang="en-US" altLang="ja-JP" sz="3300" b="1" dirty="0"/>
          </a:p>
          <a:p>
            <a:pPr marL="0" indent="0">
              <a:lnSpc>
                <a:spcPct val="120000"/>
              </a:lnSpc>
              <a:buNone/>
            </a:pPr>
            <a:r>
              <a:rPr kumimoji="1" lang="en-US" altLang="ja-JP" sz="3300" dirty="0"/>
              <a:t>Gemini</a:t>
            </a:r>
            <a:r>
              <a:rPr lang="ja-JP" altLang="en-US" sz="3300" dirty="0"/>
              <a:t>の</a:t>
            </a:r>
            <a:r>
              <a:rPr kumimoji="1" lang="ja-JP" altLang="en-US" sz="3300" dirty="0"/>
              <a:t>イベントのタイムスタンプに基づき，動画からフレームを</a:t>
            </a:r>
            <a:br>
              <a:rPr kumimoji="1" lang="en-US" altLang="ja-JP" sz="3300" dirty="0"/>
            </a:br>
            <a:r>
              <a:rPr kumimoji="1" lang="ja-JP" altLang="en-US" sz="3300" dirty="0"/>
              <a:t>一秒あたり</a:t>
            </a:r>
            <a:r>
              <a:rPr kumimoji="1" lang="en-US" altLang="ja-JP" sz="3300" dirty="0">
                <a:solidFill>
                  <a:schemeClr val="tx1"/>
                </a:solidFill>
              </a:rPr>
              <a:t>17</a:t>
            </a:r>
            <a:r>
              <a:rPr kumimoji="1" lang="ja-JP" altLang="en-US" sz="3300" dirty="0"/>
              <a:t>枚抽出し，</a:t>
            </a:r>
            <a:r>
              <a:rPr kumimoji="1" lang="en-US" altLang="ja-JP" sz="3300" dirty="0"/>
              <a:t>Cloud</a:t>
            </a:r>
            <a:r>
              <a:rPr kumimoji="1" lang="ja-JP" altLang="en-US" sz="3300" dirty="0"/>
              <a:t> </a:t>
            </a:r>
            <a:r>
              <a:rPr kumimoji="1" lang="en-US" altLang="ja-JP" sz="3300" dirty="0"/>
              <a:t>Vision</a:t>
            </a:r>
            <a:r>
              <a:rPr kumimoji="1" lang="ja-JP" altLang="en-US" sz="3300" dirty="0"/>
              <a:t> </a:t>
            </a:r>
            <a:r>
              <a:rPr kumimoji="1" lang="en-US" altLang="ja-JP" sz="3300" dirty="0"/>
              <a:t>API</a:t>
            </a:r>
            <a:r>
              <a:rPr kumimoji="1" lang="ja-JP" altLang="en-US" sz="3300" dirty="0"/>
              <a:t>が検出</a:t>
            </a:r>
            <a:endParaRPr kumimoji="1" lang="en-US" altLang="ja-JP" sz="3300"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kumimoji="1" lang="en-US" altLang="ja-JP" dirty="0"/>
          </a:p>
          <a:p>
            <a:pPr marL="0" indent="0">
              <a:buNone/>
            </a:pPr>
            <a:endParaRPr kumimoji="1" lang="en-US" altLang="ja-JP" dirty="0"/>
          </a:p>
          <a:p>
            <a:pPr marL="0" indent="0">
              <a:lnSpc>
                <a:spcPct val="120000"/>
              </a:lnSpc>
              <a:buNone/>
            </a:pPr>
            <a:r>
              <a:rPr lang="en-US" altLang="ja-JP" sz="3400" dirty="0"/>
              <a:t>Cloud Vision API</a:t>
            </a:r>
            <a:r>
              <a:rPr lang="ja-JP" altLang="en-US" sz="3400" dirty="0"/>
              <a:t>でオブジェクトが検出されたフレーム</a:t>
            </a:r>
            <a:r>
              <a:rPr lang="en-US" altLang="ja-JP" sz="3400" dirty="0"/>
              <a:t>(</a:t>
            </a:r>
            <a:r>
              <a:rPr lang="ja-JP" altLang="en-US" sz="3400" dirty="0"/>
              <a:t>赤</a:t>
            </a:r>
            <a:r>
              <a:rPr lang="en-US" altLang="ja-JP" sz="3400" dirty="0"/>
              <a:t>)</a:t>
            </a:r>
            <a:br>
              <a:rPr lang="en-US" altLang="ja-JP" sz="3400" dirty="0"/>
            </a:br>
            <a:r>
              <a:rPr lang="ja-JP" altLang="en-US" sz="3400" dirty="0"/>
              <a:t>のうち，最大で中央の</a:t>
            </a:r>
            <a:r>
              <a:rPr lang="en-US" altLang="ja-JP" sz="3400" dirty="0">
                <a:latin typeface="+mj-ea"/>
              </a:rPr>
              <a:t>10</a:t>
            </a:r>
            <a:r>
              <a:rPr lang="ja-JP" altLang="en-US" sz="3400" dirty="0"/>
              <a:t>枚を描画</a:t>
            </a:r>
            <a:endParaRPr lang="en-US" altLang="ja-JP" sz="3400" dirty="0"/>
          </a:p>
          <a:p>
            <a:pPr marL="0" indent="0">
              <a:buNone/>
            </a:pPr>
            <a:endParaRPr lang="ja-JP" altLang="en-US" dirty="0"/>
          </a:p>
          <a:p>
            <a:pPr marL="0" indent="0">
              <a:buNone/>
            </a:pPr>
            <a:endParaRPr kumimoji="1" lang="ja-JP" altLang="en-US" dirty="0"/>
          </a:p>
        </p:txBody>
      </p:sp>
      <p:cxnSp>
        <p:nvCxnSpPr>
          <p:cNvPr id="8" name="直線コネクタ 7">
            <a:extLst>
              <a:ext uri="{FF2B5EF4-FFF2-40B4-BE49-F238E27FC236}">
                <a16:creationId xmlns:a16="http://schemas.microsoft.com/office/drawing/2014/main" id="{67A19DAB-C3EE-7700-31DA-1841570EAE0B}"/>
              </a:ext>
            </a:extLst>
          </p:cNvPr>
          <p:cNvCxnSpPr>
            <a:cxnSpLocks/>
          </p:cNvCxnSpPr>
          <p:nvPr/>
        </p:nvCxnSpPr>
        <p:spPr>
          <a:xfrm>
            <a:off x="5022387" y="3694601"/>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sp>
        <p:nvSpPr>
          <p:cNvPr id="7" name="スライド番号プレースホルダー 6">
            <a:extLst>
              <a:ext uri="{FF2B5EF4-FFF2-40B4-BE49-F238E27FC236}">
                <a16:creationId xmlns:a16="http://schemas.microsoft.com/office/drawing/2014/main" id="{EA744672-BBC8-A859-9002-73DC5C89B70E}"/>
              </a:ext>
            </a:extLst>
          </p:cNvPr>
          <p:cNvSpPr>
            <a:spLocks noGrp="1"/>
          </p:cNvSpPr>
          <p:nvPr>
            <p:ph type="sldNum" sz="quarter" idx="12"/>
          </p:nvPr>
        </p:nvSpPr>
        <p:spPr/>
        <p:txBody>
          <a:bodyPr/>
          <a:lstStyle/>
          <a:p>
            <a:fld id="{228943F0-0511-42E8-9F3F-80232065CB31}" type="slidenum">
              <a:rPr kumimoji="1" lang="ja-JP" altLang="en-US" smtClean="0"/>
              <a:t>12</a:t>
            </a:fld>
            <a:endParaRPr kumimoji="1" lang="ja-JP" altLang="en-US" dirty="0"/>
          </a:p>
        </p:txBody>
      </p:sp>
      <p:grpSp>
        <p:nvGrpSpPr>
          <p:cNvPr id="25" name="グループ化 24">
            <a:extLst>
              <a:ext uri="{FF2B5EF4-FFF2-40B4-BE49-F238E27FC236}">
                <a16:creationId xmlns:a16="http://schemas.microsoft.com/office/drawing/2014/main" id="{4974F378-66F3-4F6A-9B0D-C30DB0860883}"/>
              </a:ext>
            </a:extLst>
          </p:cNvPr>
          <p:cNvGrpSpPr/>
          <p:nvPr/>
        </p:nvGrpSpPr>
        <p:grpSpPr>
          <a:xfrm>
            <a:off x="1149177" y="2928550"/>
            <a:ext cx="9874311" cy="1921380"/>
            <a:chOff x="1158380" y="2901077"/>
            <a:chExt cx="10363050" cy="2241807"/>
          </a:xfrm>
        </p:grpSpPr>
        <p:grpSp>
          <p:nvGrpSpPr>
            <p:cNvPr id="20" name="グループ化 19">
              <a:extLst>
                <a:ext uri="{FF2B5EF4-FFF2-40B4-BE49-F238E27FC236}">
                  <a16:creationId xmlns:a16="http://schemas.microsoft.com/office/drawing/2014/main" id="{1C130144-CE82-B924-C024-611DB82D2370}"/>
                </a:ext>
              </a:extLst>
            </p:cNvPr>
            <p:cNvGrpSpPr/>
            <p:nvPr/>
          </p:nvGrpSpPr>
          <p:grpSpPr>
            <a:xfrm>
              <a:off x="1158380" y="2901077"/>
              <a:ext cx="10363050" cy="2241807"/>
              <a:chOff x="1143798" y="3315687"/>
              <a:chExt cx="10363050" cy="2241807"/>
            </a:xfrm>
          </p:grpSpPr>
          <p:sp>
            <p:nvSpPr>
              <p:cNvPr id="4" name="正方形/長方形 3">
                <a:extLst>
                  <a:ext uri="{FF2B5EF4-FFF2-40B4-BE49-F238E27FC236}">
                    <a16:creationId xmlns:a16="http://schemas.microsoft.com/office/drawing/2014/main" id="{8C45C255-A4FD-03EA-BD48-1388B5844FA4}"/>
                  </a:ext>
                </a:extLst>
              </p:cNvPr>
              <p:cNvSpPr/>
              <p:nvPr/>
            </p:nvSpPr>
            <p:spPr>
              <a:xfrm>
                <a:off x="1383957" y="3315687"/>
                <a:ext cx="8760941" cy="3274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DD340D5-7538-AC60-13CD-5945A074B766}"/>
                  </a:ext>
                </a:extLst>
              </p:cNvPr>
              <p:cNvSpPr/>
              <p:nvPr/>
            </p:nvSpPr>
            <p:spPr>
              <a:xfrm>
                <a:off x="1866557" y="3315687"/>
                <a:ext cx="988540" cy="327454"/>
              </a:xfrm>
              <a:prstGeom prst="rect">
                <a:avLst/>
              </a:prstGeom>
              <a:solidFill>
                <a:schemeClr val="bg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0" name="直線コネクタ 9">
                <a:extLst>
                  <a:ext uri="{FF2B5EF4-FFF2-40B4-BE49-F238E27FC236}">
                    <a16:creationId xmlns:a16="http://schemas.microsoft.com/office/drawing/2014/main" id="{DD6C51B7-ADAF-55F1-E116-84ECE12F2DE0}"/>
                  </a:ext>
                </a:extLst>
              </p:cNvPr>
              <p:cNvCxnSpPr/>
              <p:nvPr/>
            </p:nvCxnSpPr>
            <p:spPr>
              <a:xfrm>
                <a:off x="6699028" y="4203758"/>
                <a:ext cx="0" cy="424291"/>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4E68A93F-B79B-522D-B2E3-8202ACD8EF80}"/>
                  </a:ext>
                </a:extLst>
              </p:cNvPr>
              <p:cNvCxnSpPr/>
              <p:nvPr/>
            </p:nvCxnSpPr>
            <p:spPr>
              <a:xfrm>
                <a:off x="3772947" y="4209492"/>
                <a:ext cx="0" cy="424291"/>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63EEF698-8D72-7C4A-52D5-B62FBD20AB59}"/>
                  </a:ext>
                </a:extLst>
              </p:cNvPr>
              <p:cNvCxnSpPr/>
              <p:nvPr/>
            </p:nvCxnSpPr>
            <p:spPr>
              <a:xfrm>
                <a:off x="2360827" y="4209492"/>
                <a:ext cx="0" cy="424291"/>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8A10A0B5-E7AD-42AC-562A-8F48D6458F1F}"/>
                  </a:ext>
                </a:extLst>
              </p:cNvPr>
              <p:cNvCxnSpPr>
                <a:cxnSpLocks/>
              </p:cNvCxnSpPr>
              <p:nvPr/>
            </p:nvCxnSpPr>
            <p:spPr>
              <a:xfrm>
                <a:off x="1866557" y="3643141"/>
                <a:ext cx="494270" cy="56635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172B40A1-3074-6E63-D260-B2EEFD2AEFE3}"/>
                  </a:ext>
                </a:extLst>
              </p:cNvPr>
              <p:cNvCxnSpPr>
                <a:cxnSpLocks/>
              </p:cNvCxnSpPr>
              <p:nvPr/>
            </p:nvCxnSpPr>
            <p:spPr>
              <a:xfrm>
                <a:off x="2855097" y="3643141"/>
                <a:ext cx="5075362" cy="560617"/>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EE2E6094-D7D5-9D59-8490-90FEDF384310}"/>
                  </a:ext>
                </a:extLst>
              </p:cNvPr>
              <p:cNvCxnSpPr/>
              <p:nvPr/>
            </p:nvCxnSpPr>
            <p:spPr>
              <a:xfrm>
                <a:off x="5547598" y="5119015"/>
                <a:ext cx="0" cy="42429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E32DFAD4-D727-FE75-EAEB-2331425BC1AA}"/>
                  </a:ext>
                </a:extLst>
              </p:cNvPr>
              <p:cNvCxnSpPr/>
              <p:nvPr/>
            </p:nvCxnSpPr>
            <p:spPr>
              <a:xfrm>
                <a:off x="4857728" y="5133203"/>
                <a:ext cx="0" cy="42429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DD75EB50-8EB7-BF1A-6E7C-B4CDB3093E09}"/>
                  </a:ext>
                </a:extLst>
              </p:cNvPr>
              <p:cNvCxnSpPr/>
              <p:nvPr/>
            </p:nvCxnSpPr>
            <p:spPr>
              <a:xfrm>
                <a:off x="2360827" y="5133203"/>
                <a:ext cx="0" cy="424291"/>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676C3AD3-53D2-48E6-7035-35E134EE96BE}"/>
                  </a:ext>
                </a:extLst>
              </p:cNvPr>
              <p:cNvCxnSpPr/>
              <p:nvPr/>
            </p:nvCxnSpPr>
            <p:spPr>
              <a:xfrm>
                <a:off x="5185032" y="5133203"/>
                <a:ext cx="0" cy="42429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52213902-D6C0-941A-7F78-268101039263}"/>
                  </a:ext>
                </a:extLst>
              </p:cNvPr>
              <p:cNvSpPr txBox="1"/>
              <p:nvPr/>
            </p:nvSpPr>
            <p:spPr>
              <a:xfrm>
                <a:off x="1143798" y="3692343"/>
                <a:ext cx="857057" cy="430925"/>
              </a:xfrm>
              <a:prstGeom prst="rect">
                <a:avLst/>
              </a:prstGeom>
              <a:noFill/>
            </p:spPr>
            <p:txBody>
              <a:bodyPr wrap="square" rtlCol="0">
                <a:spAutoFit/>
              </a:bodyPr>
              <a:lstStyle/>
              <a:p>
                <a:r>
                  <a:rPr kumimoji="1" lang="en-US" altLang="ja-JP" b="1" dirty="0">
                    <a:latin typeface="+mj-ea"/>
                    <a:ea typeface="+mj-ea"/>
                  </a:rPr>
                  <a:t>0</a:t>
                </a:r>
                <a:r>
                  <a:rPr kumimoji="1" lang="ja-JP" altLang="en-US" b="1" dirty="0">
                    <a:latin typeface="+mj-ea"/>
                    <a:ea typeface="+mj-ea"/>
                  </a:rPr>
                  <a:t>秒</a:t>
                </a:r>
              </a:p>
            </p:txBody>
          </p:sp>
          <p:sp>
            <p:nvSpPr>
              <p:cNvPr id="18" name="テキスト ボックス 17">
                <a:extLst>
                  <a:ext uri="{FF2B5EF4-FFF2-40B4-BE49-F238E27FC236}">
                    <a16:creationId xmlns:a16="http://schemas.microsoft.com/office/drawing/2014/main" id="{43D5B239-47E7-1661-EE43-E9146FFE13E9}"/>
                  </a:ext>
                </a:extLst>
              </p:cNvPr>
              <p:cNvSpPr txBox="1"/>
              <p:nvPr/>
            </p:nvSpPr>
            <p:spPr>
              <a:xfrm>
                <a:off x="9775069" y="3692650"/>
                <a:ext cx="1731779" cy="369332"/>
              </a:xfrm>
              <a:prstGeom prst="rect">
                <a:avLst/>
              </a:prstGeom>
              <a:noFill/>
            </p:spPr>
            <p:txBody>
              <a:bodyPr wrap="square" rtlCol="0">
                <a:spAutoFit/>
              </a:bodyPr>
              <a:lstStyle/>
              <a:p>
                <a:r>
                  <a:rPr kumimoji="1" lang="ja-JP" altLang="en-US" b="1" dirty="0"/>
                  <a:t>動画の終わり</a:t>
                </a:r>
              </a:p>
            </p:txBody>
          </p:sp>
        </p:grpSp>
        <p:cxnSp>
          <p:nvCxnSpPr>
            <p:cNvPr id="24" name="直線コネクタ 23">
              <a:extLst>
                <a:ext uri="{FF2B5EF4-FFF2-40B4-BE49-F238E27FC236}">
                  <a16:creationId xmlns:a16="http://schemas.microsoft.com/office/drawing/2014/main" id="{FBC2A147-410E-F63D-33D6-CB8051D443D9}"/>
                </a:ext>
              </a:extLst>
            </p:cNvPr>
            <p:cNvCxnSpPr/>
            <p:nvPr/>
          </p:nvCxnSpPr>
          <p:spPr>
            <a:xfrm>
              <a:off x="5184774" y="3789148"/>
              <a:ext cx="0" cy="424291"/>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grpSp>
      <p:cxnSp>
        <p:nvCxnSpPr>
          <p:cNvPr id="12" name="直線コネクタ 11">
            <a:extLst>
              <a:ext uri="{FF2B5EF4-FFF2-40B4-BE49-F238E27FC236}">
                <a16:creationId xmlns:a16="http://schemas.microsoft.com/office/drawing/2014/main" id="{8ACABD11-6A3F-EE39-6B77-F55429D92BC0}"/>
              </a:ext>
            </a:extLst>
          </p:cNvPr>
          <p:cNvCxnSpPr/>
          <p:nvPr/>
        </p:nvCxnSpPr>
        <p:spPr>
          <a:xfrm>
            <a:off x="3018329" y="36982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BAD53FD4-4424-866D-859D-774669DB613D}"/>
              </a:ext>
            </a:extLst>
          </p:cNvPr>
          <p:cNvCxnSpPr>
            <a:cxnSpLocks/>
          </p:cNvCxnSpPr>
          <p:nvPr/>
        </p:nvCxnSpPr>
        <p:spPr>
          <a:xfrm>
            <a:off x="5735729" y="3698287"/>
            <a:ext cx="0" cy="3550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15" name="直線コネクタ 14">
            <a:extLst>
              <a:ext uri="{FF2B5EF4-FFF2-40B4-BE49-F238E27FC236}">
                <a16:creationId xmlns:a16="http://schemas.microsoft.com/office/drawing/2014/main" id="{0A2C11CC-6D9B-5650-8550-DFB0901F0B02}"/>
              </a:ext>
            </a:extLst>
          </p:cNvPr>
          <p:cNvCxnSpPr/>
          <p:nvPr/>
        </p:nvCxnSpPr>
        <p:spPr>
          <a:xfrm>
            <a:off x="7103974" y="36982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788F1DA8-2E4B-214C-1A64-63F33C91FC35}"/>
              </a:ext>
            </a:extLst>
          </p:cNvPr>
          <p:cNvCxnSpPr/>
          <p:nvPr/>
        </p:nvCxnSpPr>
        <p:spPr>
          <a:xfrm>
            <a:off x="7418079" y="36896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33977AA3-5E34-2498-889D-4295A759226D}"/>
              </a:ext>
            </a:extLst>
          </p:cNvPr>
          <p:cNvCxnSpPr/>
          <p:nvPr/>
        </p:nvCxnSpPr>
        <p:spPr>
          <a:xfrm>
            <a:off x="6756478" y="36896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C32F3910-48A9-F833-4EE7-2324C5683858}"/>
              </a:ext>
            </a:extLst>
          </p:cNvPr>
          <p:cNvCxnSpPr/>
          <p:nvPr/>
        </p:nvCxnSpPr>
        <p:spPr>
          <a:xfrm>
            <a:off x="6096000" y="3693906"/>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EF4536C2-F018-B7AF-753F-4D9BFE90CC5D}"/>
              </a:ext>
            </a:extLst>
          </p:cNvPr>
          <p:cNvCxnSpPr/>
          <p:nvPr/>
        </p:nvCxnSpPr>
        <p:spPr>
          <a:xfrm>
            <a:off x="5360823" y="36896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5C0259B-517A-5839-8327-FEBBAD075B5B}"/>
              </a:ext>
            </a:extLst>
          </p:cNvPr>
          <p:cNvCxnSpPr/>
          <p:nvPr/>
        </p:nvCxnSpPr>
        <p:spPr>
          <a:xfrm>
            <a:off x="4687952" y="36896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23F31F0F-315A-2F2F-7E91-F3C8D381B8DD}"/>
              </a:ext>
            </a:extLst>
          </p:cNvPr>
          <p:cNvCxnSpPr/>
          <p:nvPr/>
        </p:nvCxnSpPr>
        <p:spPr>
          <a:xfrm>
            <a:off x="4028465" y="36896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D9E54B91-CC6B-18D2-4B8F-48FB54126123}"/>
              </a:ext>
            </a:extLst>
          </p:cNvPr>
          <p:cNvCxnSpPr/>
          <p:nvPr/>
        </p:nvCxnSpPr>
        <p:spPr>
          <a:xfrm>
            <a:off x="3337175" y="36982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C093BC16-D0FB-7A8C-FE3D-19A71F828450}"/>
              </a:ext>
            </a:extLst>
          </p:cNvPr>
          <p:cNvCxnSpPr/>
          <p:nvPr/>
        </p:nvCxnSpPr>
        <p:spPr>
          <a:xfrm>
            <a:off x="2682209" y="3698287"/>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45" name="直線コネクタ 44">
            <a:extLst>
              <a:ext uri="{FF2B5EF4-FFF2-40B4-BE49-F238E27FC236}">
                <a16:creationId xmlns:a16="http://schemas.microsoft.com/office/drawing/2014/main" id="{704810B0-38C2-0B45-8464-D9C78E1C0E4F}"/>
              </a:ext>
            </a:extLst>
          </p:cNvPr>
          <p:cNvCxnSpPr/>
          <p:nvPr/>
        </p:nvCxnSpPr>
        <p:spPr>
          <a:xfrm>
            <a:off x="5735729" y="4486284"/>
            <a:ext cx="0" cy="3636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 name="直線コネクタ 45">
            <a:extLst>
              <a:ext uri="{FF2B5EF4-FFF2-40B4-BE49-F238E27FC236}">
                <a16:creationId xmlns:a16="http://schemas.microsoft.com/office/drawing/2014/main" id="{CFBC8A14-0900-F636-8F6E-C3BF27EF021C}"/>
              </a:ext>
            </a:extLst>
          </p:cNvPr>
          <p:cNvCxnSpPr/>
          <p:nvPr/>
        </p:nvCxnSpPr>
        <p:spPr>
          <a:xfrm>
            <a:off x="6094586" y="4474124"/>
            <a:ext cx="0" cy="3636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7" name="直線コネクタ 46">
            <a:extLst>
              <a:ext uri="{FF2B5EF4-FFF2-40B4-BE49-F238E27FC236}">
                <a16:creationId xmlns:a16="http://schemas.microsoft.com/office/drawing/2014/main" id="{C946E615-2720-B95E-4D75-809AC0FEAB87}"/>
              </a:ext>
            </a:extLst>
          </p:cNvPr>
          <p:cNvCxnSpPr/>
          <p:nvPr/>
        </p:nvCxnSpPr>
        <p:spPr>
          <a:xfrm>
            <a:off x="6440999" y="4486284"/>
            <a:ext cx="0" cy="3636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 name="直線コネクタ 47">
            <a:extLst>
              <a:ext uri="{FF2B5EF4-FFF2-40B4-BE49-F238E27FC236}">
                <a16:creationId xmlns:a16="http://schemas.microsoft.com/office/drawing/2014/main" id="{3A817811-A643-0E48-1A4E-319A9C51CE37}"/>
              </a:ext>
            </a:extLst>
          </p:cNvPr>
          <p:cNvCxnSpPr/>
          <p:nvPr/>
        </p:nvCxnSpPr>
        <p:spPr>
          <a:xfrm>
            <a:off x="4362098" y="4486284"/>
            <a:ext cx="0" cy="3636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 name="直線コネクタ 48">
            <a:extLst>
              <a:ext uri="{FF2B5EF4-FFF2-40B4-BE49-F238E27FC236}">
                <a16:creationId xmlns:a16="http://schemas.microsoft.com/office/drawing/2014/main" id="{532A844B-90EE-E517-D6B5-FEF36B374ED2}"/>
              </a:ext>
            </a:extLst>
          </p:cNvPr>
          <p:cNvCxnSpPr/>
          <p:nvPr/>
        </p:nvCxnSpPr>
        <p:spPr>
          <a:xfrm>
            <a:off x="4028465" y="4474124"/>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50" name="直線コネクタ 49">
            <a:extLst>
              <a:ext uri="{FF2B5EF4-FFF2-40B4-BE49-F238E27FC236}">
                <a16:creationId xmlns:a16="http://schemas.microsoft.com/office/drawing/2014/main" id="{F3A1D491-4585-5542-8057-3B447ECB309A}"/>
              </a:ext>
            </a:extLst>
          </p:cNvPr>
          <p:cNvCxnSpPr/>
          <p:nvPr/>
        </p:nvCxnSpPr>
        <p:spPr>
          <a:xfrm>
            <a:off x="3654331" y="4486284"/>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51" name="直線コネクタ 50">
            <a:extLst>
              <a:ext uri="{FF2B5EF4-FFF2-40B4-BE49-F238E27FC236}">
                <a16:creationId xmlns:a16="http://schemas.microsoft.com/office/drawing/2014/main" id="{683699DC-AB63-87F1-6304-D3B8F0523093}"/>
              </a:ext>
            </a:extLst>
          </p:cNvPr>
          <p:cNvCxnSpPr/>
          <p:nvPr/>
        </p:nvCxnSpPr>
        <p:spPr>
          <a:xfrm>
            <a:off x="3339740" y="4486284"/>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52" name="直線コネクタ 51">
            <a:extLst>
              <a:ext uri="{FF2B5EF4-FFF2-40B4-BE49-F238E27FC236}">
                <a16:creationId xmlns:a16="http://schemas.microsoft.com/office/drawing/2014/main" id="{9B554F4E-C33E-7D4D-DF93-0B48A66FB63F}"/>
              </a:ext>
            </a:extLst>
          </p:cNvPr>
          <p:cNvCxnSpPr/>
          <p:nvPr/>
        </p:nvCxnSpPr>
        <p:spPr>
          <a:xfrm>
            <a:off x="3039944" y="4486284"/>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53" name="直線コネクタ 52">
            <a:extLst>
              <a:ext uri="{FF2B5EF4-FFF2-40B4-BE49-F238E27FC236}">
                <a16:creationId xmlns:a16="http://schemas.microsoft.com/office/drawing/2014/main" id="{5B0DA7FA-F74F-477B-08EB-48FF9D554A2F}"/>
              </a:ext>
            </a:extLst>
          </p:cNvPr>
          <p:cNvCxnSpPr/>
          <p:nvPr/>
        </p:nvCxnSpPr>
        <p:spPr>
          <a:xfrm>
            <a:off x="2682209" y="4486284"/>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54" name="直線コネクタ 53">
            <a:extLst>
              <a:ext uri="{FF2B5EF4-FFF2-40B4-BE49-F238E27FC236}">
                <a16:creationId xmlns:a16="http://schemas.microsoft.com/office/drawing/2014/main" id="{49EFFC07-3F95-60BF-0B91-DCA8B75A79F0}"/>
              </a:ext>
            </a:extLst>
          </p:cNvPr>
          <p:cNvCxnSpPr/>
          <p:nvPr/>
        </p:nvCxnSpPr>
        <p:spPr>
          <a:xfrm>
            <a:off x="6778093" y="4486284"/>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55" name="直線コネクタ 54">
            <a:extLst>
              <a:ext uri="{FF2B5EF4-FFF2-40B4-BE49-F238E27FC236}">
                <a16:creationId xmlns:a16="http://schemas.microsoft.com/office/drawing/2014/main" id="{071B0DA7-39B4-D8EE-0F2A-A1C671C24B98}"/>
              </a:ext>
            </a:extLst>
          </p:cNvPr>
          <p:cNvCxnSpPr/>
          <p:nvPr/>
        </p:nvCxnSpPr>
        <p:spPr>
          <a:xfrm>
            <a:off x="7103974" y="4474124"/>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56" name="直線コネクタ 55">
            <a:extLst>
              <a:ext uri="{FF2B5EF4-FFF2-40B4-BE49-F238E27FC236}">
                <a16:creationId xmlns:a16="http://schemas.microsoft.com/office/drawing/2014/main" id="{22F7F703-CD6F-F767-C8B6-DEE757EB1157}"/>
              </a:ext>
            </a:extLst>
          </p:cNvPr>
          <p:cNvCxnSpPr/>
          <p:nvPr/>
        </p:nvCxnSpPr>
        <p:spPr>
          <a:xfrm>
            <a:off x="7418079" y="4486284"/>
            <a:ext cx="0" cy="363646"/>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grpSp>
        <p:nvGrpSpPr>
          <p:cNvPr id="157" name="グループ化 156">
            <a:extLst>
              <a:ext uri="{FF2B5EF4-FFF2-40B4-BE49-F238E27FC236}">
                <a16:creationId xmlns:a16="http://schemas.microsoft.com/office/drawing/2014/main" id="{4BBA2487-0E80-6899-E5A4-28F41E15B6BC}"/>
              </a:ext>
            </a:extLst>
          </p:cNvPr>
          <p:cNvGrpSpPr/>
          <p:nvPr/>
        </p:nvGrpSpPr>
        <p:grpSpPr>
          <a:xfrm>
            <a:off x="2308808" y="3686506"/>
            <a:ext cx="5296505" cy="436131"/>
            <a:chOff x="5101781" y="1244915"/>
            <a:chExt cx="5926826" cy="363646"/>
          </a:xfrm>
          <a:solidFill>
            <a:sysClr val="windowText" lastClr="000000">
              <a:lumMod val="95000"/>
              <a:lumOff val="5000"/>
            </a:sysClr>
          </a:solidFill>
        </p:grpSpPr>
        <p:grpSp>
          <p:nvGrpSpPr>
            <p:cNvPr id="158" name="グループ化 157">
              <a:extLst>
                <a:ext uri="{FF2B5EF4-FFF2-40B4-BE49-F238E27FC236}">
                  <a16:creationId xmlns:a16="http://schemas.microsoft.com/office/drawing/2014/main" id="{A5BDD160-C638-BC71-2DBA-3A3CD43F0D92}"/>
                </a:ext>
              </a:extLst>
            </p:cNvPr>
            <p:cNvGrpSpPr/>
            <p:nvPr/>
          </p:nvGrpSpPr>
          <p:grpSpPr>
            <a:xfrm>
              <a:off x="5101781" y="1244915"/>
              <a:ext cx="1492706" cy="363646"/>
              <a:chOff x="5605124" y="1327042"/>
              <a:chExt cx="1492706" cy="363646"/>
            </a:xfrm>
            <a:grpFill/>
          </p:grpSpPr>
          <p:grpSp>
            <p:nvGrpSpPr>
              <p:cNvPr id="234" name="グループ化 233">
                <a:extLst>
                  <a:ext uri="{FF2B5EF4-FFF2-40B4-BE49-F238E27FC236}">
                    <a16:creationId xmlns:a16="http://schemas.microsoft.com/office/drawing/2014/main" id="{2FA6AB13-58EE-8CEE-BB90-C2A86FA14628}"/>
                  </a:ext>
                </a:extLst>
              </p:cNvPr>
              <p:cNvGrpSpPr/>
              <p:nvPr/>
            </p:nvGrpSpPr>
            <p:grpSpPr>
              <a:xfrm>
                <a:off x="5605124" y="1327042"/>
                <a:ext cx="384176" cy="363646"/>
                <a:chOff x="4300199" y="961246"/>
                <a:chExt cx="384176" cy="363646"/>
              </a:xfrm>
              <a:grpFill/>
            </p:grpSpPr>
            <p:sp>
              <p:nvSpPr>
                <p:cNvPr id="253" name="正方形/長方形 252">
                  <a:extLst>
                    <a:ext uri="{FF2B5EF4-FFF2-40B4-BE49-F238E27FC236}">
                      <a16:creationId xmlns:a16="http://schemas.microsoft.com/office/drawing/2014/main" id="{2D83C172-78FE-136F-7CA1-63CB3E2EF247}"/>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54" name="直線コネクタ 253">
                  <a:extLst>
                    <a:ext uri="{FF2B5EF4-FFF2-40B4-BE49-F238E27FC236}">
                      <a16:creationId xmlns:a16="http://schemas.microsoft.com/office/drawing/2014/main" id="{1A6AF6A4-2FCB-03AA-11C2-0A2A4F4FE645}"/>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55" name="直線コネクタ 254">
                  <a:extLst>
                    <a:ext uri="{FF2B5EF4-FFF2-40B4-BE49-F238E27FC236}">
                      <a16:creationId xmlns:a16="http://schemas.microsoft.com/office/drawing/2014/main" id="{872D9417-A49C-99D8-934E-1B889D3DFCBE}"/>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56" name="直線コネクタ 255">
                  <a:extLst>
                    <a:ext uri="{FF2B5EF4-FFF2-40B4-BE49-F238E27FC236}">
                      <a16:creationId xmlns:a16="http://schemas.microsoft.com/office/drawing/2014/main" id="{134BD9C9-1793-4836-76B7-137328FB95D0}"/>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57" name="直線コネクタ 256">
                  <a:extLst>
                    <a:ext uri="{FF2B5EF4-FFF2-40B4-BE49-F238E27FC236}">
                      <a16:creationId xmlns:a16="http://schemas.microsoft.com/office/drawing/2014/main" id="{052B6DC5-BF2A-4743-1D1F-FC0FC93A1B70}"/>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235" name="グループ化 234">
                <a:extLst>
                  <a:ext uri="{FF2B5EF4-FFF2-40B4-BE49-F238E27FC236}">
                    <a16:creationId xmlns:a16="http://schemas.microsoft.com/office/drawing/2014/main" id="{DB69FEAB-0BDE-D7AA-00A1-E19E541A8922}"/>
                  </a:ext>
                </a:extLst>
              </p:cNvPr>
              <p:cNvGrpSpPr/>
              <p:nvPr/>
            </p:nvGrpSpPr>
            <p:grpSpPr>
              <a:xfrm>
                <a:off x="5974634" y="1327042"/>
                <a:ext cx="384176" cy="363646"/>
                <a:chOff x="4300199" y="961246"/>
                <a:chExt cx="384176" cy="363646"/>
              </a:xfrm>
              <a:grpFill/>
            </p:grpSpPr>
            <p:sp>
              <p:nvSpPr>
                <p:cNvPr id="248" name="正方形/長方形 247">
                  <a:extLst>
                    <a:ext uri="{FF2B5EF4-FFF2-40B4-BE49-F238E27FC236}">
                      <a16:creationId xmlns:a16="http://schemas.microsoft.com/office/drawing/2014/main" id="{30A52DF4-0D5E-0F82-C1F0-D2B6C33FB492}"/>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49" name="直線コネクタ 248">
                  <a:extLst>
                    <a:ext uri="{FF2B5EF4-FFF2-40B4-BE49-F238E27FC236}">
                      <a16:creationId xmlns:a16="http://schemas.microsoft.com/office/drawing/2014/main" id="{6745083C-5941-7A4E-26B2-FEB854D9B57D}"/>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50" name="直線コネクタ 249">
                  <a:extLst>
                    <a:ext uri="{FF2B5EF4-FFF2-40B4-BE49-F238E27FC236}">
                      <a16:creationId xmlns:a16="http://schemas.microsoft.com/office/drawing/2014/main" id="{05E4581D-5903-33BB-58E3-AA33A27B5737}"/>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51" name="直線コネクタ 250">
                  <a:extLst>
                    <a:ext uri="{FF2B5EF4-FFF2-40B4-BE49-F238E27FC236}">
                      <a16:creationId xmlns:a16="http://schemas.microsoft.com/office/drawing/2014/main" id="{5BA90069-12FE-A9CD-4DB4-9819F8AAFF53}"/>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52" name="直線コネクタ 251">
                  <a:extLst>
                    <a:ext uri="{FF2B5EF4-FFF2-40B4-BE49-F238E27FC236}">
                      <a16:creationId xmlns:a16="http://schemas.microsoft.com/office/drawing/2014/main" id="{FAB24AE6-2BB7-84B5-46FD-4CE7F5B6A82A}"/>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236" name="グループ化 235">
                <a:extLst>
                  <a:ext uri="{FF2B5EF4-FFF2-40B4-BE49-F238E27FC236}">
                    <a16:creationId xmlns:a16="http://schemas.microsoft.com/office/drawing/2014/main" id="{81FE2E85-BF7B-6B44-5134-DD8B1E75BB6A}"/>
                  </a:ext>
                </a:extLst>
              </p:cNvPr>
              <p:cNvGrpSpPr/>
              <p:nvPr/>
            </p:nvGrpSpPr>
            <p:grpSpPr>
              <a:xfrm>
                <a:off x="6344144" y="1327042"/>
                <a:ext cx="384176" cy="363646"/>
                <a:chOff x="4300199" y="961246"/>
                <a:chExt cx="384176" cy="363646"/>
              </a:xfrm>
              <a:grpFill/>
            </p:grpSpPr>
            <p:sp>
              <p:nvSpPr>
                <p:cNvPr id="243" name="正方形/長方形 242">
                  <a:extLst>
                    <a:ext uri="{FF2B5EF4-FFF2-40B4-BE49-F238E27FC236}">
                      <a16:creationId xmlns:a16="http://schemas.microsoft.com/office/drawing/2014/main" id="{6B6C6D87-1B82-4DCC-6162-AA6EF59498A6}"/>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44" name="直線コネクタ 243">
                  <a:extLst>
                    <a:ext uri="{FF2B5EF4-FFF2-40B4-BE49-F238E27FC236}">
                      <a16:creationId xmlns:a16="http://schemas.microsoft.com/office/drawing/2014/main" id="{CD183218-D1C3-6041-D36C-024BEFF040DA}"/>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45" name="直線コネクタ 244">
                  <a:extLst>
                    <a:ext uri="{FF2B5EF4-FFF2-40B4-BE49-F238E27FC236}">
                      <a16:creationId xmlns:a16="http://schemas.microsoft.com/office/drawing/2014/main" id="{C529C2A1-5CD8-D15A-AE2B-1DA789AE6FDC}"/>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46" name="直線コネクタ 245">
                  <a:extLst>
                    <a:ext uri="{FF2B5EF4-FFF2-40B4-BE49-F238E27FC236}">
                      <a16:creationId xmlns:a16="http://schemas.microsoft.com/office/drawing/2014/main" id="{5945203A-3DB6-4831-624F-5DF60C4E9931}"/>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47" name="直線コネクタ 246">
                  <a:extLst>
                    <a:ext uri="{FF2B5EF4-FFF2-40B4-BE49-F238E27FC236}">
                      <a16:creationId xmlns:a16="http://schemas.microsoft.com/office/drawing/2014/main" id="{A57335C8-AB1A-68CF-EA1D-394B32820939}"/>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237" name="グループ化 236">
                <a:extLst>
                  <a:ext uri="{FF2B5EF4-FFF2-40B4-BE49-F238E27FC236}">
                    <a16:creationId xmlns:a16="http://schemas.microsoft.com/office/drawing/2014/main" id="{3CBA4460-4321-647C-87E0-BD1AC26510C4}"/>
                  </a:ext>
                </a:extLst>
              </p:cNvPr>
              <p:cNvGrpSpPr/>
              <p:nvPr/>
            </p:nvGrpSpPr>
            <p:grpSpPr>
              <a:xfrm>
                <a:off x="6713654" y="1327042"/>
                <a:ext cx="384176" cy="363646"/>
                <a:chOff x="4300199" y="961246"/>
                <a:chExt cx="384176" cy="363646"/>
              </a:xfrm>
              <a:grpFill/>
            </p:grpSpPr>
            <p:sp>
              <p:nvSpPr>
                <p:cNvPr id="238" name="正方形/長方形 237">
                  <a:extLst>
                    <a:ext uri="{FF2B5EF4-FFF2-40B4-BE49-F238E27FC236}">
                      <a16:creationId xmlns:a16="http://schemas.microsoft.com/office/drawing/2014/main" id="{84F75ABF-E5B6-C79C-E7D5-0E2D17E25B95}"/>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39" name="直線コネクタ 238">
                  <a:extLst>
                    <a:ext uri="{FF2B5EF4-FFF2-40B4-BE49-F238E27FC236}">
                      <a16:creationId xmlns:a16="http://schemas.microsoft.com/office/drawing/2014/main" id="{97A9FFAB-48C3-89BD-FB0A-69F3D2A65A78}"/>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40" name="直線コネクタ 239">
                  <a:extLst>
                    <a:ext uri="{FF2B5EF4-FFF2-40B4-BE49-F238E27FC236}">
                      <a16:creationId xmlns:a16="http://schemas.microsoft.com/office/drawing/2014/main" id="{41FFF818-D2F9-68E6-98F6-A90FFE429262}"/>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41" name="直線コネクタ 240">
                  <a:extLst>
                    <a:ext uri="{FF2B5EF4-FFF2-40B4-BE49-F238E27FC236}">
                      <a16:creationId xmlns:a16="http://schemas.microsoft.com/office/drawing/2014/main" id="{F84FC18D-E515-D452-33D3-B6A7C3653300}"/>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42" name="直線コネクタ 241">
                  <a:extLst>
                    <a:ext uri="{FF2B5EF4-FFF2-40B4-BE49-F238E27FC236}">
                      <a16:creationId xmlns:a16="http://schemas.microsoft.com/office/drawing/2014/main" id="{825659CC-0F29-7E33-D9BE-961FD7C6A7C7}"/>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grpSp>
          <p:nvGrpSpPr>
            <p:cNvPr id="159" name="グループ化 158">
              <a:extLst>
                <a:ext uri="{FF2B5EF4-FFF2-40B4-BE49-F238E27FC236}">
                  <a16:creationId xmlns:a16="http://schemas.microsoft.com/office/drawing/2014/main" id="{1359669E-9EC7-1F84-B174-69F6099839B9}"/>
                </a:ext>
              </a:extLst>
            </p:cNvPr>
            <p:cNvGrpSpPr/>
            <p:nvPr/>
          </p:nvGrpSpPr>
          <p:grpSpPr>
            <a:xfrm>
              <a:off x="6579821" y="1244915"/>
              <a:ext cx="1492706" cy="363646"/>
              <a:chOff x="5605124" y="1327042"/>
              <a:chExt cx="1492706" cy="363646"/>
            </a:xfrm>
            <a:grpFill/>
          </p:grpSpPr>
          <p:grpSp>
            <p:nvGrpSpPr>
              <p:cNvPr id="210" name="グループ化 209">
                <a:extLst>
                  <a:ext uri="{FF2B5EF4-FFF2-40B4-BE49-F238E27FC236}">
                    <a16:creationId xmlns:a16="http://schemas.microsoft.com/office/drawing/2014/main" id="{A7862A75-58BA-522C-DB88-F58995CBE126}"/>
                  </a:ext>
                </a:extLst>
              </p:cNvPr>
              <p:cNvGrpSpPr/>
              <p:nvPr/>
            </p:nvGrpSpPr>
            <p:grpSpPr>
              <a:xfrm>
                <a:off x="5605124" y="1327042"/>
                <a:ext cx="384176" cy="363646"/>
                <a:chOff x="4300199" y="961246"/>
                <a:chExt cx="384176" cy="363646"/>
              </a:xfrm>
              <a:grpFill/>
            </p:grpSpPr>
            <p:sp>
              <p:nvSpPr>
                <p:cNvPr id="229" name="正方形/長方形 228">
                  <a:extLst>
                    <a:ext uri="{FF2B5EF4-FFF2-40B4-BE49-F238E27FC236}">
                      <a16:creationId xmlns:a16="http://schemas.microsoft.com/office/drawing/2014/main" id="{95CAD2E5-69DC-003A-ED47-E2081D279C72}"/>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30" name="直線コネクタ 229">
                  <a:extLst>
                    <a:ext uri="{FF2B5EF4-FFF2-40B4-BE49-F238E27FC236}">
                      <a16:creationId xmlns:a16="http://schemas.microsoft.com/office/drawing/2014/main" id="{4345AE5D-ADA8-10AD-0369-9651487AE11F}"/>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31" name="直線コネクタ 230">
                  <a:extLst>
                    <a:ext uri="{FF2B5EF4-FFF2-40B4-BE49-F238E27FC236}">
                      <a16:creationId xmlns:a16="http://schemas.microsoft.com/office/drawing/2014/main" id="{30D52C86-4565-7F06-1679-4FA2914F20E9}"/>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32" name="直線コネクタ 231">
                  <a:extLst>
                    <a:ext uri="{FF2B5EF4-FFF2-40B4-BE49-F238E27FC236}">
                      <a16:creationId xmlns:a16="http://schemas.microsoft.com/office/drawing/2014/main" id="{0186FE9D-D2A1-BDF2-5038-49902A1F4245}"/>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33" name="直線コネクタ 232">
                  <a:extLst>
                    <a:ext uri="{FF2B5EF4-FFF2-40B4-BE49-F238E27FC236}">
                      <a16:creationId xmlns:a16="http://schemas.microsoft.com/office/drawing/2014/main" id="{791CE38F-6E88-C833-385E-8E4726ED9BF5}"/>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211" name="グループ化 210">
                <a:extLst>
                  <a:ext uri="{FF2B5EF4-FFF2-40B4-BE49-F238E27FC236}">
                    <a16:creationId xmlns:a16="http://schemas.microsoft.com/office/drawing/2014/main" id="{C5F1A4D8-1F6C-B764-16CE-F9B7E5CD8F23}"/>
                  </a:ext>
                </a:extLst>
              </p:cNvPr>
              <p:cNvGrpSpPr/>
              <p:nvPr/>
            </p:nvGrpSpPr>
            <p:grpSpPr>
              <a:xfrm>
                <a:off x="5974634" y="1327042"/>
                <a:ext cx="384176" cy="363646"/>
                <a:chOff x="4300199" y="961246"/>
                <a:chExt cx="384176" cy="363646"/>
              </a:xfrm>
              <a:grpFill/>
            </p:grpSpPr>
            <p:sp>
              <p:nvSpPr>
                <p:cNvPr id="224" name="正方形/長方形 223">
                  <a:extLst>
                    <a:ext uri="{FF2B5EF4-FFF2-40B4-BE49-F238E27FC236}">
                      <a16:creationId xmlns:a16="http://schemas.microsoft.com/office/drawing/2014/main" id="{F3A5F5E6-F711-28AE-90A6-EBA8963B9CE9}"/>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25" name="直線コネクタ 224">
                  <a:extLst>
                    <a:ext uri="{FF2B5EF4-FFF2-40B4-BE49-F238E27FC236}">
                      <a16:creationId xmlns:a16="http://schemas.microsoft.com/office/drawing/2014/main" id="{769AC4C5-1A1A-246D-D218-3D8D1C937387}"/>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26" name="直線コネクタ 225">
                  <a:extLst>
                    <a:ext uri="{FF2B5EF4-FFF2-40B4-BE49-F238E27FC236}">
                      <a16:creationId xmlns:a16="http://schemas.microsoft.com/office/drawing/2014/main" id="{B2BF50C1-751A-2199-3CC0-A6FC0AF01317}"/>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27" name="直線コネクタ 226">
                  <a:extLst>
                    <a:ext uri="{FF2B5EF4-FFF2-40B4-BE49-F238E27FC236}">
                      <a16:creationId xmlns:a16="http://schemas.microsoft.com/office/drawing/2014/main" id="{15E19C6F-DA46-0F71-9D13-A800554F87E7}"/>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28" name="直線コネクタ 227">
                  <a:extLst>
                    <a:ext uri="{FF2B5EF4-FFF2-40B4-BE49-F238E27FC236}">
                      <a16:creationId xmlns:a16="http://schemas.microsoft.com/office/drawing/2014/main" id="{50D58E9A-C30F-D69A-38B4-05D798732D5D}"/>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212" name="グループ化 211">
                <a:extLst>
                  <a:ext uri="{FF2B5EF4-FFF2-40B4-BE49-F238E27FC236}">
                    <a16:creationId xmlns:a16="http://schemas.microsoft.com/office/drawing/2014/main" id="{D4F3D046-DEF5-B7AE-91C9-9A205BA357C3}"/>
                  </a:ext>
                </a:extLst>
              </p:cNvPr>
              <p:cNvGrpSpPr/>
              <p:nvPr/>
            </p:nvGrpSpPr>
            <p:grpSpPr>
              <a:xfrm>
                <a:off x="6344144" y="1327042"/>
                <a:ext cx="384176" cy="363646"/>
                <a:chOff x="4300199" y="961246"/>
                <a:chExt cx="384176" cy="363646"/>
              </a:xfrm>
              <a:grpFill/>
            </p:grpSpPr>
            <p:sp>
              <p:nvSpPr>
                <p:cNvPr id="219" name="正方形/長方形 218">
                  <a:extLst>
                    <a:ext uri="{FF2B5EF4-FFF2-40B4-BE49-F238E27FC236}">
                      <a16:creationId xmlns:a16="http://schemas.microsoft.com/office/drawing/2014/main" id="{6C262C5F-4DC4-E133-EE87-B5884F616773}"/>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20" name="直線コネクタ 219">
                  <a:extLst>
                    <a:ext uri="{FF2B5EF4-FFF2-40B4-BE49-F238E27FC236}">
                      <a16:creationId xmlns:a16="http://schemas.microsoft.com/office/drawing/2014/main" id="{078495C9-A6F6-E210-3A9E-103EF6372201}"/>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21" name="直線コネクタ 220">
                  <a:extLst>
                    <a:ext uri="{FF2B5EF4-FFF2-40B4-BE49-F238E27FC236}">
                      <a16:creationId xmlns:a16="http://schemas.microsoft.com/office/drawing/2014/main" id="{60FFF3F2-B14A-D55B-0179-DAC119E06B97}"/>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22" name="直線コネクタ 221">
                  <a:extLst>
                    <a:ext uri="{FF2B5EF4-FFF2-40B4-BE49-F238E27FC236}">
                      <a16:creationId xmlns:a16="http://schemas.microsoft.com/office/drawing/2014/main" id="{73813FC1-54A9-5330-25B7-B40A48D6BB7D}"/>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23" name="直線コネクタ 222">
                  <a:extLst>
                    <a:ext uri="{FF2B5EF4-FFF2-40B4-BE49-F238E27FC236}">
                      <a16:creationId xmlns:a16="http://schemas.microsoft.com/office/drawing/2014/main" id="{C8DDB9BA-546A-D16D-1D32-99E4A3BCF235}"/>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213" name="グループ化 212">
                <a:extLst>
                  <a:ext uri="{FF2B5EF4-FFF2-40B4-BE49-F238E27FC236}">
                    <a16:creationId xmlns:a16="http://schemas.microsoft.com/office/drawing/2014/main" id="{FFE2DFB1-1F74-C413-37DD-6A30C271F69C}"/>
                  </a:ext>
                </a:extLst>
              </p:cNvPr>
              <p:cNvGrpSpPr/>
              <p:nvPr/>
            </p:nvGrpSpPr>
            <p:grpSpPr>
              <a:xfrm>
                <a:off x="6713654" y="1327042"/>
                <a:ext cx="384176" cy="363646"/>
                <a:chOff x="4300199" y="961246"/>
                <a:chExt cx="384176" cy="363646"/>
              </a:xfrm>
              <a:grpFill/>
            </p:grpSpPr>
            <p:sp>
              <p:nvSpPr>
                <p:cNvPr id="214" name="正方形/長方形 213">
                  <a:extLst>
                    <a:ext uri="{FF2B5EF4-FFF2-40B4-BE49-F238E27FC236}">
                      <a16:creationId xmlns:a16="http://schemas.microsoft.com/office/drawing/2014/main" id="{B26407E2-A34A-B0D6-CECD-64C07C2D2291}"/>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15" name="直線コネクタ 214">
                  <a:extLst>
                    <a:ext uri="{FF2B5EF4-FFF2-40B4-BE49-F238E27FC236}">
                      <a16:creationId xmlns:a16="http://schemas.microsoft.com/office/drawing/2014/main" id="{DCA04171-9F89-2C0F-EA48-A478B5F5F3DA}"/>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16" name="直線コネクタ 215">
                  <a:extLst>
                    <a:ext uri="{FF2B5EF4-FFF2-40B4-BE49-F238E27FC236}">
                      <a16:creationId xmlns:a16="http://schemas.microsoft.com/office/drawing/2014/main" id="{1EC9A332-7EB7-5472-5658-8B8C179BC2CE}"/>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17" name="直線コネクタ 216">
                  <a:extLst>
                    <a:ext uri="{FF2B5EF4-FFF2-40B4-BE49-F238E27FC236}">
                      <a16:creationId xmlns:a16="http://schemas.microsoft.com/office/drawing/2014/main" id="{385CC499-EAAD-E211-95B3-8BB88DA77E4C}"/>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18" name="直線コネクタ 217">
                  <a:extLst>
                    <a:ext uri="{FF2B5EF4-FFF2-40B4-BE49-F238E27FC236}">
                      <a16:creationId xmlns:a16="http://schemas.microsoft.com/office/drawing/2014/main" id="{E2D5320E-3DA2-82F4-0D19-678B534045E1}"/>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grpSp>
          <p:nvGrpSpPr>
            <p:cNvPr id="160" name="グループ化 159">
              <a:extLst>
                <a:ext uri="{FF2B5EF4-FFF2-40B4-BE49-F238E27FC236}">
                  <a16:creationId xmlns:a16="http://schemas.microsoft.com/office/drawing/2014/main" id="{47A6E42F-1F14-708A-EF23-1EB5403BC309}"/>
                </a:ext>
              </a:extLst>
            </p:cNvPr>
            <p:cNvGrpSpPr/>
            <p:nvPr/>
          </p:nvGrpSpPr>
          <p:grpSpPr>
            <a:xfrm>
              <a:off x="8057861" y="1244915"/>
              <a:ext cx="1492706" cy="363646"/>
              <a:chOff x="5605124" y="1327042"/>
              <a:chExt cx="1492706" cy="363646"/>
            </a:xfrm>
            <a:grpFill/>
          </p:grpSpPr>
          <p:grpSp>
            <p:nvGrpSpPr>
              <p:cNvPr id="186" name="グループ化 185">
                <a:extLst>
                  <a:ext uri="{FF2B5EF4-FFF2-40B4-BE49-F238E27FC236}">
                    <a16:creationId xmlns:a16="http://schemas.microsoft.com/office/drawing/2014/main" id="{1988FB47-B790-4B4A-B300-D6CA56603EE4}"/>
                  </a:ext>
                </a:extLst>
              </p:cNvPr>
              <p:cNvGrpSpPr/>
              <p:nvPr/>
            </p:nvGrpSpPr>
            <p:grpSpPr>
              <a:xfrm>
                <a:off x="5605124" y="1327042"/>
                <a:ext cx="384176" cy="363646"/>
                <a:chOff x="4300199" y="961246"/>
                <a:chExt cx="384176" cy="363646"/>
              </a:xfrm>
              <a:grpFill/>
            </p:grpSpPr>
            <p:sp>
              <p:nvSpPr>
                <p:cNvPr id="205" name="正方形/長方形 204">
                  <a:extLst>
                    <a:ext uri="{FF2B5EF4-FFF2-40B4-BE49-F238E27FC236}">
                      <a16:creationId xmlns:a16="http://schemas.microsoft.com/office/drawing/2014/main" id="{52BDFE95-DD6D-77FB-FE02-3E9ED16001E1}"/>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06" name="直線コネクタ 205">
                  <a:extLst>
                    <a:ext uri="{FF2B5EF4-FFF2-40B4-BE49-F238E27FC236}">
                      <a16:creationId xmlns:a16="http://schemas.microsoft.com/office/drawing/2014/main" id="{FE62BEE6-2792-BA79-7074-DD3D8D723DCB}"/>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07" name="直線コネクタ 206">
                  <a:extLst>
                    <a:ext uri="{FF2B5EF4-FFF2-40B4-BE49-F238E27FC236}">
                      <a16:creationId xmlns:a16="http://schemas.microsoft.com/office/drawing/2014/main" id="{6BEA2E38-3744-F93A-BB55-2D4FE9A88226}"/>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08" name="直線コネクタ 207">
                  <a:extLst>
                    <a:ext uri="{FF2B5EF4-FFF2-40B4-BE49-F238E27FC236}">
                      <a16:creationId xmlns:a16="http://schemas.microsoft.com/office/drawing/2014/main" id="{63CEF553-5E76-6BE3-4281-22E6F01EF6B5}"/>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09" name="直線コネクタ 208">
                  <a:extLst>
                    <a:ext uri="{FF2B5EF4-FFF2-40B4-BE49-F238E27FC236}">
                      <a16:creationId xmlns:a16="http://schemas.microsoft.com/office/drawing/2014/main" id="{21B7FA8F-E761-B544-C56F-25D22EF364A1}"/>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187" name="グループ化 186">
                <a:extLst>
                  <a:ext uri="{FF2B5EF4-FFF2-40B4-BE49-F238E27FC236}">
                    <a16:creationId xmlns:a16="http://schemas.microsoft.com/office/drawing/2014/main" id="{82F85B75-B8BD-E26E-DA77-47C06445C6AF}"/>
                  </a:ext>
                </a:extLst>
              </p:cNvPr>
              <p:cNvGrpSpPr/>
              <p:nvPr/>
            </p:nvGrpSpPr>
            <p:grpSpPr>
              <a:xfrm>
                <a:off x="5974634" y="1327042"/>
                <a:ext cx="384176" cy="363646"/>
                <a:chOff x="4300199" y="961246"/>
                <a:chExt cx="384176" cy="363646"/>
              </a:xfrm>
              <a:grpFill/>
            </p:grpSpPr>
            <p:sp>
              <p:nvSpPr>
                <p:cNvPr id="200" name="正方形/長方形 199">
                  <a:extLst>
                    <a:ext uri="{FF2B5EF4-FFF2-40B4-BE49-F238E27FC236}">
                      <a16:creationId xmlns:a16="http://schemas.microsoft.com/office/drawing/2014/main" id="{6C9E8381-E497-26EB-385A-3BED2E58652C}"/>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201" name="直線コネクタ 200">
                  <a:extLst>
                    <a:ext uri="{FF2B5EF4-FFF2-40B4-BE49-F238E27FC236}">
                      <a16:creationId xmlns:a16="http://schemas.microsoft.com/office/drawing/2014/main" id="{10E6B302-058A-130C-1E05-181AB90DBCCF}"/>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202" name="直線コネクタ 201">
                  <a:extLst>
                    <a:ext uri="{FF2B5EF4-FFF2-40B4-BE49-F238E27FC236}">
                      <a16:creationId xmlns:a16="http://schemas.microsoft.com/office/drawing/2014/main" id="{EC3E1217-81B6-D0CA-E5B9-F0139624460C}"/>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203" name="直線コネクタ 202">
                  <a:extLst>
                    <a:ext uri="{FF2B5EF4-FFF2-40B4-BE49-F238E27FC236}">
                      <a16:creationId xmlns:a16="http://schemas.microsoft.com/office/drawing/2014/main" id="{564D8D4C-F3BE-7BA9-84DA-1965D8464E71}"/>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204" name="直線コネクタ 203">
                  <a:extLst>
                    <a:ext uri="{FF2B5EF4-FFF2-40B4-BE49-F238E27FC236}">
                      <a16:creationId xmlns:a16="http://schemas.microsoft.com/office/drawing/2014/main" id="{025FC333-6CEA-464C-A29E-C025E28E1608}"/>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188" name="グループ化 187">
                <a:extLst>
                  <a:ext uri="{FF2B5EF4-FFF2-40B4-BE49-F238E27FC236}">
                    <a16:creationId xmlns:a16="http://schemas.microsoft.com/office/drawing/2014/main" id="{76D6FF11-2A5F-4037-8F2E-8ADAD6DB3838}"/>
                  </a:ext>
                </a:extLst>
              </p:cNvPr>
              <p:cNvGrpSpPr/>
              <p:nvPr/>
            </p:nvGrpSpPr>
            <p:grpSpPr>
              <a:xfrm>
                <a:off x="6344144" y="1327042"/>
                <a:ext cx="384176" cy="363646"/>
                <a:chOff x="4300199" y="961246"/>
                <a:chExt cx="384176" cy="363646"/>
              </a:xfrm>
              <a:grpFill/>
            </p:grpSpPr>
            <p:sp>
              <p:nvSpPr>
                <p:cNvPr id="195" name="正方形/長方形 194">
                  <a:extLst>
                    <a:ext uri="{FF2B5EF4-FFF2-40B4-BE49-F238E27FC236}">
                      <a16:creationId xmlns:a16="http://schemas.microsoft.com/office/drawing/2014/main" id="{5DA24246-FFA4-1BD1-7623-15C9BF31B2B9}"/>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196" name="直線コネクタ 195">
                  <a:extLst>
                    <a:ext uri="{FF2B5EF4-FFF2-40B4-BE49-F238E27FC236}">
                      <a16:creationId xmlns:a16="http://schemas.microsoft.com/office/drawing/2014/main" id="{6704A5C8-01FA-41F6-B6EE-AA78269DE8E6}"/>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197" name="直線コネクタ 196">
                  <a:extLst>
                    <a:ext uri="{FF2B5EF4-FFF2-40B4-BE49-F238E27FC236}">
                      <a16:creationId xmlns:a16="http://schemas.microsoft.com/office/drawing/2014/main" id="{88656B2B-CE66-BA42-A233-245D40D35825}"/>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198" name="直線コネクタ 197">
                  <a:extLst>
                    <a:ext uri="{FF2B5EF4-FFF2-40B4-BE49-F238E27FC236}">
                      <a16:creationId xmlns:a16="http://schemas.microsoft.com/office/drawing/2014/main" id="{47325FBD-CF8E-2D85-3AA1-89D51D4445E8}"/>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199" name="直線コネクタ 198">
                  <a:extLst>
                    <a:ext uri="{FF2B5EF4-FFF2-40B4-BE49-F238E27FC236}">
                      <a16:creationId xmlns:a16="http://schemas.microsoft.com/office/drawing/2014/main" id="{32637EAA-5AEE-4C78-F67A-14AFEF1A2657}"/>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189" name="グループ化 188">
                <a:extLst>
                  <a:ext uri="{FF2B5EF4-FFF2-40B4-BE49-F238E27FC236}">
                    <a16:creationId xmlns:a16="http://schemas.microsoft.com/office/drawing/2014/main" id="{B7454F68-6926-02C0-0896-0A38F87AA0C6}"/>
                  </a:ext>
                </a:extLst>
              </p:cNvPr>
              <p:cNvGrpSpPr/>
              <p:nvPr/>
            </p:nvGrpSpPr>
            <p:grpSpPr>
              <a:xfrm>
                <a:off x="6713654" y="1327042"/>
                <a:ext cx="384176" cy="363646"/>
                <a:chOff x="4300199" y="961246"/>
                <a:chExt cx="384176" cy="363646"/>
              </a:xfrm>
              <a:grpFill/>
            </p:grpSpPr>
            <p:sp>
              <p:nvSpPr>
                <p:cNvPr id="190" name="正方形/長方形 189">
                  <a:extLst>
                    <a:ext uri="{FF2B5EF4-FFF2-40B4-BE49-F238E27FC236}">
                      <a16:creationId xmlns:a16="http://schemas.microsoft.com/office/drawing/2014/main" id="{83646727-9441-63AF-0A33-0E2DBADC5D87}"/>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191" name="直線コネクタ 190">
                  <a:extLst>
                    <a:ext uri="{FF2B5EF4-FFF2-40B4-BE49-F238E27FC236}">
                      <a16:creationId xmlns:a16="http://schemas.microsoft.com/office/drawing/2014/main" id="{1484897F-A161-80CB-C25B-0D705ED27BB0}"/>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192" name="直線コネクタ 191">
                  <a:extLst>
                    <a:ext uri="{FF2B5EF4-FFF2-40B4-BE49-F238E27FC236}">
                      <a16:creationId xmlns:a16="http://schemas.microsoft.com/office/drawing/2014/main" id="{1362EE3C-58FC-71E2-3DEA-B4CCE0DE61AA}"/>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193" name="直線コネクタ 192">
                  <a:extLst>
                    <a:ext uri="{FF2B5EF4-FFF2-40B4-BE49-F238E27FC236}">
                      <a16:creationId xmlns:a16="http://schemas.microsoft.com/office/drawing/2014/main" id="{13C7474D-894F-E0EA-08A5-337582932923}"/>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194" name="直線コネクタ 193">
                  <a:extLst>
                    <a:ext uri="{FF2B5EF4-FFF2-40B4-BE49-F238E27FC236}">
                      <a16:creationId xmlns:a16="http://schemas.microsoft.com/office/drawing/2014/main" id="{789CB12F-D335-FBE3-A62B-4BFF21A92B60}"/>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grpSp>
          <p:nvGrpSpPr>
            <p:cNvPr id="161" name="グループ化 160">
              <a:extLst>
                <a:ext uri="{FF2B5EF4-FFF2-40B4-BE49-F238E27FC236}">
                  <a16:creationId xmlns:a16="http://schemas.microsoft.com/office/drawing/2014/main" id="{80FE75C5-0625-920A-94F2-D3170F5B9F80}"/>
                </a:ext>
              </a:extLst>
            </p:cNvPr>
            <p:cNvGrpSpPr/>
            <p:nvPr/>
          </p:nvGrpSpPr>
          <p:grpSpPr>
            <a:xfrm>
              <a:off x="9535901" y="1244915"/>
              <a:ext cx="1492706" cy="363646"/>
              <a:chOff x="5605124" y="1327042"/>
              <a:chExt cx="1492706" cy="363646"/>
            </a:xfrm>
            <a:grpFill/>
          </p:grpSpPr>
          <p:grpSp>
            <p:nvGrpSpPr>
              <p:cNvPr id="162" name="グループ化 161">
                <a:extLst>
                  <a:ext uri="{FF2B5EF4-FFF2-40B4-BE49-F238E27FC236}">
                    <a16:creationId xmlns:a16="http://schemas.microsoft.com/office/drawing/2014/main" id="{80791F14-F5F5-52F6-6E89-27D23E09DA48}"/>
                  </a:ext>
                </a:extLst>
              </p:cNvPr>
              <p:cNvGrpSpPr/>
              <p:nvPr/>
            </p:nvGrpSpPr>
            <p:grpSpPr>
              <a:xfrm>
                <a:off x="5605124" y="1327042"/>
                <a:ext cx="384176" cy="363646"/>
                <a:chOff x="4300199" y="961246"/>
                <a:chExt cx="384176" cy="363646"/>
              </a:xfrm>
              <a:grpFill/>
            </p:grpSpPr>
            <p:sp>
              <p:nvSpPr>
                <p:cNvPr id="181" name="正方形/長方形 180">
                  <a:extLst>
                    <a:ext uri="{FF2B5EF4-FFF2-40B4-BE49-F238E27FC236}">
                      <a16:creationId xmlns:a16="http://schemas.microsoft.com/office/drawing/2014/main" id="{EE3A5043-525A-936B-DB33-554BC914CA08}"/>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182" name="直線コネクタ 181">
                  <a:extLst>
                    <a:ext uri="{FF2B5EF4-FFF2-40B4-BE49-F238E27FC236}">
                      <a16:creationId xmlns:a16="http://schemas.microsoft.com/office/drawing/2014/main" id="{169AB5AF-0860-666F-7002-71DEA4CAE64D}"/>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183" name="直線コネクタ 182">
                  <a:extLst>
                    <a:ext uri="{FF2B5EF4-FFF2-40B4-BE49-F238E27FC236}">
                      <a16:creationId xmlns:a16="http://schemas.microsoft.com/office/drawing/2014/main" id="{53149CE3-A733-D0EE-021F-925CDCFDB24B}"/>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184" name="直線コネクタ 183">
                  <a:extLst>
                    <a:ext uri="{FF2B5EF4-FFF2-40B4-BE49-F238E27FC236}">
                      <a16:creationId xmlns:a16="http://schemas.microsoft.com/office/drawing/2014/main" id="{647C00F1-4346-2204-35D4-F5C85819AA71}"/>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185" name="直線コネクタ 184">
                  <a:extLst>
                    <a:ext uri="{FF2B5EF4-FFF2-40B4-BE49-F238E27FC236}">
                      <a16:creationId xmlns:a16="http://schemas.microsoft.com/office/drawing/2014/main" id="{FE322423-EF52-F6EF-70F2-D17EF5FB07A8}"/>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163" name="グループ化 162">
                <a:extLst>
                  <a:ext uri="{FF2B5EF4-FFF2-40B4-BE49-F238E27FC236}">
                    <a16:creationId xmlns:a16="http://schemas.microsoft.com/office/drawing/2014/main" id="{D0EF6FF3-1882-C30B-D63E-420AEE6DB9D1}"/>
                  </a:ext>
                </a:extLst>
              </p:cNvPr>
              <p:cNvGrpSpPr/>
              <p:nvPr/>
            </p:nvGrpSpPr>
            <p:grpSpPr>
              <a:xfrm>
                <a:off x="5974634" y="1327042"/>
                <a:ext cx="384176" cy="363646"/>
                <a:chOff x="4300199" y="961246"/>
                <a:chExt cx="384176" cy="363646"/>
              </a:xfrm>
              <a:grpFill/>
            </p:grpSpPr>
            <p:sp>
              <p:nvSpPr>
                <p:cNvPr id="176" name="正方形/長方形 175">
                  <a:extLst>
                    <a:ext uri="{FF2B5EF4-FFF2-40B4-BE49-F238E27FC236}">
                      <a16:creationId xmlns:a16="http://schemas.microsoft.com/office/drawing/2014/main" id="{2E635FF0-504B-7628-76A2-70A6C5FA8D08}"/>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177" name="直線コネクタ 176">
                  <a:extLst>
                    <a:ext uri="{FF2B5EF4-FFF2-40B4-BE49-F238E27FC236}">
                      <a16:creationId xmlns:a16="http://schemas.microsoft.com/office/drawing/2014/main" id="{9CC0D52B-3D14-42CD-4969-ADF2D7C93EF9}"/>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178" name="直線コネクタ 177">
                  <a:extLst>
                    <a:ext uri="{FF2B5EF4-FFF2-40B4-BE49-F238E27FC236}">
                      <a16:creationId xmlns:a16="http://schemas.microsoft.com/office/drawing/2014/main" id="{E177D3A5-DCAB-88CD-05A7-E09DCB121C7A}"/>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179" name="直線コネクタ 178">
                  <a:extLst>
                    <a:ext uri="{FF2B5EF4-FFF2-40B4-BE49-F238E27FC236}">
                      <a16:creationId xmlns:a16="http://schemas.microsoft.com/office/drawing/2014/main" id="{CCC5F22E-E204-81E7-3A06-73AC952FB064}"/>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180" name="直線コネクタ 179">
                  <a:extLst>
                    <a:ext uri="{FF2B5EF4-FFF2-40B4-BE49-F238E27FC236}">
                      <a16:creationId xmlns:a16="http://schemas.microsoft.com/office/drawing/2014/main" id="{CB39D1E8-CA1D-1269-1956-2B39E1281D42}"/>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164" name="グループ化 163">
                <a:extLst>
                  <a:ext uri="{FF2B5EF4-FFF2-40B4-BE49-F238E27FC236}">
                    <a16:creationId xmlns:a16="http://schemas.microsoft.com/office/drawing/2014/main" id="{B741D958-6541-E4DF-8768-C3D1387D15E0}"/>
                  </a:ext>
                </a:extLst>
              </p:cNvPr>
              <p:cNvGrpSpPr/>
              <p:nvPr/>
            </p:nvGrpSpPr>
            <p:grpSpPr>
              <a:xfrm>
                <a:off x="6344144" y="1327042"/>
                <a:ext cx="384176" cy="363646"/>
                <a:chOff x="4300199" y="961246"/>
                <a:chExt cx="384176" cy="363646"/>
              </a:xfrm>
              <a:grpFill/>
            </p:grpSpPr>
            <p:sp>
              <p:nvSpPr>
                <p:cNvPr id="171" name="正方形/長方形 170">
                  <a:extLst>
                    <a:ext uri="{FF2B5EF4-FFF2-40B4-BE49-F238E27FC236}">
                      <a16:creationId xmlns:a16="http://schemas.microsoft.com/office/drawing/2014/main" id="{FE3BB55E-D31B-38E4-8B89-7413A61EC990}"/>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172" name="直線コネクタ 171">
                  <a:extLst>
                    <a:ext uri="{FF2B5EF4-FFF2-40B4-BE49-F238E27FC236}">
                      <a16:creationId xmlns:a16="http://schemas.microsoft.com/office/drawing/2014/main" id="{12B88548-3C32-2AF5-8C70-8A6F61609DFE}"/>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173" name="直線コネクタ 172">
                  <a:extLst>
                    <a:ext uri="{FF2B5EF4-FFF2-40B4-BE49-F238E27FC236}">
                      <a16:creationId xmlns:a16="http://schemas.microsoft.com/office/drawing/2014/main" id="{97C93FDA-94E6-B105-350B-B2D8396535F3}"/>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174" name="直線コネクタ 173">
                  <a:extLst>
                    <a:ext uri="{FF2B5EF4-FFF2-40B4-BE49-F238E27FC236}">
                      <a16:creationId xmlns:a16="http://schemas.microsoft.com/office/drawing/2014/main" id="{2F5827E3-A077-18E6-2ABC-593D709CCC7B}"/>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175" name="直線コネクタ 174">
                  <a:extLst>
                    <a:ext uri="{FF2B5EF4-FFF2-40B4-BE49-F238E27FC236}">
                      <a16:creationId xmlns:a16="http://schemas.microsoft.com/office/drawing/2014/main" id="{79704588-8CD2-9DC4-4997-6591DD279BC1}"/>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nvGrpSpPr>
              <p:cNvPr id="165" name="グループ化 164">
                <a:extLst>
                  <a:ext uri="{FF2B5EF4-FFF2-40B4-BE49-F238E27FC236}">
                    <a16:creationId xmlns:a16="http://schemas.microsoft.com/office/drawing/2014/main" id="{AB84F950-BA2E-CF8F-6747-74AA051CE694}"/>
                  </a:ext>
                </a:extLst>
              </p:cNvPr>
              <p:cNvGrpSpPr/>
              <p:nvPr/>
            </p:nvGrpSpPr>
            <p:grpSpPr>
              <a:xfrm>
                <a:off x="6713654" y="1327042"/>
                <a:ext cx="384176" cy="363646"/>
                <a:chOff x="4300199" y="961246"/>
                <a:chExt cx="384176" cy="363646"/>
              </a:xfrm>
              <a:grpFill/>
            </p:grpSpPr>
            <p:sp>
              <p:nvSpPr>
                <p:cNvPr id="166" name="正方形/長方形 165">
                  <a:extLst>
                    <a:ext uri="{FF2B5EF4-FFF2-40B4-BE49-F238E27FC236}">
                      <a16:creationId xmlns:a16="http://schemas.microsoft.com/office/drawing/2014/main" id="{29BC7042-BCF0-D742-D21C-582AD75A7A88}"/>
                    </a:ext>
                  </a:extLst>
                </p:cNvPr>
                <p:cNvSpPr/>
                <p:nvPr/>
              </p:nvSpPr>
              <p:spPr>
                <a:xfrm>
                  <a:off x="4317662" y="961246"/>
                  <a:ext cx="352047" cy="363646"/>
                </a:xfrm>
                <a:prstGeom prst="rect">
                  <a:avLst/>
                </a:prstGeom>
                <a:grp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167" name="直線コネクタ 166">
                  <a:extLst>
                    <a:ext uri="{FF2B5EF4-FFF2-40B4-BE49-F238E27FC236}">
                      <a16:creationId xmlns:a16="http://schemas.microsoft.com/office/drawing/2014/main" id="{E6B5D186-2779-40A0-6C60-0FC89D104B1E}"/>
                    </a:ext>
                  </a:extLst>
                </p:cNvPr>
                <p:cNvCxnSpPr>
                  <a:cxnSpLocks/>
                </p:cNvCxnSpPr>
                <p:nvPr/>
              </p:nvCxnSpPr>
              <p:spPr>
                <a:xfrm>
                  <a:off x="4315736" y="961246"/>
                  <a:ext cx="0" cy="363646"/>
                </a:xfrm>
                <a:prstGeom prst="line">
                  <a:avLst/>
                </a:prstGeom>
                <a:grpFill/>
                <a:ln w="19050" cap="flat" cmpd="sng" algn="ctr">
                  <a:solidFill>
                    <a:srgbClr val="FFFF00"/>
                  </a:solidFill>
                  <a:prstDash val="solid"/>
                  <a:miter lim="800000"/>
                </a:ln>
                <a:effectLst/>
              </p:spPr>
            </p:cxnSp>
            <p:cxnSp>
              <p:nvCxnSpPr>
                <p:cNvPr id="168" name="直線コネクタ 167">
                  <a:extLst>
                    <a:ext uri="{FF2B5EF4-FFF2-40B4-BE49-F238E27FC236}">
                      <a16:creationId xmlns:a16="http://schemas.microsoft.com/office/drawing/2014/main" id="{4608605E-8396-85E8-7D3F-060B814DA3D9}"/>
                    </a:ext>
                  </a:extLst>
                </p:cNvPr>
                <p:cNvCxnSpPr>
                  <a:cxnSpLocks/>
                </p:cNvCxnSpPr>
                <p:nvPr/>
              </p:nvCxnSpPr>
              <p:spPr>
                <a:xfrm>
                  <a:off x="4300199" y="961246"/>
                  <a:ext cx="0" cy="363646"/>
                </a:xfrm>
                <a:prstGeom prst="line">
                  <a:avLst/>
                </a:prstGeom>
                <a:grpFill/>
                <a:ln w="19050" cap="flat" cmpd="sng" algn="ctr">
                  <a:solidFill>
                    <a:srgbClr val="FFFF00"/>
                  </a:solidFill>
                  <a:prstDash val="solid"/>
                  <a:miter lim="800000"/>
                </a:ln>
                <a:effectLst/>
              </p:spPr>
            </p:cxnSp>
            <p:cxnSp>
              <p:nvCxnSpPr>
                <p:cNvPr id="169" name="直線コネクタ 168">
                  <a:extLst>
                    <a:ext uri="{FF2B5EF4-FFF2-40B4-BE49-F238E27FC236}">
                      <a16:creationId xmlns:a16="http://schemas.microsoft.com/office/drawing/2014/main" id="{B0E4CBE5-0CCE-DC15-6B09-C7A3AAE64E55}"/>
                    </a:ext>
                  </a:extLst>
                </p:cNvPr>
                <p:cNvCxnSpPr>
                  <a:cxnSpLocks/>
                </p:cNvCxnSpPr>
                <p:nvPr/>
              </p:nvCxnSpPr>
              <p:spPr>
                <a:xfrm>
                  <a:off x="4671830" y="961246"/>
                  <a:ext cx="0" cy="363646"/>
                </a:xfrm>
                <a:prstGeom prst="line">
                  <a:avLst/>
                </a:prstGeom>
                <a:grpFill/>
                <a:ln w="19050" cap="flat" cmpd="sng" algn="ctr">
                  <a:solidFill>
                    <a:srgbClr val="FFFF00"/>
                  </a:solidFill>
                  <a:prstDash val="solid"/>
                  <a:miter lim="800000"/>
                </a:ln>
                <a:effectLst/>
              </p:spPr>
            </p:cxnSp>
            <p:cxnSp>
              <p:nvCxnSpPr>
                <p:cNvPr id="170" name="直線コネクタ 169">
                  <a:extLst>
                    <a:ext uri="{FF2B5EF4-FFF2-40B4-BE49-F238E27FC236}">
                      <a16:creationId xmlns:a16="http://schemas.microsoft.com/office/drawing/2014/main" id="{D3869B79-4F84-768E-1C49-64AF368FEEBD}"/>
                    </a:ext>
                  </a:extLst>
                </p:cNvPr>
                <p:cNvCxnSpPr>
                  <a:cxnSpLocks/>
                </p:cNvCxnSpPr>
                <p:nvPr/>
              </p:nvCxnSpPr>
              <p:spPr>
                <a:xfrm>
                  <a:off x="4684375" y="961246"/>
                  <a:ext cx="0" cy="363646"/>
                </a:xfrm>
                <a:prstGeom prst="line">
                  <a:avLst/>
                </a:prstGeom>
                <a:grpFill/>
                <a:ln w="19050" cap="flat" cmpd="sng" algn="ctr">
                  <a:solidFill>
                    <a:srgbClr val="FFFF00"/>
                  </a:solidFill>
                  <a:prstDash val="solid"/>
                  <a:miter lim="800000"/>
                </a:ln>
                <a:effectLst/>
              </p:spPr>
            </p:cxnSp>
          </p:grpSp>
        </p:grpSp>
      </p:grpSp>
      <p:grpSp>
        <p:nvGrpSpPr>
          <p:cNvPr id="359" name="グループ化 358">
            <a:extLst>
              <a:ext uri="{FF2B5EF4-FFF2-40B4-BE49-F238E27FC236}">
                <a16:creationId xmlns:a16="http://schemas.microsoft.com/office/drawing/2014/main" id="{A253847D-C49A-D35D-764D-2F598BB6B56D}"/>
              </a:ext>
            </a:extLst>
          </p:cNvPr>
          <p:cNvGrpSpPr/>
          <p:nvPr/>
        </p:nvGrpSpPr>
        <p:grpSpPr>
          <a:xfrm>
            <a:off x="2308808" y="4410236"/>
            <a:ext cx="5296510" cy="485400"/>
            <a:chOff x="5101781" y="1244915"/>
            <a:chExt cx="5926826" cy="363646"/>
          </a:xfrm>
        </p:grpSpPr>
        <p:grpSp>
          <p:nvGrpSpPr>
            <p:cNvPr id="360" name="グループ化 359">
              <a:extLst>
                <a:ext uri="{FF2B5EF4-FFF2-40B4-BE49-F238E27FC236}">
                  <a16:creationId xmlns:a16="http://schemas.microsoft.com/office/drawing/2014/main" id="{41D256DC-54E0-4D15-5F2D-1C6ABDC01A4A}"/>
                </a:ext>
              </a:extLst>
            </p:cNvPr>
            <p:cNvGrpSpPr/>
            <p:nvPr/>
          </p:nvGrpSpPr>
          <p:grpSpPr>
            <a:xfrm>
              <a:off x="5101781" y="1244915"/>
              <a:ext cx="1492706" cy="363646"/>
              <a:chOff x="5605124" y="1327042"/>
              <a:chExt cx="1492706" cy="363646"/>
            </a:xfrm>
          </p:grpSpPr>
          <p:grpSp>
            <p:nvGrpSpPr>
              <p:cNvPr id="436" name="グループ化 435">
                <a:extLst>
                  <a:ext uri="{FF2B5EF4-FFF2-40B4-BE49-F238E27FC236}">
                    <a16:creationId xmlns:a16="http://schemas.microsoft.com/office/drawing/2014/main" id="{F0717E10-1B9F-FA32-B566-A550DAE638C0}"/>
                  </a:ext>
                </a:extLst>
              </p:cNvPr>
              <p:cNvGrpSpPr/>
              <p:nvPr/>
            </p:nvGrpSpPr>
            <p:grpSpPr>
              <a:xfrm>
                <a:off x="5605124" y="1327042"/>
                <a:ext cx="384176" cy="363646"/>
                <a:chOff x="4300199" y="961246"/>
                <a:chExt cx="384176" cy="363646"/>
              </a:xfrm>
            </p:grpSpPr>
            <p:sp>
              <p:nvSpPr>
                <p:cNvPr id="455" name="正方形/長方形 454">
                  <a:extLst>
                    <a:ext uri="{FF2B5EF4-FFF2-40B4-BE49-F238E27FC236}">
                      <a16:creationId xmlns:a16="http://schemas.microsoft.com/office/drawing/2014/main" id="{288B5B6B-D740-5081-4728-187120DDCC91}"/>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56" name="直線コネクタ 455">
                  <a:extLst>
                    <a:ext uri="{FF2B5EF4-FFF2-40B4-BE49-F238E27FC236}">
                      <a16:creationId xmlns:a16="http://schemas.microsoft.com/office/drawing/2014/main" id="{F5FE6A90-D73B-DD78-3617-381EB35DC86B}"/>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57" name="直線コネクタ 456">
                  <a:extLst>
                    <a:ext uri="{FF2B5EF4-FFF2-40B4-BE49-F238E27FC236}">
                      <a16:creationId xmlns:a16="http://schemas.microsoft.com/office/drawing/2014/main" id="{0EC93A81-2BF6-5E60-115A-7AE80B602D50}"/>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58" name="直線コネクタ 457">
                  <a:extLst>
                    <a:ext uri="{FF2B5EF4-FFF2-40B4-BE49-F238E27FC236}">
                      <a16:creationId xmlns:a16="http://schemas.microsoft.com/office/drawing/2014/main" id="{F94CD11F-8E36-8C45-B562-6F00249672E9}"/>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59" name="直線コネクタ 458">
                  <a:extLst>
                    <a:ext uri="{FF2B5EF4-FFF2-40B4-BE49-F238E27FC236}">
                      <a16:creationId xmlns:a16="http://schemas.microsoft.com/office/drawing/2014/main" id="{3BD3AFD8-30C5-6D02-1984-253C81E9C26E}"/>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437" name="グループ化 436">
                <a:extLst>
                  <a:ext uri="{FF2B5EF4-FFF2-40B4-BE49-F238E27FC236}">
                    <a16:creationId xmlns:a16="http://schemas.microsoft.com/office/drawing/2014/main" id="{8DC4CE1F-45A3-DFC5-C0AB-B41D2771E3D6}"/>
                  </a:ext>
                </a:extLst>
              </p:cNvPr>
              <p:cNvGrpSpPr/>
              <p:nvPr/>
            </p:nvGrpSpPr>
            <p:grpSpPr>
              <a:xfrm>
                <a:off x="5974634" y="1327042"/>
                <a:ext cx="384176" cy="363646"/>
                <a:chOff x="4300199" y="961246"/>
                <a:chExt cx="384176" cy="363646"/>
              </a:xfrm>
            </p:grpSpPr>
            <p:sp>
              <p:nvSpPr>
                <p:cNvPr id="450" name="正方形/長方形 449">
                  <a:extLst>
                    <a:ext uri="{FF2B5EF4-FFF2-40B4-BE49-F238E27FC236}">
                      <a16:creationId xmlns:a16="http://schemas.microsoft.com/office/drawing/2014/main" id="{B5E0BD72-A75E-3F3B-D5E2-87FD99C33AA6}"/>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51" name="直線コネクタ 450">
                  <a:extLst>
                    <a:ext uri="{FF2B5EF4-FFF2-40B4-BE49-F238E27FC236}">
                      <a16:creationId xmlns:a16="http://schemas.microsoft.com/office/drawing/2014/main" id="{27990ACA-05C9-EF9B-F1E4-5A392CB5FD2D}"/>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52" name="直線コネクタ 451">
                  <a:extLst>
                    <a:ext uri="{FF2B5EF4-FFF2-40B4-BE49-F238E27FC236}">
                      <a16:creationId xmlns:a16="http://schemas.microsoft.com/office/drawing/2014/main" id="{021D03A0-E149-68D3-3912-0FD8FA6B1FDD}"/>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53" name="直線コネクタ 452">
                  <a:extLst>
                    <a:ext uri="{FF2B5EF4-FFF2-40B4-BE49-F238E27FC236}">
                      <a16:creationId xmlns:a16="http://schemas.microsoft.com/office/drawing/2014/main" id="{B8EFC513-4C4C-3780-258E-D03B655163BF}"/>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54" name="直線コネクタ 453">
                  <a:extLst>
                    <a:ext uri="{FF2B5EF4-FFF2-40B4-BE49-F238E27FC236}">
                      <a16:creationId xmlns:a16="http://schemas.microsoft.com/office/drawing/2014/main" id="{C1D0E15D-5839-9B8A-F4E6-49F06ACC0468}"/>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438" name="グループ化 437">
                <a:extLst>
                  <a:ext uri="{FF2B5EF4-FFF2-40B4-BE49-F238E27FC236}">
                    <a16:creationId xmlns:a16="http://schemas.microsoft.com/office/drawing/2014/main" id="{2773E55E-E580-734E-B2B2-FF855B9D1D83}"/>
                  </a:ext>
                </a:extLst>
              </p:cNvPr>
              <p:cNvGrpSpPr/>
              <p:nvPr/>
            </p:nvGrpSpPr>
            <p:grpSpPr>
              <a:xfrm>
                <a:off x="6344144" y="1327042"/>
                <a:ext cx="384176" cy="363646"/>
                <a:chOff x="4300199" y="961246"/>
                <a:chExt cx="384176" cy="363646"/>
              </a:xfrm>
            </p:grpSpPr>
            <p:sp>
              <p:nvSpPr>
                <p:cNvPr id="445" name="正方形/長方形 444">
                  <a:extLst>
                    <a:ext uri="{FF2B5EF4-FFF2-40B4-BE49-F238E27FC236}">
                      <a16:creationId xmlns:a16="http://schemas.microsoft.com/office/drawing/2014/main" id="{DC3C8658-1E29-F075-FED8-3BC1133C8135}"/>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46" name="直線コネクタ 445">
                  <a:extLst>
                    <a:ext uri="{FF2B5EF4-FFF2-40B4-BE49-F238E27FC236}">
                      <a16:creationId xmlns:a16="http://schemas.microsoft.com/office/drawing/2014/main" id="{5760972E-A1D5-6FA7-10BD-0152D37EC000}"/>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47" name="直線コネクタ 446">
                  <a:extLst>
                    <a:ext uri="{FF2B5EF4-FFF2-40B4-BE49-F238E27FC236}">
                      <a16:creationId xmlns:a16="http://schemas.microsoft.com/office/drawing/2014/main" id="{3F91D888-1F06-085A-58E3-D4221924BA95}"/>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48" name="直線コネクタ 447">
                  <a:extLst>
                    <a:ext uri="{FF2B5EF4-FFF2-40B4-BE49-F238E27FC236}">
                      <a16:creationId xmlns:a16="http://schemas.microsoft.com/office/drawing/2014/main" id="{2ADA3BFA-336F-0146-059C-F082EE9A7550}"/>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49" name="直線コネクタ 448">
                  <a:extLst>
                    <a:ext uri="{FF2B5EF4-FFF2-40B4-BE49-F238E27FC236}">
                      <a16:creationId xmlns:a16="http://schemas.microsoft.com/office/drawing/2014/main" id="{A0D7FC3D-7938-0E05-EB4D-436D8901BE9D}"/>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439" name="グループ化 438">
                <a:extLst>
                  <a:ext uri="{FF2B5EF4-FFF2-40B4-BE49-F238E27FC236}">
                    <a16:creationId xmlns:a16="http://schemas.microsoft.com/office/drawing/2014/main" id="{718F18BB-CFD9-3951-C85E-12B63ACECD1A}"/>
                  </a:ext>
                </a:extLst>
              </p:cNvPr>
              <p:cNvGrpSpPr/>
              <p:nvPr/>
            </p:nvGrpSpPr>
            <p:grpSpPr>
              <a:xfrm>
                <a:off x="6713654" y="1327042"/>
                <a:ext cx="384176" cy="363646"/>
                <a:chOff x="4300199" y="961246"/>
                <a:chExt cx="384176" cy="363646"/>
              </a:xfrm>
            </p:grpSpPr>
            <p:sp>
              <p:nvSpPr>
                <p:cNvPr id="440" name="正方形/長方形 439">
                  <a:extLst>
                    <a:ext uri="{FF2B5EF4-FFF2-40B4-BE49-F238E27FC236}">
                      <a16:creationId xmlns:a16="http://schemas.microsoft.com/office/drawing/2014/main" id="{06948380-ACC8-0603-1331-35E012A4F729}"/>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41" name="直線コネクタ 440">
                  <a:extLst>
                    <a:ext uri="{FF2B5EF4-FFF2-40B4-BE49-F238E27FC236}">
                      <a16:creationId xmlns:a16="http://schemas.microsoft.com/office/drawing/2014/main" id="{EBB5A90E-F0C7-6199-917E-2DAA6706A085}"/>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42" name="直線コネクタ 441">
                  <a:extLst>
                    <a:ext uri="{FF2B5EF4-FFF2-40B4-BE49-F238E27FC236}">
                      <a16:creationId xmlns:a16="http://schemas.microsoft.com/office/drawing/2014/main" id="{F7EA4CF7-5E25-60B0-5756-4E738CBA0AF6}"/>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43" name="直線コネクタ 442">
                  <a:extLst>
                    <a:ext uri="{FF2B5EF4-FFF2-40B4-BE49-F238E27FC236}">
                      <a16:creationId xmlns:a16="http://schemas.microsoft.com/office/drawing/2014/main" id="{52C9081D-0E31-514D-4AC5-0C584EE7C482}"/>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44" name="直線コネクタ 443">
                  <a:extLst>
                    <a:ext uri="{FF2B5EF4-FFF2-40B4-BE49-F238E27FC236}">
                      <a16:creationId xmlns:a16="http://schemas.microsoft.com/office/drawing/2014/main" id="{5A427905-3186-77C7-E7BF-5CB530E4B8E2}"/>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grpSp>
          <p:nvGrpSpPr>
            <p:cNvPr id="361" name="グループ化 360">
              <a:extLst>
                <a:ext uri="{FF2B5EF4-FFF2-40B4-BE49-F238E27FC236}">
                  <a16:creationId xmlns:a16="http://schemas.microsoft.com/office/drawing/2014/main" id="{62EA07D8-63A4-1473-F4D4-87117D788A0F}"/>
                </a:ext>
              </a:extLst>
            </p:cNvPr>
            <p:cNvGrpSpPr/>
            <p:nvPr/>
          </p:nvGrpSpPr>
          <p:grpSpPr>
            <a:xfrm>
              <a:off x="6579821" y="1244915"/>
              <a:ext cx="1492706" cy="363646"/>
              <a:chOff x="5605124" y="1327042"/>
              <a:chExt cx="1492706" cy="363646"/>
            </a:xfrm>
          </p:grpSpPr>
          <p:grpSp>
            <p:nvGrpSpPr>
              <p:cNvPr id="412" name="グループ化 411">
                <a:extLst>
                  <a:ext uri="{FF2B5EF4-FFF2-40B4-BE49-F238E27FC236}">
                    <a16:creationId xmlns:a16="http://schemas.microsoft.com/office/drawing/2014/main" id="{4A52AD1C-3E94-373F-DCB6-4148B85EBE65}"/>
                  </a:ext>
                </a:extLst>
              </p:cNvPr>
              <p:cNvGrpSpPr/>
              <p:nvPr/>
            </p:nvGrpSpPr>
            <p:grpSpPr>
              <a:xfrm>
                <a:off x="5605124" y="1327042"/>
                <a:ext cx="384176" cy="363646"/>
                <a:chOff x="4300199" y="961246"/>
                <a:chExt cx="384176" cy="363646"/>
              </a:xfrm>
            </p:grpSpPr>
            <p:sp>
              <p:nvSpPr>
                <p:cNvPr id="431" name="正方形/長方形 430">
                  <a:extLst>
                    <a:ext uri="{FF2B5EF4-FFF2-40B4-BE49-F238E27FC236}">
                      <a16:creationId xmlns:a16="http://schemas.microsoft.com/office/drawing/2014/main" id="{48DFBFCA-EA61-E92B-5458-B574E2CA5E96}"/>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32" name="直線コネクタ 431">
                  <a:extLst>
                    <a:ext uri="{FF2B5EF4-FFF2-40B4-BE49-F238E27FC236}">
                      <a16:creationId xmlns:a16="http://schemas.microsoft.com/office/drawing/2014/main" id="{00B69333-A440-174C-38C3-812163F33CDB}"/>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33" name="直線コネクタ 432">
                  <a:extLst>
                    <a:ext uri="{FF2B5EF4-FFF2-40B4-BE49-F238E27FC236}">
                      <a16:creationId xmlns:a16="http://schemas.microsoft.com/office/drawing/2014/main" id="{310BAEE9-E199-AF9C-65C3-DD236A5D2802}"/>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34" name="直線コネクタ 433">
                  <a:extLst>
                    <a:ext uri="{FF2B5EF4-FFF2-40B4-BE49-F238E27FC236}">
                      <a16:creationId xmlns:a16="http://schemas.microsoft.com/office/drawing/2014/main" id="{C9782749-D104-10AE-76AF-522F66C9841D}"/>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35" name="直線コネクタ 434">
                  <a:extLst>
                    <a:ext uri="{FF2B5EF4-FFF2-40B4-BE49-F238E27FC236}">
                      <a16:creationId xmlns:a16="http://schemas.microsoft.com/office/drawing/2014/main" id="{17930F5B-0535-3312-690B-3C6E7C902F32}"/>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413" name="グループ化 412">
                <a:extLst>
                  <a:ext uri="{FF2B5EF4-FFF2-40B4-BE49-F238E27FC236}">
                    <a16:creationId xmlns:a16="http://schemas.microsoft.com/office/drawing/2014/main" id="{93D170B5-F927-FEC3-DDA4-0DD5CC58D1A9}"/>
                  </a:ext>
                </a:extLst>
              </p:cNvPr>
              <p:cNvGrpSpPr/>
              <p:nvPr/>
            </p:nvGrpSpPr>
            <p:grpSpPr>
              <a:xfrm>
                <a:off x="5974634" y="1327042"/>
                <a:ext cx="384176" cy="363646"/>
                <a:chOff x="4300199" y="961246"/>
                <a:chExt cx="384176" cy="363646"/>
              </a:xfrm>
            </p:grpSpPr>
            <p:sp>
              <p:nvSpPr>
                <p:cNvPr id="426" name="正方形/長方形 425">
                  <a:extLst>
                    <a:ext uri="{FF2B5EF4-FFF2-40B4-BE49-F238E27FC236}">
                      <a16:creationId xmlns:a16="http://schemas.microsoft.com/office/drawing/2014/main" id="{B39914B1-C747-AC15-3600-EA7E80AC4814}"/>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27" name="直線コネクタ 426">
                  <a:extLst>
                    <a:ext uri="{FF2B5EF4-FFF2-40B4-BE49-F238E27FC236}">
                      <a16:creationId xmlns:a16="http://schemas.microsoft.com/office/drawing/2014/main" id="{B76762C3-EDD7-46E7-93E4-DC7589070B4D}"/>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28" name="直線コネクタ 427">
                  <a:extLst>
                    <a:ext uri="{FF2B5EF4-FFF2-40B4-BE49-F238E27FC236}">
                      <a16:creationId xmlns:a16="http://schemas.microsoft.com/office/drawing/2014/main" id="{64651193-9BAE-EE0F-97BC-BA819A54466B}"/>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29" name="直線コネクタ 428">
                  <a:extLst>
                    <a:ext uri="{FF2B5EF4-FFF2-40B4-BE49-F238E27FC236}">
                      <a16:creationId xmlns:a16="http://schemas.microsoft.com/office/drawing/2014/main" id="{39EB2A0E-9BDD-2BC6-3599-A201A428B14B}"/>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30" name="直線コネクタ 429">
                  <a:extLst>
                    <a:ext uri="{FF2B5EF4-FFF2-40B4-BE49-F238E27FC236}">
                      <a16:creationId xmlns:a16="http://schemas.microsoft.com/office/drawing/2014/main" id="{57400717-5B8C-2702-17F9-995CCF5E7CC6}"/>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414" name="グループ化 413">
                <a:extLst>
                  <a:ext uri="{FF2B5EF4-FFF2-40B4-BE49-F238E27FC236}">
                    <a16:creationId xmlns:a16="http://schemas.microsoft.com/office/drawing/2014/main" id="{FEFAC5AD-CDFD-B5C3-82D9-CD90F87A4669}"/>
                  </a:ext>
                </a:extLst>
              </p:cNvPr>
              <p:cNvGrpSpPr/>
              <p:nvPr/>
            </p:nvGrpSpPr>
            <p:grpSpPr>
              <a:xfrm>
                <a:off x="6344144" y="1327042"/>
                <a:ext cx="384176" cy="363646"/>
                <a:chOff x="4300199" y="961246"/>
                <a:chExt cx="384176" cy="363646"/>
              </a:xfrm>
            </p:grpSpPr>
            <p:sp>
              <p:nvSpPr>
                <p:cNvPr id="421" name="正方形/長方形 420">
                  <a:extLst>
                    <a:ext uri="{FF2B5EF4-FFF2-40B4-BE49-F238E27FC236}">
                      <a16:creationId xmlns:a16="http://schemas.microsoft.com/office/drawing/2014/main" id="{AB1D2FC9-B3B8-796D-E636-9D61C49408E0}"/>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22" name="直線コネクタ 421">
                  <a:extLst>
                    <a:ext uri="{FF2B5EF4-FFF2-40B4-BE49-F238E27FC236}">
                      <a16:creationId xmlns:a16="http://schemas.microsoft.com/office/drawing/2014/main" id="{5D85A0BF-9183-E626-EB91-6C63373C35C3}"/>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23" name="直線コネクタ 422">
                  <a:extLst>
                    <a:ext uri="{FF2B5EF4-FFF2-40B4-BE49-F238E27FC236}">
                      <a16:creationId xmlns:a16="http://schemas.microsoft.com/office/drawing/2014/main" id="{67FD211D-3DF0-BBCE-3986-1AA935421C74}"/>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24" name="直線コネクタ 423">
                  <a:extLst>
                    <a:ext uri="{FF2B5EF4-FFF2-40B4-BE49-F238E27FC236}">
                      <a16:creationId xmlns:a16="http://schemas.microsoft.com/office/drawing/2014/main" id="{5C296EE5-0D50-0313-601D-C7FD3EE86151}"/>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25" name="直線コネクタ 424">
                  <a:extLst>
                    <a:ext uri="{FF2B5EF4-FFF2-40B4-BE49-F238E27FC236}">
                      <a16:creationId xmlns:a16="http://schemas.microsoft.com/office/drawing/2014/main" id="{FE6B4BB7-CEF2-59F0-BC5B-5DA7A5BCFE2B}"/>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415" name="グループ化 414">
                <a:extLst>
                  <a:ext uri="{FF2B5EF4-FFF2-40B4-BE49-F238E27FC236}">
                    <a16:creationId xmlns:a16="http://schemas.microsoft.com/office/drawing/2014/main" id="{231FEA3D-82A3-D0D6-5570-721E199B773A}"/>
                  </a:ext>
                </a:extLst>
              </p:cNvPr>
              <p:cNvGrpSpPr/>
              <p:nvPr/>
            </p:nvGrpSpPr>
            <p:grpSpPr>
              <a:xfrm>
                <a:off x="6713654" y="1327042"/>
                <a:ext cx="384176" cy="363646"/>
                <a:chOff x="4300199" y="961246"/>
                <a:chExt cx="384176" cy="363646"/>
              </a:xfrm>
            </p:grpSpPr>
            <p:sp>
              <p:nvSpPr>
                <p:cNvPr id="416" name="正方形/長方形 415">
                  <a:extLst>
                    <a:ext uri="{FF2B5EF4-FFF2-40B4-BE49-F238E27FC236}">
                      <a16:creationId xmlns:a16="http://schemas.microsoft.com/office/drawing/2014/main" id="{21B820F9-BE28-7306-E112-07E92DDF230F}"/>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17" name="直線コネクタ 416">
                  <a:extLst>
                    <a:ext uri="{FF2B5EF4-FFF2-40B4-BE49-F238E27FC236}">
                      <a16:creationId xmlns:a16="http://schemas.microsoft.com/office/drawing/2014/main" id="{881207CF-4C5B-2577-797D-E82EEDF47A6B}"/>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18" name="直線コネクタ 417">
                  <a:extLst>
                    <a:ext uri="{FF2B5EF4-FFF2-40B4-BE49-F238E27FC236}">
                      <a16:creationId xmlns:a16="http://schemas.microsoft.com/office/drawing/2014/main" id="{567CE9F7-AF77-F4BE-3907-17711484AA4A}"/>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19" name="直線コネクタ 418">
                  <a:extLst>
                    <a:ext uri="{FF2B5EF4-FFF2-40B4-BE49-F238E27FC236}">
                      <a16:creationId xmlns:a16="http://schemas.microsoft.com/office/drawing/2014/main" id="{CAED8524-FD48-68FA-717A-F4876F18916A}"/>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20" name="直線コネクタ 419">
                  <a:extLst>
                    <a:ext uri="{FF2B5EF4-FFF2-40B4-BE49-F238E27FC236}">
                      <a16:creationId xmlns:a16="http://schemas.microsoft.com/office/drawing/2014/main" id="{A4353E0C-246F-3E41-E7E2-AE0877A257CD}"/>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grpSp>
          <p:nvGrpSpPr>
            <p:cNvPr id="362" name="グループ化 361">
              <a:extLst>
                <a:ext uri="{FF2B5EF4-FFF2-40B4-BE49-F238E27FC236}">
                  <a16:creationId xmlns:a16="http://schemas.microsoft.com/office/drawing/2014/main" id="{41D8D47C-E86E-DE1A-A1F9-8E0929ABA989}"/>
                </a:ext>
              </a:extLst>
            </p:cNvPr>
            <p:cNvGrpSpPr/>
            <p:nvPr/>
          </p:nvGrpSpPr>
          <p:grpSpPr>
            <a:xfrm>
              <a:off x="8057861" y="1244915"/>
              <a:ext cx="1492706" cy="363646"/>
              <a:chOff x="5605124" y="1327042"/>
              <a:chExt cx="1492706" cy="363646"/>
            </a:xfrm>
          </p:grpSpPr>
          <p:grpSp>
            <p:nvGrpSpPr>
              <p:cNvPr id="388" name="グループ化 387">
                <a:extLst>
                  <a:ext uri="{FF2B5EF4-FFF2-40B4-BE49-F238E27FC236}">
                    <a16:creationId xmlns:a16="http://schemas.microsoft.com/office/drawing/2014/main" id="{4C119643-20B4-40E8-9609-33C8DC6BB796}"/>
                  </a:ext>
                </a:extLst>
              </p:cNvPr>
              <p:cNvGrpSpPr/>
              <p:nvPr/>
            </p:nvGrpSpPr>
            <p:grpSpPr>
              <a:xfrm>
                <a:off x="5605124" y="1327042"/>
                <a:ext cx="384176" cy="363646"/>
                <a:chOff x="4300199" y="961246"/>
                <a:chExt cx="384176" cy="363646"/>
              </a:xfrm>
            </p:grpSpPr>
            <p:sp>
              <p:nvSpPr>
                <p:cNvPr id="407" name="正方形/長方形 406">
                  <a:extLst>
                    <a:ext uri="{FF2B5EF4-FFF2-40B4-BE49-F238E27FC236}">
                      <a16:creationId xmlns:a16="http://schemas.microsoft.com/office/drawing/2014/main" id="{D2A89057-FBA7-40A9-C34F-6CEA3BC0D6FA}"/>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08" name="直線コネクタ 407">
                  <a:extLst>
                    <a:ext uri="{FF2B5EF4-FFF2-40B4-BE49-F238E27FC236}">
                      <a16:creationId xmlns:a16="http://schemas.microsoft.com/office/drawing/2014/main" id="{1A7FA2AF-3548-5610-EB0D-DFBDEC2FEE90}"/>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409" name="直線コネクタ 408">
                  <a:extLst>
                    <a:ext uri="{FF2B5EF4-FFF2-40B4-BE49-F238E27FC236}">
                      <a16:creationId xmlns:a16="http://schemas.microsoft.com/office/drawing/2014/main" id="{42B89344-F078-940F-068E-23E9C3308F94}"/>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410" name="直線コネクタ 409">
                  <a:extLst>
                    <a:ext uri="{FF2B5EF4-FFF2-40B4-BE49-F238E27FC236}">
                      <a16:creationId xmlns:a16="http://schemas.microsoft.com/office/drawing/2014/main" id="{585F2790-F682-B4D8-FDB0-3F8502D2AD9C}"/>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11" name="直線コネクタ 410">
                  <a:extLst>
                    <a:ext uri="{FF2B5EF4-FFF2-40B4-BE49-F238E27FC236}">
                      <a16:creationId xmlns:a16="http://schemas.microsoft.com/office/drawing/2014/main" id="{B7E9AEAA-00EA-65B8-E66D-654163BCE28D}"/>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389" name="グループ化 388">
                <a:extLst>
                  <a:ext uri="{FF2B5EF4-FFF2-40B4-BE49-F238E27FC236}">
                    <a16:creationId xmlns:a16="http://schemas.microsoft.com/office/drawing/2014/main" id="{C9C67FC5-C1CE-DC8E-9385-32B383E8C992}"/>
                  </a:ext>
                </a:extLst>
              </p:cNvPr>
              <p:cNvGrpSpPr/>
              <p:nvPr/>
            </p:nvGrpSpPr>
            <p:grpSpPr>
              <a:xfrm>
                <a:off x="5974634" y="1327042"/>
                <a:ext cx="384176" cy="363646"/>
                <a:chOff x="4300199" y="961246"/>
                <a:chExt cx="384176" cy="363646"/>
              </a:xfrm>
            </p:grpSpPr>
            <p:sp>
              <p:nvSpPr>
                <p:cNvPr id="402" name="正方形/長方形 401">
                  <a:extLst>
                    <a:ext uri="{FF2B5EF4-FFF2-40B4-BE49-F238E27FC236}">
                      <a16:creationId xmlns:a16="http://schemas.microsoft.com/office/drawing/2014/main" id="{B78470AC-D7C5-73D4-9FB1-FD84D2705796}"/>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403" name="直線コネクタ 402">
                  <a:extLst>
                    <a:ext uri="{FF2B5EF4-FFF2-40B4-BE49-F238E27FC236}">
                      <a16:creationId xmlns:a16="http://schemas.microsoft.com/office/drawing/2014/main" id="{C7E0C3BA-046F-1396-0F4F-7E7C46EBEB90}"/>
                    </a:ext>
                  </a:extLst>
                </p:cNvPr>
                <p:cNvCxnSpPr>
                  <a:cxnSpLocks/>
                </p:cNvCxnSpPr>
                <p:nvPr/>
              </p:nvCxnSpPr>
              <p:spPr>
                <a:xfrm>
                  <a:off x="4315736" y="961246"/>
                  <a:ext cx="0" cy="363646"/>
                </a:xfrm>
                <a:prstGeom prst="line">
                  <a:avLst/>
                </a:prstGeom>
                <a:noFill/>
                <a:ln w="19050" cap="flat" cmpd="sng" algn="ctr">
                  <a:solidFill>
                    <a:srgbClr val="FF0000"/>
                  </a:solidFill>
                  <a:prstDash val="solid"/>
                  <a:miter lim="800000"/>
                </a:ln>
                <a:effectLst/>
              </p:spPr>
            </p:cxnSp>
            <p:cxnSp>
              <p:nvCxnSpPr>
                <p:cNvPr id="404" name="直線コネクタ 403">
                  <a:extLst>
                    <a:ext uri="{FF2B5EF4-FFF2-40B4-BE49-F238E27FC236}">
                      <a16:creationId xmlns:a16="http://schemas.microsoft.com/office/drawing/2014/main" id="{1CC4A7BE-F4E0-4A81-87CC-18C97C09C5EC}"/>
                    </a:ext>
                  </a:extLst>
                </p:cNvPr>
                <p:cNvCxnSpPr>
                  <a:cxnSpLocks/>
                </p:cNvCxnSpPr>
                <p:nvPr/>
              </p:nvCxnSpPr>
              <p:spPr>
                <a:xfrm>
                  <a:off x="4300199" y="961246"/>
                  <a:ext cx="0" cy="363646"/>
                </a:xfrm>
                <a:prstGeom prst="line">
                  <a:avLst/>
                </a:prstGeom>
                <a:noFill/>
                <a:ln w="19050" cap="flat" cmpd="sng" algn="ctr">
                  <a:solidFill>
                    <a:srgbClr val="FF0000"/>
                  </a:solidFill>
                  <a:prstDash val="solid"/>
                  <a:miter lim="800000"/>
                </a:ln>
                <a:effectLst/>
              </p:spPr>
            </p:cxnSp>
            <p:cxnSp>
              <p:nvCxnSpPr>
                <p:cNvPr id="405" name="直線コネクタ 404">
                  <a:extLst>
                    <a:ext uri="{FF2B5EF4-FFF2-40B4-BE49-F238E27FC236}">
                      <a16:creationId xmlns:a16="http://schemas.microsoft.com/office/drawing/2014/main" id="{937D170E-C9A4-659B-AA8C-2D8DC83962E5}"/>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06" name="直線コネクタ 405">
                  <a:extLst>
                    <a:ext uri="{FF2B5EF4-FFF2-40B4-BE49-F238E27FC236}">
                      <a16:creationId xmlns:a16="http://schemas.microsoft.com/office/drawing/2014/main" id="{B97F1430-C517-B655-BE42-4BCECADABBE2}"/>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390" name="グループ化 389">
                <a:extLst>
                  <a:ext uri="{FF2B5EF4-FFF2-40B4-BE49-F238E27FC236}">
                    <a16:creationId xmlns:a16="http://schemas.microsoft.com/office/drawing/2014/main" id="{FFC4811D-1B7E-578F-1C7E-E82E0BDC3EFC}"/>
                  </a:ext>
                </a:extLst>
              </p:cNvPr>
              <p:cNvGrpSpPr/>
              <p:nvPr/>
            </p:nvGrpSpPr>
            <p:grpSpPr>
              <a:xfrm>
                <a:off x="6344144" y="1327042"/>
                <a:ext cx="384176" cy="363646"/>
                <a:chOff x="4300199" y="961246"/>
                <a:chExt cx="384176" cy="363646"/>
              </a:xfrm>
            </p:grpSpPr>
            <p:sp>
              <p:nvSpPr>
                <p:cNvPr id="397" name="正方形/長方形 396">
                  <a:extLst>
                    <a:ext uri="{FF2B5EF4-FFF2-40B4-BE49-F238E27FC236}">
                      <a16:creationId xmlns:a16="http://schemas.microsoft.com/office/drawing/2014/main" id="{37DF8F47-F838-EAED-23DC-88A11EDB14FD}"/>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398" name="直線コネクタ 397">
                  <a:extLst>
                    <a:ext uri="{FF2B5EF4-FFF2-40B4-BE49-F238E27FC236}">
                      <a16:creationId xmlns:a16="http://schemas.microsoft.com/office/drawing/2014/main" id="{8DFD8A99-49F1-BBA5-1439-538323B9C782}"/>
                    </a:ext>
                  </a:extLst>
                </p:cNvPr>
                <p:cNvCxnSpPr>
                  <a:cxnSpLocks/>
                </p:cNvCxnSpPr>
                <p:nvPr/>
              </p:nvCxnSpPr>
              <p:spPr>
                <a:xfrm>
                  <a:off x="4315736" y="961246"/>
                  <a:ext cx="0" cy="363646"/>
                </a:xfrm>
                <a:prstGeom prst="line">
                  <a:avLst/>
                </a:prstGeom>
                <a:noFill/>
                <a:ln w="19050" cap="flat" cmpd="sng" algn="ctr">
                  <a:solidFill>
                    <a:srgbClr val="FF0000"/>
                  </a:solidFill>
                  <a:prstDash val="solid"/>
                  <a:miter lim="800000"/>
                </a:ln>
                <a:effectLst/>
              </p:spPr>
            </p:cxnSp>
            <p:cxnSp>
              <p:nvCxnSpPr>
                <p:cNvPr id="399" name="直線コネクタ 398">
                  <a:extLst>
                    <a:ext uri="{FF2B5EF4-FFF2-40B4-BE49-F238E27FC236}">
                      <a16:creationId xmlns:a16="http://schemas.microsoft.com/office/drawing/2014/main" id="{6F753A67-5087-479A-E9EB-B95333802B34}"/>
                    </a:ext>
                  </a:extLst>
                </p:cNvPr>
                <p:cNvCxnSpPr>
                  <a:cxnSpLocks/>
                </p:cNvCxnSpPr>
                <p:nvPr/>
              </p:nvCxnSpPr>
              <p:spPr>
                <a:xfrm>
                  <a:off x="4300199" y="961246"/>
                  <a:ext cx="0" cy="363646"/>
                </a:xfrm>
                <a:prstGeom prst="line">
                  <a:avLst/>
                </a:prstGeom>
                <a:noFill/>
                <a:ln w="19050" cap="flat" cmpd="sng" algn="ctr">
                  <a:solidFill>
                    <a:srgbClr val="FF0000"/>
                  </a:solidFill>
                  <a:prstDash val="solid"/>
                  <a:miter lim="800000"/>
                </a:ln>
                <a:effectLst/>
              </p:spPr>
            </p:cxnSp>
            <p:cxnSp>
              <p:nvCxnSpPr>
                <p:cNvPr id="400" name="直線コネクタ 399">
                  <a:extLst>
                    <a:ext uri="{FF2B5EF4-FFF2-40B4-BE49-F238E27FC236}">
                      <a16:creationId xmlns:a16="http://schemas.microsoft.com/office/drawing/2014/main" id="{59511B26-E23C-EE79-827B-41A8055742F0}"/>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401" name="直線コネクタ 400">
                  <a:extLst>
                    <a:ext uri="{FF2B5EF4-FFF2-40B4-BE49-F238E27FC236}">
                      <a16:creationId xmlns:a16="http://schemas.microsoft.com/office/drawing/2014/main" id="{B27D0672-3003-0B00-CEEF-3957FD56E61C}"/>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391" name="グループ化 390">
                <a:extLst>
                  <a:ext uri="{FF2B5EF4-FFF2-40B4-BE49-F238E27FC236}">
                    <a16:creationId xmlns:a16="http://schemas.microsoft.com/office/drawing/2014/main" id="{092CE895-378B-4BD2-2C55-6AFEEF3B0300}"/>
                  </a:ext>
                </a:extLst>
              </p:cNvPr>
              <p:cNvGrpSpPr/>
              <p:nvPr/>
            </p:nvGrpSpPr>
            <p:grpSpPr>
              <a:xfrm>
                <a:off x="6713654" y="1327042"/>
                <a:ext cx="384176" cy="363646"/>
                <a:chOff x="4300199" y="961246"/>
                <a:chExt cx="384176" cy="363646"/>
              </a:xfrm>
            </p:grpSpPr>
            <p:sp>
              <p:nvSpPr>
                <p:cNvPr id="392" name="正方形/長方形 391">
                  <a:extLst>
                    <a:ext uri="{FF2B5EF4-FFF2-40B4-BE49-F238E27FC236}">
                      <a16:creationId xmlns:a16="http://schemas.microsoft.com/office/drawing/2014/main" id="{DEFEB5F3-A4E6-47BE-28D8-11EE1C12B0B8}"/>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393" name="直線コネクタ 392">
                  <a:extLst>
                    <a:ext uri="{FF2B5EF4-FFF2-40B4-BE49-F238E27FC236}">
                      <a16:creationId xmlns:a16="http://schemas.microsoft.com/office/drawing/2014/main" id="{DBD5B609-FCAA-88E5-6733-441C5F0BBBFD}"/>
                    </a:ext>
                  </a:extLst>
                </p:cNvPr>
                <p:cNvCxnSpPr>
                  <a:cxnSpLocks/>
                </p:cNvCxnSpPr>
                <p:nvPr/>
              </p:nvCxnSpPr>
              <p:spPr>
                <a:xfrm>
                  <a:off x="4315736" y="961246"/>
                  <a:ext cx="0" cy="363646"/>
                </a:xfrm>
                <a:prstGeom prst="line">
                  <a:avLst/>
                </a:prstGeom>
                <a:noFill/>
                <a:ln w="19050" cap="flat" cmpd="sng" algn="ctr">
                  <a:solidFill>
                    <a:srgbClr val="FF0000"/>
                  </a:solidFill>
                  <a:prstDash val="solid"/>
                  <a:miter lim="800000"/>
                </a:ln>
                <a:effectLst/>
              </p:spPr>
            </p:cxnSp>
            <p:cxnSp>
              <p:nvCxnSpPr>
                <p:cNvPr id="394" name="直線コネクタ 393">
                  <a:extLst>
                    <a:ext uri="{FF2B5EF4-FFF2-40B4-BE49-F238E27FC236}">
                      <a16:creationId xmlns:a16="http://schemas.microsoft.com/office/drawing/2014/main" id="{EC58C828-E2CB-2FA2-12C0-C209762185C0}"/>
                    </a:ext>
                  </a:extLst>
                </p:cNvPr>
                <p:cNvCxnSpPr>
                  <a:cxnSpLocks/>
                </p:cNvCxnSpPr>
                <p:nvPr/>
              </p:nvCxnSpPr>
              <p:spPr>
                <a:xfrm>
                  <a:off x="4300199" y="961246"/>
                  <a:ext cx="0" cy="363646"/>
                </a:xfrm>
                <a:prstGeom prst="line">
                  <a:avLst/>
                </a:prstGeom>
                <a:noFill/>
                <a:ln w="19050" cap="flat" cmpd="sng" algn="ctr">
                  <a:solidFill>
                    <a:srgbClr val="FF0000"/>
                  </a:solidFill>
                  <a:prstDash val="solid"/>
                  <a:miter lim="800000"/>
                </a:ln>
                <a:effectLst/>
              </p:spPr>
            </p:cxnSp>
            <p:cxnSp>
              <p:nvCxnSpPr>
                <p:cNvPr id="395" name="直線コネクタ 394">
                  <a:extLst>
                    <a:ext uri="{FF2B5EF4-FFF2-40B4-BE49-F238E27FC236}">
                      <a16:creationId xmlns:a16="http://schemas.microsoft.com/office/drawing/2014/main" id="{027273F0-3A46-089C-D639-B30484835B46}"/>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396" name="直線コネクタ 395">
                  <a:extLst>
                    <a:ext uri="{FF2B5EF4-FFF2-40B4-BE49-F238E27FC236}">
                      <a16:creationId xmlns:a16="http://schemas.microsoft.com/office/drawing/2014/main" id="{0D5DA62A-BCAE-44C9-5920-ECA1733994FB}"/>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grpSp>
          <p:nvGrpSpPr>
            <p:cNvPr id="363" name="グループ化 362">
              <a:extLst>
                <a:ext uri="{FF2B5EF4-FFF2-40B4-BE49-F238E27FC236}">
                  <a16:creationId xmlns:a16="http://schemas.microsoft.com/office/drawing/2014/main" id="{25A545AF-FDE0-B7EF-F97C-6976B5093D77}"/>
                </a:ext>
              </a:extLst>
            </p:cNvPr>
            <p:cNvGrpSpPr/>
            <p:nvPr/>
          </p:nvGrpSpPr>
          <p:grpSpPr>
            <a:xfrm>
              <a:off x="9535901" y="1244915"/>
              <a:ext cx="1492706" cy="363646"/>
              <a:chOff x="5605124" y="1327042"/>
              <a:chExt cx="1492706" cy="363646"/>
            </a:xfrm>
          </p:grpSpPr>
          <p:grpSp>
            <p:nvGrpSpPr>
              <p:cNvPr id="364" name="グループ化 363">
                <a:extLst>
                  <a:ext uri="{FF2B5EF4-FFF2-40B4-BE49-F238E27FC236}">
                    <a16:creationId xmlns:a16="http://schemas.microsoft.com/office/drawing/2014/main" id="{6315CC09-4131-C024-4970-A2E781B60B40}"/>
                  </a:ext>
                </a:extLst>
              </p:cNvPr>
              <p:cNvGrpSpPr/>
              <p:nvPr/>
            </p:nvGrpSpPr>
            <p:grpSpPr>
              <a:xfrm>
                <a:off x="5605124" y="1327042"/>
                <a:ext cx="384176" cy="363646"/>
                <a:chOff x="4300199" y="961246"/>
                <a:chExt cx="384176" cy="363646"/>
              </a:xfrm>
            </p:grpSpPr>
            <p:sp>
              <p:nvSpPr>
                <p:cNvPr id="383" name="正方形/長方形 382">
                  <a:extLst>
                    <a:ext uri="{FF2B5EF4-FFF2-40B4-BE49-F238E27FC236}">
                      <a16:creationId xmlns:a16="http://schemas.microsoft.com/office/drawing/2014/main" id="{BC8C6AFA-5D53-3578-200B-F6024F602401}"/>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384" name="直線コネクタ 383">
                  <a:extLst>
                    <a:ext uri="{FF2B5EF4-FFF2-40B4-BE49-F238E27FC236}">
                      <a16:creationId xmlns:a16="http://schemas.microsoft.com/office/drawing/2014/main" id="{2BA5EAA6-8BAF-F15E-0BA5-8144B7F95690}"/>
                    </a:ext>
                  </a:extLst>
                </p:cNvPr>
                <p:cNvCxnSpPr>
                  <a:cxnSpLocks/>
                </p:cNvCxnSpPr>
                <p:nvPr/>
              </p:nvCxnSpPr>
              <p:spPr>
                <a:xfrm>
                  <a:off x="4315736" y="961246"/>
                  <a:ext cx="0" cy="363646"/>
                </a:xfrm>
                <a:prstGeom prst="line">
                  <a:avLst/>
                </a:prstGeom>
                <a:noFill/>
                <a:ln w="19050" cap="flat" cmpd="sng" algn="ctr">
                  <a:solidFill>
                    <a:srgbClr val="FF0000"/>
                  </a:solidFill>
                  <a:prstDash val="solid"/>
                  <a:miter lim="800000"/>
                </a:ln>
                <a:effectLst/>
              </p:spPr>
            </p:cxnSp>
            <p:cxnSp>
              <p:nvCxnSpPr>
                <p:cNvPr id="385" name="直線コネクタ 384">
                  <a:extLst>
                    <a:ext uri="{FF2B5EF4-FFF2-40B4-BE49-F238E27FC236}">
                      <a16:creationId xmlns:a16="http://schemas.microsoft.com/office/drawing/2014/main" id="{81E13E7E-DDD6-A419-B844-2B9DA7BA7ACE}"/>
                    </a:ext>
                  </a:extLst>
                </p:cNvPr>
                <p:cNvCxnSpPr>
                  <a:cxnSpLocks/>
                </p:cNvCxnSpPr>
                <p:nvPr/>
              </p:nvCxnSpPr>
              <p:spPr>
                <a:xfrm>
                  <a:off x="4300199" y="961246"/>
                  <a:ext cx="0" cy="363646"/>
                </a:xfrm>
                <a:prstGeom prst="line">
                  <a:avLst/>
                </a:prstGeom>
                <a:noFill/>
                <a:ln w="19050" cap="flat" cmpd="sng" algn="ctr">
                  <a:solidFill>
                    <a:srgbClr val="FF0000"/>
                  </a:solidFill>
                  <a:prstDash val="solid"/>
                  <a:miter lim="800000"/>
                </a:ln>
                <a:effectLst/>
              </p:spPr>
            </p:cxnSp>
            <p:cxnSp>
              <p:nvCxnSpPr>
                <p:cNvPr id="386" name="直線コネクタ 385">
                  <a:extLst>
                    <a:ext uri="{FF2B5EF4-FFF2-40B4-BE49-F238E27FC236}">
                      <a16:creationId xmlns:a16="http://schemas.microsoft.com/office/drawing/2014/main" id="{02531875-533A-786C-3C50-F23869D3C19C}"/>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387" name="直線コネクタ 386">
                  <a:extLst>
                    <a:ext uri="{FF2B5EF4-FFF2-40B4-BE49-F238E27FC236}">
                      <a16:creationId xmlns:a16="http://schemas.microsoft.com/office/drawing/2014/main" id="{B66EC512-E718-5F8A-6D8F-D92DD09F6C47}"/>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365" name="グループ化 364">
                <a:extLst>
                  <a:ext uri="{FF2B5EF4-FFF2-40B4-BE49-F238E27FC236}">
                    <a16:creationId xmlns:a16="http://schemas.microsoft.com/office/drawing/2014/main" id="{43053DF3-CC4A-0E7A-8A81-6B70B9B38E71}"/>
                  </a:ext>
                </a:extLst>
              </p:cNvPr>
              <p:cNvGrpSpPr/>
              <p:nvPr/>
            </p:nvGrpSpPr>
            <p:grpSpPr>
              <a:xfrm>
                <a:off x="5974634" y="1327042"/>
                <a:ext cx="384176" cy="363646"/>
                <a:chOff x="4300199" y="961246"/>
                <a:chExt cx="384176" cy="363646"/>
              </a:xfrm>
            </p:grpSpPr>
            <p:sp>
              <p:nvSpPr>
                <p:cNvPr id="378" name="正方形/長方形 377">
                  <a:extLst>
                    <a:ext uri="{FF2B5EF4-FFF2-40B4-BE49-F238E27FC236}">
                      <a16:creationId xmlns:a16="http://schemas.microsoft.com/office/drawing/2014/main" id="{86BBC8D0-1F4D-90F3-F8A7-46BDF0E9ED46}"/>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379" name="直線コネクタ 378">
                  <a:extLst>
                    <a:ext uri="{FF2B5EF4-FFF2-40B4-BE49-F238E27FC236}">
                      <a16:creationId xmlns:a16="http://schemas.microsoft.com/office/drawing/2014/main" id="{A678DE49-84C9-B886-A4EA-20748F0EFD5C}"/>
                    </a:ext>
                  </a:extLst>
                </p:cNvPr>
                <p:cNvCxnSpPr>
                  <a:cxnSpLocks/>
                </p:cNvCxnSpPr>
                <p:nvPr/>
              </p:nvCxnSpPr>
              <p:spPr>
                <a:xfrm>
                  <a:off x="4315736" y="961246"/>
                  <a:ext cx="0" cy="363646"/>
                </a:xfrm>
                <a:prstGeom prst="line">
                  <a:avLst/>
                </a:prstGeom>
                <a:noFill/>
                <a:ln w="19050" cap="flat" cmpd="sng" algn="ctr">
                  <a:solidFill>
                    <a:srgbClr val="FF0000"/>
                  </a:solidFill>
                  <a:prstDash val="solid"/>
                  <a:miter lim="800000"/>
                </a:ln>
                <a:effectLst/>
              </p:spPr>
            </p:cxnSp>
            <p:cxnSp>
              <p:nvCxnSpPr>
                <p:cNvPr id="380" name="直線コネクタ 379">
                  <a:extLst>
                    <a:ext uri="{FF2B5EF4-FFF2-40B4-BE49-F238E27FC236}">
                      <a16:creationId xmlns:a16="http://schemas.microsoft.com/office/drawing/2014/main" id="{1E22BC93-EDE1-2055-3191-34ED512BDDCA}"/>
                    </a:ext>
                  </a:extLst>
                </p:cNvPr>
                <p:cNvCxnSpPr>
                  <a:cxnSpLocks/>
                </p:cNvCxnSpPr>
                <p:nvPr/>
              </p:nvCxnSpPr>
              <p:spPr>
                <a:xfrm>
                  <a:off x="4300199" y="961246"/>
                  <a:ext cx="0" cy="363646"/>
                </a:xfrm>
                <a:prstGeom prst="line">
                  <a:avLst/>
                </a:prstGeom>
                <a:noFill/>
                <a:ln w="19050" cap="flat" cmpd="sng" algn="ctr">
                  <a:solidFill>
                    <a:srgbClr val="FF0000"/>
                  </a:solidFill>
                  <a:prstDash val="solid"/>
                  <a:miter lim="800000"/>
                </a:ln>
                <a:effectLst/>
              </p:spPr>
            </p:cxnSp>
            <p:cxnSp>
              <p:nvCxnSpPr>
                <p:cNvPr id="381" name="直線コネクタ 380">
                  <a:extLst>
                    <a:ext uri="{FF2B5EF4-FFF2-40B4-BE49-F238E27FC236}">
                      <a16:creationId xmlns:a16="http://schemas.microsoft.com/office/drawing/2014/main" id="{7D540CF9-D8E1-39D6-619C-CCF806EB4CED}"/>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382" name="直線コネクタ 381">
                  <a:extLst>
                    <a:ext uri="{FF2B5EF4-FFF2-40B4-BE49-F238E27FC236}">
                      <a16:creationId xmlns:a16="http://schemas.microsoft.com/office/drawing/2014/main" id="{63716F65-02D6-1399-B427-FC56E6B60028}"/>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366" name="グループ化 365">
                <a:extLst>
                  <a:ext uri="{FF2B5EF4-FFF2-40B4-BE49-F238E27FC236}">
                    <a16:creationId xmlns:a16="http://schemas.microsoft.com/office/drawing/2014/main" id="{F0F83515-59B3-711C-E52E-D52D2B9283CA}"/>
                  </a:ext>
                </a:extLst>
              </p:cNvPr>
              <p:cNvGrpSpPr/>
              <p:nvPr/>
            </p:nvGrpSpPr>
            <p:grpSpPr>
              <a:xfrm>
                <a:off x="6344144" y="1327042"/>
                <a:ext cx="384176" cy="363646"/>
                <a:chOff x="4300199" y="961246"/>
                <a:chExt cx="384176" cy="363646"/>
              </a:xfrm>
            </p:grpSpPr>
            <p:sp>
              <p:nvSpPr>
                <p:cNvPr id="373" name="正方形/長方形 372">
                  <a:extLst>
                    <a:ext uri="{FF2B5EF4-FFF2-40B4-BE49-F238E27FC236}">
                      <a16:creationId xmlns:a16="http://schemas.microsoft.com/office/drawing/2014/main" id="{A034263D-18B3-B522-74B6-63E5CC21EE19}"/>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374" name="直線コネクタ 373">
                  <a:extLst>
                    <a:ext uri="{FF2B5EF4-FFF2-40B4-BE49-F238E27FC236}">
                      <a16:creationId xmlns:a16="http://schemas.microsoft.com/office/drawing/2014/main" id="{48C89341-B77D-923A-785B-14E03D281367}"/>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375" name="直線コネクタ 374">
                  <a:extLst>
                    <a:ext uri="{FF2B5EF4-FFF2-40B4-BE49-F238E27FC236}">
                      <a16:creationId xmlns:a16="http://schemas.microsoft.com/office/drawing/2014/main" id="{69257850-EBE9-3A12-C6CA-1AD52D28263D}"/>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376" name="直線コネクタ 375">
                  <a:extLst>
                    <a:ext uri="{FF2B5EF4-FFF2-40B4-BE49-F238E27FC236}">
                      <a16:creationId xmlns:a16="http://schemas.microsoft.com/office/drawing/2014/main" id="{BDC7FA0B-7E57-C7B0-2E96-6D672D2E7E88}"/>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377" name="直線コネクタ 376">
                  <a:extLst>
                    <a:ext uri="{FF2B5EF4-FFF2-40B4-BE49-F238E27FC236}">
                      <a16:creationId xmlns:a16="http://schemas.microsoft.com/office/drawing/2014/main" id="{FEF8CEA8-4269-A1A8-3821-326E1C3208CC}"/>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nvGrpSpPr>
              <p:cNvPr id="367" name="グループ化 366">
                <a:extLst>
                  <a:ext uri="{FF2B5EF4-FFF2-40B4-BE49-F238E27FC236}">
                    <a16:creationId xmlns:a16="http://schemas.microsoft.com/office/drawing/2014/main" id="{1A0459A7-A0EF-3343-69C4-152B51144F94}"/>
                  </a:ext>
                </a:extLst>
              </p:cNvPr>
              <p:cNvGrpSpPr/>
              <p:nvPr/>
            </p:nvGrpSpPr>
            <p:grpSpPr>
              <a:xfrm>
                <a:off x="6713654" y="1327042"/>
                <a:ext cx="384176" cy="363646"/>
                <a:chOff x="4300199" y="961246"/>
                <a:chExt cx="384176" cy="363646"/>
              </a:xfrm>
            </p:grpSpPr>
            <p:sp>
              <p:nvSpPr>
                <p:cNvPr id="368" name="正方形/長方形 367">
                  <a:extLst>
                    <a:ext uri="{FF2B5EF4-FFF2-40B4-BE49-F238E27FC236}">
                      <a16:creationId xmlns:a16="http://schemas.microsoft.com/office/drawing/2014/main" id="{2A07BC26-CD06-220F-1BCC-4976FD1A4947}"/>
                    </a:ext>
                  </a:extLst>
                </p:cNvPr>
                <p:cNvSpPr/>
                <p:nvPr/>
              </p:nvSpPr>
              <p:spPr>
                <a:xfrm>
                  <a:off x="4317662" y="961246"/>
                  <a:ext cx="352047" cy="363646"/>
                </a:xfrm>
                <a:prstGeom prst="rect">
                  <a:avLst/>
                </a:prstGeom>
                <a:solidFill>
                  <a:sysClr val="windowText" lastClr="00000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p:txBody>
            </p:sp>
            <p:cxnSp>
              <p:nvCxnSpPr>
                <p:cNvPr id="369" name="直線コネクタ 368">
                  <a:extLst>
                    <a:ext uri="{FF2B5EF4-FFF2-40B4-BE49-F238E27FC236}">
                      <a16:creationId xmlns:a16="http://schemas.microsoft.com/office/drawing/2014/main" id="{C79BEC05-A4C6-80CA-99A1-ED4F35F34A29}"/>
                    </a:ext>
                  </a:extLst>
                </p:cNvPr>
                <p:cNvCxnSpPr>
                  <a:cxnSpLocks/>
                </p:cNvCxnSpPr>
                <p:nvPr/>
              </p:nvCxnSpPr>
              <p:spPr>
                <a:xfrm>
                  <a:off x="4315736" y="961246"/>
                  <a:ext cx="0" cy="363646"/>
                </a:xfrm>
                <a:prstGeom prst="line">
                  <a:avLst/>
                </a:prstGeom>
                <a:noFill/>
                <a:ln w="19050" cap="flat" cmpd="sng" algn="ctr">
                  <a:solidFill>
                    <a:srgbClr val="FFFF00"/>
                  </a:solidFill>
                  <a:prstDash val="solid"/>
                  <a:miter lim="800000"/>
                </a:ln>
                <a:effectLst/>
              </p:spPr>
            </p:cxnSp>
            <p:cxnSp>
              <p:nvCxnSpPr>
                <p:cNvPr id="370" name="直線コネクタ 369">
                  <a:extLst>
                    <a:ext uri="{FF2B5EF4-FFF2-40B4-BE49-F238E27FC236}">
                      <a16:creationId xmlns:a16="http://schemas.microsoft.com/office/drawing/2014/main" id="{0D529CFD-1B8E-3EDE-6034-0AE3A60D095B}"/>
                    </a:ext>
                  </a:extLst>
                </p:cNvPr>
                <p:cNvCxnSpPr>
                  <a:cxnSpLocks/>
                </p:cNvCxnSpPr>
                <p:nvPr/>
              </p:nvCxnSpPr>
              <p:spPr>
                <a:xfrm>
                  <a:off x="4300199" y="961246"/>
                  <a:ext cx="0" cy="363646"/>
                </a:xfrm>
                <a:prstGeom prst="line">
                  <a:avLst/>
                </a:prstGeom>
                <a:noFill/>
                <a:ln w="19050" cap="flat" cmpd="sng" algn="ctr">
                  <a:solidFill>
                    <a:srgbClr val="FFFF00"/>
                  </a:solidFill>
                  <a:prstDash val="solid"/>
                  <a:miter lim="800000"/>
                </a:ln>
                <a:effectLst/>
              </p:spPr>
            </p:cxnSp>
            <p:cxnSp>
              <p:nvCxnSpPr>
                <p:cNvPr id="371" name="直線コネクタ 370">
                  <a:extLst>
                    <a:ext uri="{FF2B5EF4-FFF2-40B4-BE49-F238E27FC236}">
                      <a16:creationId xmlns:a16="http://schemas.microsoft.com/office/drawing/2014/main" id="{ACD0ACEB-7AE4-F013-1E0C-FFFC2C87FE11}"/>
                    </a:ext>
                  </a:extLst>
                </p:cNvPr>
                <p:cNvCxnSpPr>
                  <a:cxnSpLocks/>
                </p:cNvCxnSpPr>
                <p:nvPr/>
              </p:nvCxnSpPr>
              <p:spPr>
                <a:xfrm>
                  <a:off x="4671830" y="961246"/>
                  <a:ext cx="0" cy="363646"/>
                </a:xfrm>
                <a:prstGeom prst="line">
                  <a:avLst/>
                </a:prstGeom>
                <a:noFill/>
                <a:ln w="19050" cap="flat" cmpd="sng" algn="ctr">
                  <a:solidFill>
                    <a:srgbClr val="FFFF00"/>
                  </a:solidFill>
                  <a:prstDash val="solid"/>
                  <a:miter lim="800000"/>
                </a:ln>
                <a:effectLst/>
              </p:spPr>
            </p:cxnSp>
            <p:cxnSp>
              <p:nvCxnSpPr>
                <p:cNvPr id="372" name="直線コネクタ 371">
                  <a:extLst>
                    <a:ext uri="{FF2B5EF4-FFF2-40B4-BE49-F238E27FC236}">
                      <a16:creationId xmlns:a16="http://schemas.microsoft.com/office/drawing/2014/main" id="{EDA2DD8B-140E-6AAE-E39A-C252E7E77E96}"/>
                    </a:ext>
                  </a:extLst>
                </p:cNvPr>
                <p:cNvCxnSpPr>
                  <a:cxnSpLocks/>
                </p:cNvCxnSpPr>
                <p:nvPr/>
              </p:nvCxnSpPr>
              <p:spPr>
                <a:xfrm>
                  <a:off x="4684375" y="961246"/>
                  <a:ext cx="0" cy="363646"/>
                </a:xfrm>
                <a:prstGeom prst="line">
                  <a:avLst/>
                </a:prstGeom>
                <a:noFill/>
                <a:ln w="19050" cap="flat" cmpd="sng" algn="ctr">
                  <a:solidFill>
                    <a:srgbClr val="FFFF00"/>
                  </a:solidFill>
                  <a:prstDash val="solid"/>
                  <a:miter lim="800000"/>
                </a:ln>
                <a:effectLst/>
              </p:spPr>
            </p:cxnSp>
          </p:grpSp>
        </p:grpSp>
      </p:grpSp>
      <p:sp>
        <p:nvSpPr>
          <p:cNvPr id="37" name="楕円 36">
            <a:extLst>
              <a:ext uri="{FF2B5EF4-FFF2-40B4-BE49-F238E27FC236}">
                <a16:creationId xmlns:a16="http://schemas.microsoft.com/office/drawing/2014/main" id="{91DCA0BA-ED51-519C-BD5D-36A674DA244C}"/>
              </a:ext>
            </a:extLst>
          </p:cNvPr>
          <p:cNvSpPr/>
          <p:nvPr/>
        </p:nvSpPr>
        <p:spPr>
          <a:xfrm>
            <a:off x="4985679" y="4358044"/>
            <a:ext cx="1824335" cy="604740"/>
          </a:xfrm>
          <a:prstGeom prst="ellipse">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タイトル 1">
            <a:extLst>
              <a:ext uri="{FF2B5EF4-FFF2-40B4-BE49-F238E27FC236}">
                <a16:creationId xmlns:a16="http://schemas.microsoft.com/office/drawing/2014/main" id="{F93D8D6A-B4A1-28C0-EC0A-C0250F266BE2}"/>
              </a:ext>
            </a:extLst>
          </p:cNvPr>
          <p:cNvSpPr>
            <a:spLocks noGrp="1"/>
          </p:cNvSpPr>
          <p:nvPr>
            <p:ph type="title"/>
          </p:nvPr>
        </p:nvSpPr>
        <p:spPr>
          <a:xfrm>
            <a:off x="838200" y="365125"/>
            <a:ext cx="10515600" cy="1325563"/>
          </a:xfrm>
        </p:spPr>
        <p:txBody>
          <a:bodyPr/>
          <a:lstStyle/>
          <a:p>
            <a:pPr marL="914400" indent="-914400">
              <a:buFont typeface="+mj-lt"/>
              <a:buAutoNum type="arabicPeriod" startAt="6"/>
            </a:pPr>
            <a:r>
              <a:rPr kumimoji="1" lang="ja-JP" altLang="en-US" dirty="0"/>
              <a:t>システム構成</a:t>
            </a:r>
          </a:p>
        </p:txBody>
      </p:sp>
      <p:sp>
        <p:nvSpPr>
          <p:cNvPr id="2" name="テキスト ボックス 1">
            <a:extLst>
              <a:ext uri="{FF2B5EF4-FFF2-40B4-BE49-F238E27FC236}">
                <a16:creationId xmlns:a16="http://schemas.microsoft.com/office/drawing/2014/main" id="{986A985B-0A59-8A28-768A-C36EAA6AD3F7}"/>
              </a:ext>
            </a:extLst>
          </p:cNvPr>
          <p:cNvSpPr txBox="1"/>
          <p:nvPr/>
        </p:nvSpPr>
        <p:spPr>
          <a:xfrm>
            <a:off x="7587461" y="3868667"/>
            <a:ext cx="2935815" cy="369332"/>
          </a:xfrm>
          <a:prstGeom prst="rect">
            <a:avLst/>
          </a:prstGeom>
          <a:noFill/>
        </p:spPr>
        <p:txBody>
          <a:bodyPr wrap="square" rtlCol="0">
            <a:spAutoFit/>
          </a:bodyPr>
          <a:lstStyle/>
          <a:p>
            <a:r>
              <a:rPr kumimoji="1" lang="en-US" altLang="ja-JP" b="1" dirty="0">
                <a:latin typeface="+mj-ea"/>
                <a:ea typeface="+mj-ea"/>
              </a:rPr>
              <a:t>※</a:t>
            </a:r>
            <a:r>
              <a:rPr kumimoji="1" lang="ja-JP" altLang="en-US" b="1" dirty="0">
                <a:latin typeface="+mj-ea"/>
                <a:ea typeface="+mj-ea"/>
              </a:rPr>
              <a:t>イベントが</a:t>
            </a:r>
            <a:r>
              <a:rPr kumimoji="1" lang="en-US" altLang="ja-JP" b="1" dirty="0">
                <a:latin typeface="+mj-ea"/>
                <a:ea typeface="+mj-ea"/>
              </a:rPr>
              <a:t>1</a:t>
            </a:r>
            <a:r>
              <a:rPr kumimoji="1" lang="ja-JP" altLang="en-US" b="1" dirty="0">
                <a:latin typeface="+mj-ea"/>
                <a:ea typeface="+mj-ea"/>
              </a:rPr>
              <a:t>秒の場合</a:t>
            </a:r>
          </a:p>
        </p:txBody>
      </p:sp>
    </p:spTree>
    <p:extLst>
      <p:ext uri="{BB962C8B-B14F-4D97-AF65-F5344CB8AC3E}">
        <p14:creationId xmlns:p14="http://schemas.microsoft.com/office/powerpoint/2010/main" val="1445350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83410-6A32-3827-EBA5-919EF86E0EA6}"/>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E3EAD35B-D018-24C0-8926-0408248F3500}"/>
              </a:ext>
            </a:extLst>
          </p:cNvPr>
          <p:cNvSpPr>
            <a:spLocks noGrp="1"/>
          </p:cNvSpPr>
          <p:nvPr>
            <p:ph type="sldNum" sz="quarter" idx="12"/>
          </p:nvPr>
        </p:nvSpPr>
        <p:spPr/>
        <p:txBody>
          <a:bodyPr/>
          <a:lstStyle/>
          <a:p>
            <a:fld id="{228943F0-0511-42E8-9F3F-80232065CB31}" type="slidenum">
              <a:rPr kumimoji="1" lang="ja-JP" altLang="en-US" smtClean="0"/>
              <a:t>13</a:t>
            </a:fld>
            <a:endParaRPr kumimoji="1" lang="ja-JP" altLang="en-US" dirty="0"/>
          </a:p>
        </p:txBody>
      </p:sp>
      <p:sp>
        <p:nvSpPr>
          <p:cNvPr id="7" name="四角形: 角を丸くする 6">
            <a:extLst>
              <a:ext uri="{FF2B5EF4-FFF2-40B4-BE49-F238E27FC236}">
                <a16:creationId xmlns:a16="http://schemas.microsoft.com/office/drawing/2014/main" id="{88E61C7F-EE5B-421D-F85A-40F39F1EB755}"/>
              </a:ext>
            </a:extLst>
          </p:cNvPr>
          <p:cNvSpPr/>
          <p:nvPr/>
        </p:nvSpPr>
        <p:spPr>
          <a:xfrm>
            <a:off x="693988" y="2236349"/>
            <a:ext cx="4851400" cy="613448"/>
          </a:xfrm>
          <a:prstGeom prst="roundRect">
            <a:avLst/>
          </a:prstGeom>
          <a:solidFill>
            <a:schemeClr val="accent2">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rPr>
              <a:t>Gemini</a:t>
            </a:r>
            <a:r>
              <a:rPr kumimoji="1" lang="ja-JP" altLang="en-US" dirty="0">
                <a:latin typeface="メイリオ" panose="020B0604030504040204" pitchFamily="50" charset="-128"/>
              </a:rPr>
              <a:t>が日本語で物体を出力し，英訳</a:t>
            </a:r>
            <a:br>
              <a:rPr kumimoji="1" lang="en-US" altLang="ja-JP" dirty="0">
                <a:latin typeface="メイリオ" panose="020B0604030504040204" pitchFamily="50" charset="-128"/>
              </a:rPr>
            </a:br>
            <a:r>
              <a:rPr kumimoji="1" lang="ja-JP" altLang="en-US" dirty="0">
                <a:latin typeface="メイリオ" panose="020B0604030504040204" pitchFamily="50" charset="-128"/>
              </a:rPr>
              <a:t>例：白い自動車 </a:t>
            </a:r>
            <a:r>
              <a:rPr kumimoji="1" lang="ja-JP" altLang="en-US" b="1" dirty="0">
                <a:latin typeface="メイリオ" panose="020B0604030504040204" pitchFamily="50" charset="-128"/>
              </a:rPr>
              <a:t>⇒ </a:t>
            </a:r>
            <a:r>
              <a:rPr kumimoji="1" lang="en-US" altLang="ja-JP" dirty="0">
                <a:latin typeface="メイリオ" panose="020B0604030504040204" pitchFamily="50" charset="-128"/>
              </a:rPr>
              <a:t>White car</a:t>
            </a:r>
            <a:endParaRPr kumimoji="1" lang="ja-JP" altLang="en-US" dirty="0">
              <a:latin typeface="メイリオ" panose="020B0604030504040204" pitchFamily="50" charset="-128"/>
            </a:endParaRPr>
          </a:p>
        </p:txBody>
      </p:sp>
      <p:sp>
        <p:nvSpPr>
          <p:cNvPr id="9" name="四角形: 角を丸くする 8">
            <a:extLst>
              <a:ext uri="{FF2B5EF4-FFF2-40B4-BE49-F238E27FC236}">
                <a16:creationId xmlns:a16="http://schemas.microsoft.com/office/drawing/2014/main" id="{7A4E3AEF-F648-7D6F-10EB-2FAA8F0F2B2E}"/>
              </a:ext>
            </a:extLst>
          </p:cNvPr>
          <p:cNvSpPr/>
          <p:nvPr/>
        </p:nvSpPr>
        <p:spPr>
          <a:xfrm>
            <a:off x="698500" y="3294798"/>
            <a:ext cx="4851400" cy="632138"/>
          </a:xfrm>
          <a:prstGeom prst="roundRect">
            <a:avLst/>
          </a:prstGeom>
          <a:solidFill>
            <a:schemeClr val="accent2">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latin typeface="メイリオ" panose="020B0604030504040204" pitchFamily="50" charset="-128"/>
              </a:rPr>
              <a:t>さらに，一般的な英単語に変換</a:t>
            </a:r>
            <a:br>
              <a:rPr lang="en-US" altLang="ja-JP" dirty="0">
                <a:latin typeface="メイリオ" panose="020B0604030504040204" pitchFamily="50" charset="-128"/>
              </a:rPr>
            </a:br>
            <a:r>
              <a:rPr lang="ja-JP" altLang="en-US" dirty="0">
                <a:latin typeface="メイリオ" panose="020B0604030504040204" pitchFamily="50" charset="-128"/>
              </a:rPr>
              <a:t>例：</a:t>
            </a:r>
            <a:r>
              <a:rPr lang="en-US" altLang="ja-JP" dirty="0">
                <a:latin typeface="メイリオ" panose="020B0604030504040204" pitchFamily="50" charset="-128"/>
              </a:rPr>
              <a:t>White</a:t>
            </a:r>
            <a:r>
              <a:rPr lang="ja-JP" altLang="en-US" dirty="0">
                <a:latin typeface="メイリオ" panose="020B0604030504040204" pitchFamily="50" charset="-128"/>
              </a:rPr>
              <a:t> </a:t>
            </a:r>
            <a:r>
              <a:rPr lang="en-US" altLang="ja-JP" dirty="0">
                <a:latin typeface="メイリオ" panose="020B0604030504040204" pitchFamily="50" charset="-128"/>
              </a:rPr>
              <a:t>car </a:t>
            </a:r>
            <a:r>
              <a:rPr lang="ja-JP" altLang="en-US" b="1" dirty="0">
                <a:latin typeface="メイリオ" panose="020B0604030504040204" pitchFamily="50" charset="-128"/>
              </a:rPr>
              <a:t>⇒</a:t>
            </a:r>
            <a:r>
              <a:rPr lang="ja-JP" altLang="en-US" dirty="0">
                <a:latin typeface="メイリオ" panose="020B0604030504040204" pitchFamily="50" charset="-128"/>
              </a:rPr>
              <a:t> </a:t>
            </a:r>
            <a:r>
              <a:rPr lang="en-US" altLang="ja-JP" dirty="0">
                <a:latin typeface="メイリオ" panose="020B0604030504040204" pitchFamily="50" charset="-128"/>
              </a:rPr>
              <a:t>Car</a:t>
            </a:r>
            <a:endParaRPr kumimoji="1" lang="ja-JP" altLang="en-US" dirty="0">
              <a:latin typeface="メイリオ" panose="020B0604030504040204" pitchFamily="50" charset="-128"/>
            </a:endParaRPr>
          </a:p>
        </p:txBody>
      </p:sp>
      <p:sp>
        <p:nvSpPr>
          <p:cNvPr id="19" name="四角形: 角を丸くする 18">
            <a:extLst>
              <a:ext uri="{FF2B5EF4-FFF2-40B4-BE49-F238E27FC236}">
                <a16:creationId xmlns:a16="http://schemas.microsoft.com/office/drawing/2014/main" id="{18CD9180-F54C-9A9B-D2E8-BCD6180302A9}"/>
              </a:ext>
            </a:extLst>
          </p:cNvPr>
          <p:cNvSpPr/>
          <p:nvPr/>
        </p:nvSpPr>
        <p:spPr>
          <a:xfrm>
            <a:off x="6337300" y="3073844"/>
            <a:ext cx="5626100" cy="1072001"/>
          </a:xfrm>
          <a:prstGeom prst="roundRect">
            <a:avLst/>
          </a:prstGeom>
          <a:solidFill>
            <a:schemeClr val="accent2">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メイリオ" panose="020B0604030504040204" pitchFamily="50" charset="-128"/>
              </a:rPr>
              <a:t>全フレームに存在するオブジェクトを全て検出</a:t>
            </a:r>
            <a:br>
              <a:rPr kumimoji="1" lang="en-US" altLang="ja-JP" dirty="0">
                <a:solidFill>
                  <a:schemeClr val="tx1"/>
                </a:solidFill>
                <a:latin typeface="メイリオ" panose="020B0604030504040204" pitchFamily="50" charset="-128"/>
              </a:rPr>
            </a:br>
            <a:r>
              <a:rPr kumimoji="1" lang="ja-JP" altLang="en-US" b="1" dirty="0">
                <a:solidFill>
                  <a:schemeClr val="tx1"/>
                </a:solidFill>
                <a:latin typeface="メイリオ" panose="020B0604030504040204" pitchFamily="50" charset="-128"/>
              </a:rPr>
              <a:t>➡</a:t>
            </a:r>
            <a:r>
              <a:rPr kumimoji="1" lang="ja-JP" altLang="en-US" dirty="0">
                <a:solidFill>
                  <a:schemeClr val="tx1"/>
                </a:solidFill>
                <a:latin typeface="メイリオ" panose="020B0604030504040204" pitchFamily="50" charset="-128"/>
              </a:rPr>
              <a:t>英単語で出力</a:t>
            </a:r>
            <a:r>
              <a:rPr kumimoji="1" lang="en-US" altLang="ja-JP" dirty="0">
                <a:solidFill>
                  <a:schemeClr val="tx1"/>
                </a:solidFill>
                <a:latin typeface="メイリオ" panose="020B0604030504040204" pitchFamily="50" charset="-128"/>
              </a:rPr>
              <a:t>(</a:t>
            </a:r>
            <a:r>
              <a:rPr kumimoji="1" lang="ja-JP" altLang="en-US" dirty="0">
                <a:solidFill>
                  <a:schemeClr val="tx1"/>
                </a:solidFill>
                <a:latin typeface="メイリオ" panose="020B0604030504040204" pitchFamily="50" charset="-128"/>
              </a:rPr>
              <a:t>仕様</a:t>
            </a:r>
            <a:r>
              <a:rPr kumimoji="1" lang="en-US" altLang="ja-JP" dirty="0">
                <a:solidFill>
                  <a:schemeClr val="tx1"/>
                </a:solidFill>
                <a:latin typeface="メイリオ" panose="020B0604030504040204" pitchFamily="50" charset="-128"/>
              </a:rPr>
              <a:t>)</a:t>
            </a:r>
            <a:br>
              <a:rPr kumimoji="1" lang="en-US" altLang="ja-JP" dirty="0">
                <a:solidFill>
                  <a:schemeClr val="tx1"/>
                </a:solidFill>
                <a:latin typeface="メイリオ" panose="020B0604030504040204" pitchFamily="50" charset="-128"/>
              </a:rPr>
            </a:br>
            <a:r>
              <a:rPr kumimoji="1" lang="ja-JP" altLang="en-US" dirty="0">
                <a:solidFill>
                  <a:schemeClr val="tx1"/>
                </a:solidFill>
                <a:latin typeface="メイリオ" panose="020B0604030504040204" pitchFamily="50" charset="-128"/>
              </a:rPr>
              <a:t>例：</a:t>
            </a:r>
            <a:r>
              <a:rPr kumimoji="1" lang="en-US" altLang="ja-JP" dirty="0">
                <a:solidFill>
                  <a:schemeClr val="tx1"/>
                </a:solidFill>
                <a:latin typeface="メイリオ" panose="020B0604030504040204" pitchFamily="50" charset="-128"/>
              </a:rPr>
              <a:t>Car</a:t>
            </a:r>
            <a:endParaRPr kumimoji="1" lang="ja-JP" altLang="en-US" dirty="0">
              <a:solidFill>
                <a:schemeClr val="tx1"/>
              </a:solidFill>
              <a:latin typeface="メイリオ" panose="020B0604030504040204" pitchFamily="50" charset="-128"/>
            </a:endParaRPr>
          </a:p>
        </p:txBody>
      </p:sp>
      <p:sp>
        <p:nvSpPr>
          <p:cNvPr id="23" name="テキスト ボックス 22">
            <a:extLst>
              <a:ext uri="{FF2B5EF4-FFF2-40B4-BE49-F238E27FC236}">
                <a16:creationId xmlns:a16="http://schemas.microsoft.com/office/drawing/2014/main" id="{824A886B-3E0A-D136-9CEB-C103994EF55B}"/>
              </a:ext>
            </a:extLst>
          </p:cNvPr>
          <p:cNvSpPr txBox="1"/>
          <p:nvPr/>
        </p:nvSpPr>
        <p:spPr>
          <a:xfrm>
            <a:off x="693988" y="1836239"/>
            <a:ext cx="4851400" cy="400110"/>
          </a:xfrm>
          <a:prstGeom prst="rect">
            <a:avLst/>
          </a:prstGeom>
          <a:noFill/>
        </p:spPr>
        <p:txBody>
          <a:bodyPr wrap="square" rtlCol="0">
            <a:spAutoFit/>
          </a:bodyPr>
          <a:lstStyle/>
          <a:p>
            <a:pPr algn="ctr"/>
            <a:r>
              <a:rPr kumimoji="1" lang="en-US" altLang="ja-JP" sz="2000" b="1" dirty="0">
                <a:latin typeface="メイリオ" panose="020B0604030504040204" pitchFamily="50" charset="-128"/>
              </a:rPr>
              <a:t>Gemini(</a:t>
            </a:r>
            <a:r>
              <a:rPr kumimoji="1" lang="ja-JP" altLang="en-US" sz="2000" b="1" dirty="0">
                <a:latin typeface="メイリオ" panose="020B0604030504040204" pitchFamily="50" charset="-128"/>
              </a:rPr>
              <a:t>オブジェクトを検出</a:t>
            </a:r>
            <a:r>
              <a:rPr kumimoji="1" lang="en-US" altLang="ja-JP" sz="2000" b="1" dirty="0">
                <a:latin typeface="メイリオ" panose="020B0604030504040204" pitchFamily="50" charset="-128"/>
              </a:rPr>
              <a:t>)</a:t>
            </a:r>
            <a:endParaRPr kumimoji="1" lang="ja-JP" altLang="en-US" sz="2000" b="1" dirty="0">
              <a:latin typeface="メイリオ" panose="020B0604030504040204" pitchFamily="50" charset="-128"/>
            </a:endParaRPr>
          </a:p>
        </p:txBody>
      </p:sp>
      <p:sp>
        <p:nvSpPr>
          <p:cNvPr id="24" name="テキスト ボックス 23">
            <a:extLst>
              <a:ext uri="{FF2B5EF4-FFF2-40B4-BE49-F238E27FC236}">
                <a16:creationId xmlns:a16="http://schemas.microsoft.com/office/drawing/2014/main" id="{926D124C-2200-47DE-9DCE-085117166505}"/>
              </a:ext>
            </a:extLst>
          </p:cNvPr>
          <p:cNvSpPr txBox="1"/>
          <p:nvPr/>
        </p:nvSpPr>
        <p:spPr>
          <a:xfrm>
            <a:off x="6337300" y="1818885"/>
            <a:ext cx="5715000" cy="400110"/>
          </a:xfrm>
          <a:prstGeom prst="rect">
            <a:avLst/>
          </a:prstGeom>
          <a:noFill/>
        </p:spPr>
        <p:txBody>
          <a:bodyPr wrap="square" rtlCol="0">
            <a:spAutoFit/>
          </a:bodyPr>
          <a:lstStyle/>
          <a:p>
            <a:pPr algn="ctr"/>
            <a:r>
              <a:rPr kumimoji="1" lang="en-US" altLang="ja-JP" sz="2000" b="1" dirty="0">
                <a:latin typeface="メイリオ" panose="020B0604030504040204" pitchFamily="50" charset="-128"/>
              </a:rPr>
              <a:t>Cloud</a:t>
            </a:r>
            <a:r>
              <a:rPr kumimoji="1" lang="ja-JP" altLang="en-US" sz="2000" b="1" dirty="0">
                <a:latin typeface="メイリオ" panose="020B0604030504040204" pitchFamily="50" charset="-128"/>
              </a:rPr>
              <a:t> </a:t>
            </a:r>
            <a:r>
              <a:rPr kumimoji="1" lang="en-US" altLang="ja-JP" sz="2000" b="1" dirty="0">
                <a:latin typeface="メイリオ" panose="020B0604030504040204" pitchFamily="50" charset="-128"/>
              </a:rPr>
              <a:t>vision</a:t>
            </a:r>
            <a:r>
              <a:rPr kumimoji="1" lang="ja-JP" altLang="en-US" sz="2000" b="1" dirty="0">
                <a:latin typeface="メイリオ" panose="020B0604030504040204" pitchFamily="50" charset="-128"/>
              </a:rPr>
              <a:t> </a:t>
            </a:r>
            <a:r>
              <a:rPr lang="en-US" altLang="ja-JP" sz="2000" b="1" dirty="0">
                <a:latin typeface="メイリオ" panose="020B0604030504040204" pitchFamily="50" charset="-128"/>
              </a:rPr>
              <a:t>API(</a:t>
            </a:r>
            <a:r>
              <a:rPr lang="ja-JP" altLang="en-US" sz="2000" b="1" dirty="0">
                <a:latin typeface="メイリオ" panose="020B0604030504040204" pitchFamily="50" charset="-128"/>
              </a:rPr>
              <a:t>オブジェクトと位置の検出</a:t>
            </a:r>
            <a:r>
              <a:rPr lang="en-US" altLang="ja-JP" sz="2000" b="1" dirty="0">
                <a:latin typeface="メイリオ" panose="020B0604030504040204" pitchFamily="50" charset="-128"/>
              </a:rPr>
              <a:t>)</a:t>
            </a:r>
            <a:endParaRPr kumimoji="1" lang="ja-JP" altLang="en-US" sz="2000" b="1" dirty="0">
              <a:latin typeface="メイリオ" panose="020B0604030504040204" pitchFamily="50" charset="-128"/>
            </a:endParaRPr>
          </a:p>
        </p:txBody>
      </p:sp>
      <p:sp>
        <p:nvSpPr>
          <p:cNvPr id="25" name="矢印: 左右 24">
            <a:extLst>
              <a:ext uri="{FF2B5EF4-FFF2-40B4-BE49-F238E27FC236}">
                <a16:creationId xmlns:a16="http://schemas.microsoft.com/office/drawing/2014/main" id="{8B03321E-8A99-F09B-825B-ED5066C744F3}"/>
              </a:ext>
            </a:extLst>
          </p:cNvPr>
          <p:cNvSpPr/>
          <p:nvPr/>
        </p:nvSpPr>
        <p:spPr>
          <a:xfrm>
            <a:off x="5720663" y="3490217"/>
            <a:ext cx="482600" cy="241300"/>
          </a:xfrm>
          <a:prstGeom prst="leftRightArrow">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panose="020B0604030504040204" pitchFamily="50" charset="-128"/>
            </a:endParaRPr>
          </a:p>
        </p:txBody>
      </p:sp>
      <p:sp>
        <p:nvSpPr>
          <p:cNvPr id="26" name="吹き出し: 四角形 25">
            <a:extLst>
              <a:ext uri="{FF2B5EF4-FFF2-40B4-BE49-F238E27FC236}">
                <a16:creationId xmlns:a16="http://schemas.microsoft.com/office/drawing/2014/main" id="{B1935255-96E6-53BD-4C59-D762F0DFB787}"/>
              </a:ext>
            </a:extLst>
          </p:cNvPr>
          <p:cNvSpPr/>
          <p:nvPr/>
        </p:nvSpPr>
        <p:spPr>
          <a:xfrm>
            <a:off x="3254476" y="3810527"/>
            <a:ext cx="6219324" cy="1094610"/>
          </a:xfrm>
          <a:custGeom>
            <a:avLst/>
            <a:gdLst>
              <a:gd name="csX0" fmla="*/ 0 w 6219324"/>
              <a:gd name="csY0" fmla="*/ 0 h 596781"/>
              <a:gd name="csX1" fmla="*/ 1036554 w 6219324"/>
              <a:gd name="csY1" fmla="*/ 0 h 596781"/>
              <a:gd name="csX2" fmla="*/ 2753854 w 6219324"/>
              <a:gd name="csY2" fmla="*/ -497829 h 596781"/>
              <a:gd name="csX3" fmla="*/ 2591385 w 6219324"/>
              <a:gd name="csY3" fmla="*/ 0 h 596781"/>
              <a:gd name="csX4" fmla="*/ 6219324 w 6219324"/>
              <a:gd name="csY4" fmla="*/ 0 h 596781"/>
              <a:gd name="csX5" fmla="*/ 6219324 w 6219324"/>
              <a:gd name="csY5" fmla="*/ 99464 h 596781"/>
              <a:gd name="csX6" fmla="*/ 6219324 w 6219324"/>
              <a:gd name="csY6" fmla="*/ 99464 h 596781"/>
              <a:gd name="csX7" fmla="*/ 6219324 w 6219324"/>
              <a:gd name="csY7" fmla="*/ 248659 h 596781"/>
              <a:gd name="csX8" fmla="*/ 6219324 w 6219324"/>
              <a:gd name="csY8" fmla="*/ 596781 h 596781"/>
              <a:gd name="csX9" fmla="*/ 2591385 w 6219324"/>
              <a:gd name="csY9" fmla="*/ 596781 h 596781"/>
              <a:gd name="csX10" fmla="*/ 1036554 w 6219324"/>
              <a:gd name="csY10" fmla="*/ 596781 h 596781"/>
              <a:gd name="csX11" fmla="*/ 1036554 w 6219324"/>
              <a:gd name="csY11" fmla="*/ 596781 h 596781"/>
              <a:gd name="csX12" fmla="*/ 0 w 6219324"/>
              <a:gd name="csY12" fmla="*/ 596781 h 596781"/>
              <a:gd name="csX13" fmla="*/ 0 w 6219324"/>
              <a:gd name="csY13" fmla="*/ 248659 h 596781"/>
              <a:gd name="csX14" fmla="*/ 0 w 6219324"/>
              <a:gd name="csY14" fmla="*/ 99464 h 596781"/>
              <a:gd name="csX15" fmla="*/ 0 w 6219324"/>
              <a:gd name="csY15" fmla="*/ 99464 h 596781"/>
              <a:gd name="csX16" fmla="*/ 0 w 6219324"/>
              <a:gd name="csY16" fmla="*/ 0 h 596781"/>
              <a:gd name="csX0" fmla="*/ 0 w 6219324"/>
              <a:gd name="csY0" fmla="*/ 497829 h 1094610"/>
              <a:gd name="csX1" fmla="*/ 1902828 w 6219324"/>
              <a:gd name="csY1" fmla="*/ 461734 h 1094610"/>
              <a:gd name="csX2" fmla="*/ 2753854 w 6219324"/>
              <a:gd name="csY2" fmla="*/ 0 h 1094610"/>
              <a:gd name="csX3" fmla="*/ 2591385 w 6219324"/>
              <a:gd name="csY3" fmla="*/ 497829 h 1094610"/>
              <a:gd name="csX4" fmla="*/ 6219324 w 6219324"/>
              <a:gd name="csY4" fmla="*/ 497829 h 1094610"/>
              <a:gd name="csX5" fmla="*/ 6219324 w 6219324"/>
              <a:gd name="csY5" fmla="*/ 597293 h 1094610"/>
              <a:gd name="csX6" fmla="*/ 6219324 w 6219324"/>
              <a:gd name="csY6" fmla="*/ 597293 h 1094610"/>
              <a:gd name="csX7" fmla="*/ 6219324 w 6219324"/>
              <a:gd name="csY7" fmla="*/ 746488 h 1094610"/>
              <a:gd name="csX8" fmla="*/ 6219324 w 6219324"/>
              <a:gd name="csY8" fmla="*/ 1094610 h 1094610"/>
              <a:gd name="csX9" fmla="*/ 2591385 w 6219324"/>
              <a:gd name="csY9" fmla="*/ 1094610 h 1094610"/>
              <a:gd name="csX10" fmla="*/ 1036554 w 6219324"/>
              <a:gd name="csY10" fmla="*/ 1094610 h 1094610"/>
              <a:gd name="csX11" fmla="*/ 1036554 w 6219324"/>
              <a:gd name="csY11" fmla="*/ 1094610 h 1094610"/>
              <a:gd name="csX12" fmla="*/ 0 w 6219324"/>
              <a:gd name="csY12" fmla="*/ 1094610 h 1094610"/>
              <a:gd name="csX13" fmla="*/ 0 w 6219324"/>
              <a:gd name="csY13" fmla="*/ 746488 h 1094610"/>
              <a:gd name="csX14" fmla="*/ 0 w 6219324"/>
              <a:gd name="csY14" fmla="*/ 597293 h 1094610"/>
              <a:gd name="csX15" fmla="*/ 0 w 6219324"/>
              <a:gd name="csY15" fmla="*/ 597293 h 1094610"/>
              <a:gd name="csX16" fmla="*/ 0 w 6219324"/>
              <a:gd name="csY16" fmla="*/ 497829 h 1094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219324" h="1094610">
                <a:moveTo>
                  <a:pt x="0" y="497829"/>
                </a:moveTo>
                <a:lnTo>
                  <a:pt x="1902828" y="461734"/>
                </a:lnTo>
                <a:lnTo>
                  <a:pt x="2753854" y="0"/>
                </a:lnTo>
                <a:lnTo>
                  <a:pt x="2591385" y="497829"/>
                </a:lnTo>
                <a:lnTo>
                  <a:pt x="6219324" y="497829"/>
                </a:lnTo>
                <a:lnTo>
                  <a:pt x="6219324" y="597293"/>
                </a:lnTo>
                <a:lnTo>
                  <a:pt x="6219324" y="597293"/>
                </a:lnTo>
                <a:lnTo>
                  <a:pt x="6219324" y="746488"/>
                </a:lnTo>
                <a:lnTo>
                  <a:pt x="6219324" y="1094610"/>
                </a:lnTo>
                <a:lnTo>
                  <a:pt x="2591385" y="1094610"/>
                </a:lnTo>
                <a:lnTo>
                  <a:pt x="1036554" y="1094610"/>
                </a:lnTo>
                <a:lnTo>
                  <a:pt x="1036554" y="1094610"/>
                </a:lnTo>
                <a:lnTo>
                  <a:pt x="0" y="1094610"/>
                </a:lnTo>
                <a:lnTo>
                  <a:pt x="0" y="746488"/>
                </a:lnTo>
                <a:lnTo>
                  <a:pt x="0" y="597293"/>
                </a:lnTo>
                <a:lnTo>
                  <a:pt x="0" y="597293"/>
                </a:lnTo>
                <a:lnTo>
                  <a:pt x="0" y="497829"/>
                </a:ln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kumimoji="1" lang="en-US" altLang="ja-JP" b="1" dirty="0">
                <a:solidFill>
                  <a:schemeClr val="bg1"/>
                </a:solidFill>
                <a:latin typeface="メイリオ" panose="020B0604030504040204" pitchFamily="50" charset="-128"/>
              </a:rPr>
            </a:br>
            <a:br>
              <a:rPr kumimoji="1" lang="en-US" altLang="ja-JP" b="1" dirty="0">
                <a:solidFill>
                  <a:schemeClr val="bg1"/>
                </a:solidFill>
                <a:latin typeface="メイリオ" panose="020B0604030504040204" pitchFamily="50" charset="-128"/>
              </a:rPr>
            </a:br>
            <a:r>
              <a:rPr kumimoji="1" lang="ja-JP" altLang="en-US" b="1" dirty="0">
                <a:solidFill>
                  <a:schemeClr val="bg1"/>
                </a:solidFill>
                <a:latin typeface="メイリオ" panose="020B0604030504040204" pitchFamily="50" charset="-128"/>
              </a:rPr>
              <a:t>完全一致した</a:t>
            </a:r>
            <a:r>
              <a:rPr lang="ja-JP" altLang="en-US" b="1" dirty="0">
                <a:solidFill>
                  <a:schemeClr val="bg1"/>
                </a:solidFill>
                <a:latin typeface="メイリオ" panose="020B0604030504040204" pitchFamily="50" charset="-128"/>
              </a:rPr>
              <a:t>ワード，又は包含関係のあるワードを検出</a:t>
            </a:r>
            <a:endParaRPr kumimoji="1" lang="ja-JP" altLang="en-US" b="1" dirty="0">
              <a:solidFill>
                <a:schemeClr val="bg1"/>
              </a:solidFill>
              <a:latin typeface="メイリオ" panose="020B0604030504040204" pitchFamily="50" charset="-128"/>
            </a:endParaRPr>
          </a:p>
        </p:txBody>
      </p:sp>
      <p:sp>
        <p:nvSpPr>
          <p:cNvPr id="28" name="テキスト ボックス 27">
            <a:extLst>
              <a:ext uri="{FF2B5EF4-FFF2-40B4-BE49-F238E27FC236}">
                <a16:creationId xmlns:a16="http://schemas.microsoft.com/office/drawing/2014/main" id="{7AA5F0E7-9FD5-A41E-093C-FC767E979666}"/>
              </a:ext>
            </a:extLst>
          </p:cNvPr>
          <p:cNvSpPr txBox="1"/>
          <p:nvPr/>
        </p:nvSpPr>
        <p:spPr>
          <a:xfrm>
            <a:off x="278674" y="5638681"/>
            <a:ext cx="11773626" cy="830997"/>
          </a:xfrm>
          <a:prstGeom prst="rect">
            <a:avLst/>
          </a:prstGeom>
          <a:noFill/>
          <a:ln w="1270">
            <a:noFill/>
          </a:ln>
        </p:spPr>
        <p:txBody>
          <a:bodyPr wrap="square" rtlCol="0">
            <a:spAutoFit/>
          </a:bodyPr>
          <a:lstStyle/>
          <a:p>
            <a:pPr algn="ctr"/>
            <a:r>
              <a:rPr kumimoji="1" lang="en-US" altLang="ja-JP" sz="2400" b="1" dirty="0">
                <a:latin typeface="メイリオ" panose="020B0604030504040204" pitchFamily="50" charset="-128"/>
              </a:rPr>
              <a:t>Python</a:t>
            </a:r>
            <a:r>
              <a:rPr kumimoji="1" lang="ja-JP" altLang="en-US" sz="2400" b="1" dirty="0">
                <a:latin typeface="メイリオ" panose="020B0604030504040204" pitchFamily="50" charset="-128"/>
              </a:rPr>
              <a:t>の</a:t>
            </a:r>
            <a:r>
              <a:rPr kumimoji="1" lang="en-US" altLang="ja-JP" sz="2400" b="1" dirty="0">
                <a:latin typeface="メイリオ" panose="020B0604030504040204" pitchFamily="50" charset="-128"/>
              </a:rPr>
              <a:t>Pillow</a:t>
            </a:r>
            <a:r>
              <a:rPr kumimoji="1" lang="ja-JP" altLang="en-US" sz="2400" b="1" dirty="0">
                <a:latin typeface="メイリオ" panose="020B0604030504040204" pitchFamily="50" charset="-128"/>
              </a:rPr>
              <a:t>ライブラリで，条件に一致したオブジェクトを</a:t>
            </a:r>
            <a:r>
              <a:rPr kumimoji="1" lang="ja-JP" altLang="en-US" sz="2400" b="1" dirty="0">
                <a:ln w="3175">
                  <a:solidFill>
                    <a:schemeClr val="tx1">
                      <a:alpha val="51000"/>
                    </a:schemeClr>
                  </a:solidFill>
                </a:ln>
                <a:solidFill>
                  <a:srgbClr val="FF6600"/>
                </a:solidFill>
                <a:latin typeface="メイリオ" panose="020B0604030504040204" pitchFamily="50" charset="-128"/>
              </a:rPr>
              <a:t>赤色</a:t>
            </a:r>
            <a:r>
              <a:rPr kumimoji="1" lang="ja-JP" altLang="en-US" sz="2400" b="1" dirty="0">
                <a:latin typeface="メイリオ" panose="020B0604030504040204" pitchFamily="50" charset="-128"/>
              </a:rPr>
              <a:t>，</a:t>
            </a:r>
            <a:br>
              <a:rPr kumimoji="1" lang="en-US" altLang="ja-JP" sz="2400" b="1" dirty="0">
                <a:latin typeface="メイリオ" panose="020B0604030504040204" pitchFamily="50" charset="-128"/>
              </a:rPr>
            </a:br>
            <a:r>
              <a:rPr kumimoji="1" lang="ja-JP" altLang="en-US" sz="2400" b="1" dirty="0">
                <a:latin typeface="メイリオ" panose="020B0604030504040204" pitchFamily="50" charset="-128"/>
              </a:rPr>
              <a:t>それ以外</a:t>
            </a:r>
            <a:r>
              <a:rPr lang="ja-JP" altLang="en-US" sz="2400" b="1" dirty="0">
                <a:latin typeface="メイリオ" panose="020B0604030504040204" pitchFamily="50" charset="-128"/>
              </a:rPr>
              <a:t>を</a:t>
            </a:r>
            <a:r>
              <a:rPr lang="ja-JP" altLang="en-US" sz="2400" b="1" dirty="0">
                <a:ln w="3175">
                  <a:solidFill>
                    <a:schemeClr val="tx1">
                      <a:alpha val="51000"/>
                    </a:schemeClr>
                  </a:solidFill>
                  <a:round/>
                </a:ln>
                <a:solidFill>
                  <a:srgbClr val="FFFF00"/>
                </a:solidFill>
                <a:latin typeface="メイリオ" panose="020B0604030504040204" pitchFamily="50" charset="-128"/>
              </a:rPr>
              <a:t>黄色</a:t>
            </a:r>
            <a:r>
              <a:rPr kumimoji="1" lang="ja-JP" altLang="en-US" sz="2400" b="1" dirty="0">
                <a:latin typeface="メイリオ" panose="020B0604030504040204" pitchFamily="50" charset="-128"/>
              </a:rPr>
              <a:t>のバウンディングボックスで囲んで描画</a:t>
            </a:r>
          </a:p>
        </p:txBody>
      </p:sp>
      <p:sp>
        <p:nvSpPr>
          <p:cNvPr id="4" name="矢印: 下 3">
            <a:extLst>
              <a:ext uri="{FF2B5EF4-FFF2-40B4-BE49-F238E27FC236}">
                <a16:creationId xmlns:a16="http://schemas.microsoft.com/office/drawing/2014/main" id="{44F3D845-9BD1-6006-C884-6F3E1336BFB0}"/>
              </a:ext>
            </a:extLst>
          </p:cNvPr>
          <p:cNvSpPr/>
          <p:nvPr/>
        </p:nvSpPr>
        <p:spPr>
          <a:xfrm>
            <a:off x="2997807" y="2925604"/>
            <a:ext cx="256669" cy="324303"/>
          </a:xfrm>
          <a:prstGeom prst="downArrow">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panose="020B0604030504040204" pitchFamily="50" charset="-128"/>
            </a:endParaRPr>
          </a:p>
        </p:txBody>
      </p:sp>
      <p:sp>
        <p:nvSpPr>
          <p:cNvPr id="5" name="矢印: 下 4">
            <a:extLst>
              <a:ext uri="{FF2B5EF4-FFF2-40B4-BE49-F238E27FC236}">
                <a16:creationId xmlns:a16="http://schemas.microsoft.com/office/drawing/2014/main" id="{A43405E0-5E71-DBF3-A03E-F16DC82A7F20}"/>
              </a:ext>
            </a:extLst>
          </p:cNvPr>
          <p:cNvSpPr/>
          <p:nvPr/>
        </p:nvSpPr>
        <p:spPr>
          <a:xfrm>
            <a:off x="5881371" y="5043348"/>
            <a:ext cx="268073" cy="559401"/>
          </a:xfrm>
          <a:prstGeom prst="downArrow">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panose="020B0604030504040204" pitchFamily="50" charset="-128"/>
            </a:endParaRPr>
          </a:p>
        </p:txBody>
      </p:sp>
      <p:sp>
        <p:nvSpPr>
          <p:cNvPr id="14" name="タイトル 1">
            <a:extLst>
              <a:ext uri="{FF2B5EF4-FFF2-40B4-BE49-F238E27FC236}">
                <a16:creationId xmlns:a16="http://schemas.microsoft.com/office/drawing/2014/main" id="{84FC3400-889E-7697-E666-884FF8DA34F7}"/>
              </a:ext>
            </a:extLst>
          </p:cNvPr>
          <p:cNvSpPr>
            <a:spLocks noGrp="1"/>
          </p:cNvSpPr>
          <p:nvPr>
            <p:ph type="title"/>
          </p:nvPr>
        </p:nvSpPr>
        <p:spPr>
          <a:xfrm>
            <a:off x="838200" y="365125"/>
            <a:ext cx="10515600" cy="1325563"/>
          </a:xfrm>
        </p:spPr>
        <p:txBody>
          <a:bodyPr/>
          <a:lstStyle/>
          <a:p>
            <a:pPr marL="914400" indent="-914400">
              <a:buFont typeface="+mj-lt"/>
              <a:buAutoNum type="arabicPeriod" startAt="6"/>
            </a:pPr>
            <a:r>
              <a:rPr kumimoji="1" lang="ja-JP" altLang="en-US" dirty="0"/>
              <a:t>システム構成</a:t>
            </a:r>
          </a:p>
        </p:txBody>
      </p:sp>
    </p:spTree>
    <p:extLst>
      <p:ext uri="{BB962C8B-B14F-4D97-AF65-F5344CB8AC3E}">
        <p14:creationId xmlns:p14="http://schemas.microsoft.com/office/powerpoint/2010/main" val="3390320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5C58E-98A9-B9B3-D81A-F5000BBA0FBA}"/>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A523BF4-4770-764F-4FA8-DFE2CAAE3EEF}"/>
              </a:ext>
            </a:extLst>
          </p:cNvPr>
          <p:cNvSpPr>
            <a:spLocks noGrp="1"/>
          </p:cNvSpPr>
          <p:nvPr>
            <p:ph idx="1"/>
          </p:nvPr>
        </p:nvSpPr>
        <p:spPr>
          <a:xfrm>
            <a:off x="838199" y="1825625"/>
            <a:ext cx="11226801" cy="4351338"/>
          </a:xfrm>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ja-JP" altLang="en-US" sz="3200" b="1" dirty="0">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a typeface="メイリオ" panose="020B0604030504040204" pitchFamily="50" charset="-128"/>
              </a:rPr>
              <a:t>システムアーキテクチャ</a:t>
            </a:r>
            <a:endParaRPr lang="en-US" altLang="ja-JP" b="1" dirty="0"/>
          </a:p>
          <a:p>
            <a:pPr>
              <a:lnSpc>
                <a:spcPct val="110000"/>
              </a:lnSpc>
            </a:pPr>
            <a:r>
              <a:rPr lang="ja-JP" altLang="en-US" sz="2800" dirty="0"/>
              <a:t>本研究では，動画入力から解析・評価まで一貫して行う</a:t>
            </a:r>
            <a:br>
              <a:rPr lang="en-US" altLang="ja-JP" sz="2800" dirty="0"/>
            </a:br>
            <a:r>
              <a:rPr lang="en-US" altLang="ja-JP" sz="2800" dirty="0"/>
              <a:t>Web</a:t>
            </a:r>
            <a:r>
              <a:rPr lang="ja-JP" altLang="en-US" sz="2800" dirty="0"/>
              <a:t>ベースのシステムを構築</a:t>
            </a:r>
            <a:endParaRPr lang="en-US" altLang="ja-JP" sz="2800" dirty="0"/>
          </a:p>
          <a:p>
            <a:pPr marL="0" indent="0">
              <a:buNone/>
            </a:pPr>
            <a:r>
              <a:rPr lang="ja-JP" altLang="en-US" b="1" dirty="0"/>
              <a:t>システム構成</a:t>
            </a:r>
            <a:r>
              <a:rPr lang="ja-JP" altLang="en-US" dirty="0"/>
              <a:t>：</a:t>
            </a:r>
            <a:endParaRPr lang="en-US" altLang="ja-JP" dirty="0"/>
          </a:p>
          <a:p>
            <a:pPr marL="514350" indent="-514350">
              <a:buFont typeface="+mj-lt"/>
              <a:buAutoNum type="arabicPeriod"/>
            </a:pPr>
            <a:r>
              <a:rPr lang="ja-JP" altLang="en-US" sz="2800" dirty="0"/>
              <a:t>フロントエンド</a:t>
            </a:r>
            <a:r>
              <a:rPr lang="en-US" altLang="ja-JP" sz="2800" dirty="0"/>
              <a:t>/</a:t>
            </a:r>
            <a:r>
              <a:rPr lang="ja-JP" altLang="en-US" sz="2800" dirty="0"/>
              <a:t>バックエンド</a:t>
            </a:r>
            <a:endParaRPr lang="en-US" altLang="ja-JP" sz="2800" dirty="0"/>
          </a:p>
          <a:p>
            <a:pPr lvl="1"/>
            <a:r>
              <a:rPr lang="en-US" altLang="ja-JP" dirty="0"/>
              <a:t>Flask</a:t>
            </a:r>
            <a:r>
              <a:rPr lang="ja-JP" altLang="en-US" dirty="0"/>
              <a:t>，</a:t>
            </a:r>
            <a:r>
              <a:rPr lang="en-US" altLang="ja-JP" dirty="0"/>
              <a:t>HTML</a:t>
            </a:r>
            <a:r>
              <a:rPr lang="ja-JP" altLang="en-US" dirty="0"/>
              <a:t>，</a:t>
            </a:r>
            <a:r>
              <a:rPr lang="en-US" altLang="ja-JP" dirty="0"/>
              <a:t>CSS</a:t>
            </a:r>
            <a:r>
              <a:rPr lang="ja-JP" altLang="en-US" dirty="0"/>
              <a:t>を用いた</a:t>
            </a:r>
            <a:r>
              <a:rPr lang="en-US" altLang="ja-JP" dirty="0"/>
              <a:t>Web</a:t>
            </a:r>
            <a:r>
              <a:rPr lang="ja-JP" altLang="en-US" dirty="0"/>
              <a:t>アプリケーション</a:t>
            </a:r>
            <a:endParaRPr lang="en-US" altLang="ja-JP" dirty="0"/>
          </a:p>
          <a:p>
            <a:pPr lvl="1"/>
            <a:r>
              <a:rPr lang="ja-JP" altLang="en-US" dirty="0"/>
              <a:t>解析，出力結果の表示，評価などをユーザー操作で実施</a:t>
            </a:r>
            <a:endParaRPr lang="en-US" altLang="ja-JP" dirty="0"/>
          </a:p>
          <a:p>
            <a:pPr marL="514350" indent="-514350">
              <a:buFont typeface="+mj-lt"/>
              <a:buAutoNum type="arabicPeriod"/>
            </a:pPr>
            <a:r>
              <a:rPr lang="ja-JP" altLang="en-US" dirty="0"/>
              <a:t>解析</a:t>
            </a:r>
            <a:r>
              <a:rPr lang="en-US" altLang="ja-JP" dirty="0"/>
              <a:t>/</a:t>
            </a:r>
            <a:r>
              <a:rPr lang="ja-JP" altLang="en-US" dirty="0"/>
              <a:t>学習基盤，データ管理層</a:t>
            </a:r>
            <a:endParaRPr lang="en-US" altLang="ja-JP" dirty="0"/>
          </a:p>
          <a:p>
            <a:pPr lvl="1"/>
            <a:r>
              <a:rPr lang="ja-JP" altLang="en-US" dirty="0"/>
              <a:t>クラウド上の</a:t>
            </a:r>
            <a:r>
              <a:rPr lang="en-US" altLang="ja-JP" dirty="0"/>
              <a:t>LLM</a:t>
            </a:r>
            <a:r>
              <a:rPr lang="ja-JP" altLang="en-US" dirty="0"/>
              <a:t>を用いて動画解析を実行</a:t>
            </a:r>
            <a:endParaRPr lang="en-US" altLang="ja-JP" dirty="0"/>
          </a:p>
          <a:p>
            <a:pPr lvl="1"/>
            <a:r>
              <a:rPr lang="ja-JP" altLang="en-US" dirty="0"/>
              <a:t>動画データ，教師データの管理</a:t>
            </a:r>
            <a:endParaRPr lang="en-US" altLang="ja-JP" dirty="0"/>
          </a:p>
        </p:txBody>
      </p:sp>
      <p:sp>
        <p:nvSpPr>
          <p:cNvPr id="4" name="スライド番号プレースホルダー 3">
            <a:extLst>
              <a:ext uri="{FF2B5EF4-FFF2-40B4-BE49-F238E27FC236}">
                <a16:creationId xmlns:a16="http://schemas.microsoft.com/office/drawing/2014/main" id="{3D5BD270-234A-AAF2-9F26-1A54C52A75DB}"/>
              </a:ext>
            </a:extLst>
          </p:cNvPr>
          <p:cNvSpPr>
            <a:spLocks noGrp="1"/>
          </p:cNvSpPr>
          <p:nvPr>
            <p:ph type="sldNum" sz="quarter" idx="12"/>
          </p:nvPr>
        </p:nvSpPr>
        <p:spPr/>
        <p:txBody>
          <a:bodyPr/>
          <a:lstStyle/>
          <a:p>
            <a:fld id="{8213A850-EEC5-482E-871C-F91D51FCFBE2}" type="slidenum">
              <a:rPr kumimoji="1" lang="ja-JP" altLang="en-US" smtClean="0"/>
              <a:t>14</a:t>
            </a:fld>
            <a:endParaRPr kumimoji="1" lang="ja-JP" altLang="en-US"/>
          </a:p>
        </p:txBody>
      </p:sp>
      <p:sp>
        <p:nvSpPr>
          <p:cNvPr id="9" name="タイトル 1">
            <a:extLst>
              <a:ext uri="{FF2B5EF4-FFF2-40B4-BE49-F238E27FC236}">
                <a16:creationId xmlns:a16="http://schemas.microsoft.com/office/drawing/2014/main" id="{8781B186-3F7A-8996-EC6B-87489E258D0E}"/>
              </a:ext>
            </a:extLst>
          </p:cNvPr>
          <p:cNvSpPr>
            <a:spLocks noGrp="1"/>
          </p:cNvSpPr>
          <p:nvPr>
            <p:ph type="title"/>
          </p:nvPr>
        </p:nvSpPr>
        <p:spPr>
          <a:xfrm>
            <a:off x="838200" y="365125"/>
            <a:ext cx="10515600" cy="1325563"/>
          </a:xfrm>
        </p:spPr>
        <p:txBody>
          <a:bodyPr/>
          <a:lstStyle/>
          <a:p>
            <a:pPr marL="914400" indent="-914400">
              <a:buFont typeface="+mj-lt"/>
              <a:buAutoNum type="arabicPeriod" startAt="6"/>
            </a:pPr>
            <a:r>
              <a:rPr kumimoji="1" lang="ja-JP" altLang="en-US" dirty="0"/>
              <a:t>システム構成</a:t>
            </a:r>
          </a:p>
        </p:txBody>
      </p:sp>
    </p:spTree>
    <p:extLst>
      <p:ext uri="{BB962C8B-B14F-4D97-AF65-F5344CB8AC3E}">
        <p14:creationId xmlns:p14="http://schemas.microsoft.com/office/powerpoint/2010/main" val="1063035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36E2E-3A91-C711-1A03-BF30C39E32B5}"/>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EA1D811-47D8-21A9-C7C0-CAE3D308ACE9}"/>
              </a:ext>
            </a:extLst>
          </p:cNvPr>
          <p:cNvSpPr>
            <a:spLocks noGrp="1"/>
          </p:cNvSpPr>
          <p:nvPr>
            <p:ph idx="1"/>
          </p:nvPr>
        </p:nvSpPr>
        <p:spPr>
          <a:xfrm>
            <a:off x="838199" y="1825625"/>
            <a:ext cx="11353801"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ja-JP" altLang="en-US" sz="3200" b="1" dirty="0">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a typeface="メイリオ" panose="020B0604030504040204" pitchFamily="50" charset="-128"/>
              </a:rPr>
              <a:t>解析</a:t>
            </a:r>
            <a:r>
              <a:rPr lang="en-US" altLang="ja-JP" sz="3200" b="1" dirty="0">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a typeface="メイリオ" panose="020B0604030504040204" pitchFamily="50" charset="-128"/>
              </a:rPr>
              <a:t>/</a:t>
            </a:r>
            <a:r>
              <a:rPr lang="ja-JP" altLang="en-US" sz="3200" b="1" dirty="0">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a typeface="メイリオ" panose="020B0604030504040204" pitchFamily="50" charset="-128"/>
              </a:rPr>
              <a:t>学習プラットフォームの構成</a:t>
            </a:r>
            <a:endParaRPr lang="en-US" altLang="ja-JP" sz="3200" b="1" dirty="0"/>
          </a:p>
          <a:p>
            <a:pPr marL="514350" indent="-514350">
              <a:buFont typeface="+mj-ea"/>
              <a:buAutoNum type="circleNumDbPlain"/>
            </a:pPr>
            <a:r>
              <a:rPr lang="en-US" altLang="ja-JP" b="1" dirty="0">
                <a:solidFill>
                  <a:srgbClr val="FFC000"/>
                </a:solidFill>
              </a:rPr>
              <a:t>Vertex</a:t>
            </a:r>
            <a:r>
              <a:rPr lang="ja-JP" altLang="en-US" b="1" dirty="0">
                <a:solidFill>
                  <a:srgbClr val="FFC000"/>
                </a:solidFill>
              </a:rPr>
              <a:t> </a:t>
            </a:r>
            <a:r>
              <a:rPr lang="en-US" altLang="ja-JP" b="1" dirty="0">
                <a:solidFill>
                  <a:srgbClr val="FFC000"/>
                </a:solidFill>
              </a:rPr>
              <a:t>AI</a:t>
            </a:r>
            <a:r>
              <a:rPr lang="ja-JP" altLang="en-US" b="1" dirty="0"/>
              <a:t>・・・</a:t>
            </a:r>
            <a:endParaRPr lang="en-US" altLang="ja-JP" b="1" dirty="0"/>
          </a:p>
          <a:p>
            <a:pPr lvl="1"/>
            <a:r>
              <a:rPr lang="en-US" altLang="ja-JP" sz="2800" dirty="0"/>
              <a:t>Google</a:t>
            </a:r>
            <a:r>
              <a:rPr lang="ja-JP" altLang="en-US" sz="2800" dirty="0"/>
              <a:t> </a:t>
            </a:r>
            <a:r>
              <a:rPr lang="en-US" altLang="ja-JP" sz="2800" dirty="0"/>
              <a:t>Cloud</a:t>
            </a:r>
            <a:r>
              <a:rPr lang="ja-JP" altLang="en-US" sz="2800" dirty="0"/>
              <a:t>の統合</a:t>
            </a:r>
            <a:r>
              <a:rPr lang="en-US" altLang="ja-JP" sz="2800" dirty="0"/>
              <a:t>ML</a:t>
            </a:r>
            <a:r>
              <a:rPr lang="ja-JP" altLang="en-US" sz="2800" dirty="0"/>
              <a:t>プラットフォーム</a:t>
            </a:r>
            <a:endParaRPr lang="en-US" altLang="ja-JP" sz="2800" dirty="0"/>
          </a:p>
          <a:p>
            <a:pPr lvl="1"/>
            <a:r>
              <a:rPr lang="ja-JP" altLang="en-US" sz="2800" dirty="0"/>
              <a:t>モデルの呼び出し，学習，デプロイが可能</a:t>
            </a:r>
            <a:endParaRPr lang="en-US" altLang="ja-JP" sz="2800" dirty="0"/>
          </a:p>
          <a:p>
            <a:pPr lvl="1"/>
            <a:r>
              <a:rPr lang="en-US" altLang="ja-JP" sz="2800" dirty="0"/>
              <a:t>Gemini</a:t>
            </a:r>
            <a:r>
              <a:rPr lang="ja-JP" altLang="en-US" sz="2800" dirty="0"/>
              <a:t> </a:t>
            </a:r>
            <a:r>
              <a:rPr lang="en-US" altLang="ja-JP" sz="2800" dirty="0"/>
              <a:t>2.5</a:t>
            </a:r>
            <a:r>
              <a:rPr lang="ja-JP" altLang="en-US" sz="2800" dirty="0"/>
              <a:t> </a:t>
            </a:r>
            <a:r>
              <a:rPr lang="en-US" altLang="ja-JP" sz="2800" dirty="0"/>
              <a:t>Pro</a:t>
            </a:r>
            <a:r>
              <a:rPr lang="ja-JP" altLang="en-US" sz="2800" dirty="0"/>
              <a:t>による動画解析，教師データを用いた</a:t>
            </a:r>
            <a:r>
              <a:rPr lang="en-US" altLang="ja-JP" sz="2800" dirty="0"/>
              <a:t>FT</a:t>
            </a:r>
            <a:r>
              <a:rPr lang="ja-JP" altLang="en-US" sz="2800" dirty="0"/>
              <a:t>を実施</a:t>
            </a:r>
            <a:endParaRPr lang="en-US" altLang="ja-JP" sz="2800" dirty="0"/>
          </a:p>
          <a:p>
            <a:pPr marL="514350" indent="-514350">
              <a:buFont typeface="+mj-ea"/>
              <a:buAutoNum type="circleNumDbPlain"/>
            </a:pPr>
            <a:r>
              <a:rPr lang="en-US" altLang="ja-JP" b="1" dirty="0"/>
              <a:t> </a:t>
            </a:r>
            <a:r>
              <a:rPr lang="en-US" altLang="ja-JP" b="1" dirty="0">
                <a:solidFill>
                  <a:schemeClr val="tx2">
                    <a:lumMod val="60000"/>
                    <a:lumOff val="40000"/>
                  </a:schemeClr>
                </a:solidFill>
              </a:rPr>
              <a:t>Google</a:t>
            </a:r>
            <a:r>
              <a:rPr lang="ja-JP" altLang="en-US" b="1" dirty="0">
                <a:solidFill>
                  <a:schemeClr val="tx2">
                    <a:lumMod val="60000"/>
                    <a:lumOff val="40000"/>
                  </a:schemeClr>
                </a:solidFill>
              </a:rPr>
              <a:t> </a:t>
            </a:r>
            <a:r>
              <a:rPr lang="en-US" altLang="ja-JP" b="1" dirty="0">
                <a:solidFill>
                  <a:schemeClr val="tx2">
                    <a:lumMod val="60000"/>
                    <a:lumOff val="40000"/>
                  </a:schemeClr>
                </a:solidFill>
              </a:rPr>
              <a:t>Cloud</a:t>
            </a:r>
            <a:r>
              <a:rPr lang="ja-JP" altLang="en-US" b="1" dirty="0">
                <a:solidFill>
                  <a:schemeClr val="tx2">
                    <a:lumMod val="60000"/>
                    <a:lumOff val="40000"/>
                  </a:schemeClr>
                </a:solidFill>
              </a:rPr>
              <a:t> </a:t>
            </a:r>
            <a:r>
              <a:rPr lang="en-US" altLang="ja-JP" b="1" dirty="0">
                <a:solidFill>
                  <a:schemeClr val="tx2">
                    <a:lumMod val="60000"/>
                    <a:lumOff val="40000"/>
                  </a:schemeClr>
                </a:solidFill>
              </a:rPr>
              <a:t>Storage(GCS)</a:t>
            </a:r>
            <a:r>
              <a:rPr lang="ja-JP" altLang="en-US" b="1" dirty="0"/>
              <a:t>・・・</a:t>
            </a:r>
            <a:endParaRPr lang="en-US" altLang="ja-JP" b="1" dirty="0"/>
          </a:p>
          <a:p>
            <a:pPr lvl="1"/>
            <a:r>
              <a:rPr lang="en-US" altLang="ja-JP" sz="2800" dirty="0"/>
              <a:t>Google Cloud</a:t>
            </a:r>
            <a:r>
              <a:rPr lang="ja-JP" altLang="en-US" sz="2800" dirty="0"/>
              <a:t>のストレージサービス</a:t>
            </a:r>
            <a:endParaRPr lang="en-US" altLang="ja-JP" sz="2800" dirty="0"/>
          </a:p>
          <a:p>
            <a:pPr lvl="1"/>
            <a:r>
              <a:rPr lang="ja-JP" altLang="en-US" sz="2800" dirty="0"/>
              <a:t>動画ファイルや教師データ，学習済みモデルの保存に活用</a:t>
            </a:r>
            <a:endParaRPr lang="en-US" altLang="ja-JP" sz="2800" dirty="0"/>
          </a:p>
          <a:p>
            <a:pPr lvl="1"/>
            <a:r>
              <a:rPr lang="en-US" altLang="ja-JP" sz="2800" dirty="0"/>
              <a:t>Vertex</a:t>
            </a:r>
            <a:r>
              <a:rPr lang="ja-JP" altLang="en-US" sz="2800" dirty="0"/>
              <a:t> </a:t>
            </a:r>
            <a:r>
              <a:rPr lang="en-US" altLang="ja-JP" sz="2800" dirty="0"/>
              <a:t>AI</a:t>
            </a:r>
            <a:r>
              <a:rPr lang="ja-JP" altLang="en-US" sz="2800" dirty="0"/>
              <a:t>と連携し，動画や教師データ等を読み込む</a:t>
            </a:r>
            <a:endParaRPr lang="en-US" altLang="ja-JP" sz="2800" dirty="0"/>
          </a:p>
        </p:txBody>
      </p:sp>
      <p:sp>
        <p:nvSpPr>
          <p:cNvPr id="4" name="スライド番号プレースホルダー 3">
            <a:extLst>
              <a:ext uri="{FF2B5EF4-FFF2-40B4-BE49-F238E27FC236}">
                <a16:creationId xmlns:a16="http://schemas.microsoft.com/office/drawing/2014/main" id="{2A3B4071-6187-F2A9-5453-9E9FA1C2EEF3}"/>
              </a:ext>
            </a:extLst>
          </p:cNvPr>
          <p:cNvSpPr>
            <a:spLocks noGrp="1"/>
          </p:cNvSpPr>
          <p:nvPr>
            <p:ph type="sldNum" sz="quarter" idx="12"/>
          </p:nvPr>
        </p:nvSpPr>
        <p:spPr/>
        <p:txBody>
          <a:bodyPr/>
          <a:lstStyle/>
          <a:p>
            <a:fld id="{8213A850-EEC5-482E-871C-F91D51FCFBE2}" type="slidenum">
              <a:rPr kumimoji="1" lang="ja-JP" altLang="en-US" smtClean="0"/>
              <a:t>15</a:t>
            </a:fld>
            <a:endParaRPr kumimoji="1" lang="ja-JP" altLang="en-US"/>
          </a:p>
        </p:txBody>
      </p:sp>
      <p:sp>
        <p:nvSpPr>
          <p:cNvPr id="7" name="タイトル 1">
            <a:extLst>
              <a:ext uri="{FF2B5EF4-FFF2-40B4-BE49-F238E27FC236}">
                <a16:creationId xmlns:a16="http://schemas.microsoft.com/office/drawing/2014/main" id="{D2F858C9-EBCE-B8F3-901D-CDA799FD783E}"/>
              </a:ext>
            </a:extLst>
          </p:cNvPr>
          <p:cNvSpPr>
            <a:spLocks noGrp="1"/>
          </p:cNvSpPr>
          <p:nvPr>
            <p:ph type="title"/>
          </p:nvPr>
        </p:nvSpPr>
        <p:spPr>
          <a:xfrm>
            <a:off x="838200" y="365125"/>
            <a:ext cx="10515600" cy="1325563"/>
          </a:xfrm>
        </p:spPr>
        <p:txBody>
          <a:bodyPr/>
          <a:lstStyle/>
          <a:p>
            <a:pPr marL="914400" indent="-914400">
              <a:buFont typeface="+mj-lt"/>
              <a:buAutoNum type="arabicPeriod" startAt="6"/>
            </a:pPr>
            <a:r>
              <a:rPr kumimoji="1" lang="ja-JP" altLang="en-US" dirty="0"/>
              <a:t>システム構成</a:t>
            </a:r>
          </a:p>
        </p:txBody>
      </p:sp>
    </p:spTree>
    <p:extLst>
      <p:ext uri="{BB962C8B-B14F-4D97-AF65-F5344CB8AC3E}">
        <p14:creationId xmlns:p14="http://schemas.microsoft.com/office/powerpoint/2010/main" val="2643585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17332-8740-0D08-0CD0-3FF398825E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B91639-C6D3-0578-19D7-D37935FB7237}"/>
              </a:ext>
            </a:extLst>
          </p:cNvPr>
          <p:cNvSpPr>
            <a:spLocks noGrp="1"/>
          </p:cNvSpPr>
          <p:nvPr>
            <p:ph type="title"/>
          </p:nvPr>
        </p:nvSpPr>
        <p:spPr/>
        <p:txBody>
          <a:bodyPr/>
          <a:lstStyle/>
          <a:p>
            <a:pPr marL="914400" indent="-914400">
              <a:buFont typeface="+mj-lt"/>
              <a:buAutoNum type="arabicPeriod" startAt="7"/>
            </a:pPr>
            <a:r>
              <a:rPr lang="ja-JP" altLang="en-US" dirty="0"/>
              <a:t>ユーザーインターフェース</a:t>
            </a:r>
            <a:endParaRPr kumimoji="1" lang="ja-JP" altLang="en-US" dirty="0"/>
          </a:p>
        </p:txBody>
      </p:sp>
      <p:sp>
        <p:nvSpPr>
          <p:cNvPr id="3" name="コンテンツ プレースホルダー 2">
            <a:extLst>
              <a:ext uri="{FF2B5EF4-FFF2-40B4-BE49-F238E27FC236}">
                <a16:creationId xmlns:a16="http://schemas.microsoft.com/office/drawing/2014/main" id="{56DFA92C-C65F-4E9A-5C6D-FA3DD9D6A256}"/>
              </a:ext>
            </a:extLst>
          </p:cNvPr>
          <p:cNvSpPr>
            <a:spLocks noGrp="1"/>
          </p:cNvSpPr>
          <p:nvPr>
            <p:ph idx="1"/>
          </p:nvPr>
        </p:nvSpPr>
        <p:spPr/>
        <p:txBody>
          <a:bodyPr>
            <a:normAutofit/>
          </a:bodyPr>
          <a:lstStyle/>
          <a:p>
            <a:r>
              <a:rPr kumimoji="1" lang="ja-JP" altLang="en-US" sz="3200" dirty="0"/>
              <a:t>解析タブ</a:t>
            </a:r>
            <a:r>
              <a:rPr kumimoji="1" lang="en-US" altLang="ja-JP" sz="3200" dirty="0"/>
              <a:t>/</a:t>
            </a:r>
            <a:r>
              <a:rPr kumimoji="1" lang="ja-JP" altLang="en-US" sz="3200" dirty="0"/>
              <a:t>評価タブで出力結果の</a:t>
            </a:r>
            <a:r>
              <a:rPr kumimoji="1" lang="ja-JP" altLang="en-US" sz="3200" u="sng" dirty="0"/>
              <a:t>修正</a:t>
            </a:r>
            <a:r>
              <a:rPr kumimoji="1" lang="ja-JP" altLang="en-US" sz="3200" dirty="0"/>
              <a:t>，</a:t>
            </a:r>
            <a:r>
              <a:rPr kumimoji="1" lang="ja-JP" altLang="en-US" sz="3200" u="sng" dirty="0"/>
              <a:t>評価</a:t>
            </a:r>
            <a:r>
              <a:rPr kumimoji="1" lang="ja-JP" altLang="en-US" sz="3200" dirty="0"/>
              <a:t>が可能</a:t>
            </a:r>
            <a:endParaRPr kumimoji="1" lang="en-US" altLang="ja-JP" sz="3200" dirty="0"/>
          </a:p>
          <a:p>
            <a:r>
              <a:rPr kumimoji="1" lang="ja-JP" altLang="en-US" sz="3200" dirty="0"/>
              <a:t>出力結果の修正、修正前・修正後の比較が可能</a:t>
            </a:r>
            <a:endParaRPr kumimoji="1" lang="en-US" altLang="ja-JP" sz="3200" dirty="0"/>
          </a:p>
          <a:p>
            <a:r>
              <a:rPr lang="ja-JP" altLang="en-US" sz="3200" dirty="0"/>
              <a:t>ファインチューニングに用いる修正結果を保存</a:t>
            </a:r>
            <a:br>
              <a:rPr lang="en-US" altLang="ja-JP" sz="3200" dirty="0"/>
            </a:br>
            <a:endParaRPr lang="en-US" altLang="ja-JP" sz="3200" dirty="0"/>
          </a:p>
          <a:p>
            <a:pPr marL="0" indent="0">
              <a:buNone/>
            </a:pPr>
            <a:endParaRPr lang="en-US" altLang="ja-JP" sz="3200" dirty="0"/>
          </a:p>
          <a:p>
            <a:endParaRPr kumimoji="1" lang="en-US" altLang="ja-JP" sz="3400" dirty="0"/>
          </a:p>
          <a:p>
            <a:endParaRPr kumimoji="1" lang="ja-JP" altLang="en-US" sz="3400" dirty="0"/>
          </a:p>
        </p:txBody>
      </p:sp>
      <p:sp>
        <p:nvSpPr>
          <p:cNvPr id="5" name="スライド番号プレースホルダー 4">
            <a:extLst>
              <a:ext uri="{FF2B5EF4-FFF2-40B4-BE49-F238E27FC236}">
                <a16:creationId xmlns:a16="http://schemas.microsoft.com/office/drawing/2014/main" id="{91C1F3C3-2D80-249E-A735-7C2BDB02E2BA}"/>
              </a:ext>
            </a:extLst>
          </p:cNvPr>
          <p:cNvSpPr>
            <a:spLocks noGrp="1"/>
          </p:cNvSpPr>
          <p:nvPr>
            <p:ph type="sldNum" sz="quarter" idx="12"/>
          </p:nvPr>
        </p:nvSpPr>
        <p:spPr/>
        <p:txBody>
          <a:bodyPr/>
          <a:lstStyle/>
          <a:p>
            <a:fld id="{8213A850-EEC5-482E-871C-F91D51FCFBE2}" type="slidenum">
              <a:rPr kumimoji="1" lang="ja-JP" altLang="en-US" smtClean="0"/>
              <a:t>16</a:t>
            </a:fld>
            <a:endParaRPr kumimoji="1" lang="ja-JP" altLang="en-US" dirty="0"/>
          </a:p>
        </p:txBody>
      </p:sp>
      <p:pic>
        <p:nvPicPr>
          <p:cNvPr id="6" name="図 5" descr="グラフィカル ユーザー インターフェイス, テーブル&#10;&#10;AI 生成コンテンツは誤りを含む可能性があります。">
            <a:extLst>
              <a:ext uri="{FF2B5EF4-FFF2-40B4-BE49-F238E27FC236}">
                <a16:creationId xmlns:a16="http://schemas.microsoft.com/office/drawing/2014/main" id="{E06CCED4-D83C-4C9D-B2E0-52C442F97E38}"/>
              </a:ext>
            </a:extLst>
          </p:cNvPr>
          <p:cNvPicPr>
            <a:picLocks noChangeAspect="1"/>
          </p:cNvPicPr>
          <p:nvPr/>
        </p:nvPicPr>
        <p:blipFill>
          <a:blip r:embed="rId3"/>
          <a:srcRect t="18263" r="12227" b="54692"/>
          <a:stretch>
            <a:fillRect/>
          </a:stretch>
        </p:blipFill>
        <p:spPr>
          <a:xfrm>
            <a:off x="1120000" y="3747681"/>
            <a:ext cx="9329452" cy="2008226"/>
          </a:xfrm>
          <a:prstGeom prst="rect">
            <a:avLst/>
          </a:prstGeom>
        </p:spPr>
      </p:pic>
    </p:spTree>
    <p:extLst>
      <p:ext uri="{BB962C8B-B14F-4D97-AF65-F5344CB8AC3E}">
        <p14:creationId xmlns:p14="http://schemas.microsoft.com/office/powerpoint/2010/main" val="1870817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1A75AA9-73C8-118F-270D-9A134A72306E}"/>
              </a:ext>
            </a:extLst>
          </p:cNvPr>
          <p:cNvSpPr>
            <a:spLocks noGrp="1"/>
          </p:cNvSpPr>
          <p:nvPr>
            <p:ph type="sldNum" sz="quarter" idx="12"/>
          </p:nvPr>
        </p:nvSpPr>
        <p:spPr/>
        <p:txBody>
          <a:bodyPr/>
          <a:lstStyle/>
          <a:p>
            <a:fld id="{8213A850-EEC5-482E-871C-F91D51FCFBE2}" type="slidenum">
              <a:rPr kumimoji="1" lang="ja-JP" altLang="en-US" smtClean="0"/>
              <a:pPr/>
              <a:t>17</a:t>
            </a:fld>
            <a:endParaRPr kumimoji="1" lang="ja-JP" altLang="en-US" sz="2800" dirty="0"/>
          </a:p>
        </p:txBody>
      </p:sp>
      <p:pic>
        <p:nvPicPr>
          <p:cNvPr id="5" name="図 4" descr="グラフィカル ユーザー インターフェイス, テーブル&#10;&#10;AI 生成コンテンツは誤りを含む可能性があります。">
            <a:extLst>
              <a:ext uri="{FF2B5EF4-FFF2-40B4-BE49-F238E27FC236}">
                <a16:creationId xmlns:a16="http://schemas.microsoft.com/office/drawing/2014/main" id="{7BA3A540-97B6-DCEC-CFDD-4D8299E3AC79}"/>
              </a:ext>
            </a:extLst>
          </p:cNvPr>
          <p:cNvPicPr>
            <a:picLocks noChangeAspect="1"/>
          </p:cNvPicPr>
          <p:nvPr/>
        </p:nvPicPr>
        <p:blipFill>
          <a:blip r:embed="rId3"/>
          <a:srcRect t="16434" b="-8974"/>
          <a:stretch>
            <a:fillRect/>
          </a:stretch>
        </p:blipFill>
        <p:spPr>
          <a:xfrm>
            <a:off x="2476513" y="1700520"/>
            <a:ext cx="7238974" cy="4679765"/>
          </a:xfrm>
          <a:prstGeom prst="rect">
            <a:avLst/>
          </a:prstGeom>
        </p:spPr>
      </p:pic>
      <p:sp>
        <p:nvSpPr>
          <p:cNvPr id="6" name="タイトル 1">
            <a:extLst>
              <a:ext uri="{FF2B5EF4-FFF2-40B4-BE49-F238E27FC236}">
                <a16:creationId xmlns:a16="http://schemas.microsoft.com/office/drawing/2014/main" id="{F34E688C-E1C1-CC9D-3E0A-D43370EF1CD5}"/>
              </a:ext>
            </a:extLst>
          </p:cNvPr>
          <p:cNvSpPr>
            <a:spLocks noGrp="1"/>
          </p:cNvSpPr>
          <p:nvPr>
            <p:ph type="title"/>
          </p:nvPr>
        </p:nvSpPr>
        <p:spPr>
          <a:xfrm>
            <a:off x="838200" y="365125"/>
            <a:ext cx="10515600" cy="1325563"/>
          </a:xfrm>
        </p:spPr>
        <p:txBody>
          <a:bodyPr/>
          <a:lstStyle/>
          <a:p>
            <a:pPr marL="914400" indent="-914400">
              <a:buFont typeface="+mj-lt"/>
              <a:buAutoNum type="arabicPeriod" startAt="7"/>
            </a:pPr>
            <a:r>
              <a:rPr lang="ja-JP" altLang="en-US" dirty="0"/>
              <a:t>ユーザーインターフェース</a:t>
            </a:r>
            <a:endParaRPr kumimoji="1" lang="ja-JP" altLang="en-US" dirty="0"/>
          </a:p>
        </p:txBody>
      </p:sp>
    </p:spTree>
    <p:extLst>
      <p:ext uri="{BB962C8B-B14F-4D97-AF65-F5344CB8AC3E}">
        <p14:creationId xmlns:p14="http://schemas.microsoft.com/office/powerpoint/2010/main" val="3480071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CAEF4-6B96-8DA3-97D4-D26988B8CE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81B9A7-D69F-29ED-DF17-DA4AF3B60888}"/>
              </a:ext>
            </a:extLst>
          </p:cNvPr>
          <p:cNvSpPr>
            <a:spLocks noGrp="1"/>
          </p:cNvSpPr>
          <p:nvPr>
            <p:ph type="title"/>
          </p:nvPr>
        </p:nvSpPr>
        <p:spPr/>
        <p:txBody>
          <a:bodyPr/>
          <a:lstStyle/>
          <a:p>
            <a:pPr marL="914400" indent="-914400">
              <a:buFont typeface="+mj-lt"/>
              <a:buAutoNum type="arabicPeriod" startAt="8"/>
            </a:pPr>
            <a:r>
              <a:rPr lang="ja-JP" altLang="en-US" dirty="0"/>
              <a:t>評価実験</a:t>
            </a:r>
            <a:endParaRPr kumimoji="1" lang="ja-JP" altLang="en-US" dirty="0"/>
          </a:p>
        </p:txBody>
      </p:sp>
      <p:sp>
        <p:nvSpPr>
          <p:cNvPr id="3" name="コンテンツ プレースホルダー 2">
            <a:extLst>
              <a:ext uri="{FF2B5EF4-FFF2-40B4-BE49-F238E27FC236}">
                <a16:creationId xmlns:a16="http://schemas.microsoft.com/office/drawing/2014/main" id="{4436A602-B839-9CA8-8D2A-0706F9DA5CFF}"/>
              </a:ext>
            </a:extLst>
          </p:cNvPr>
          <p:cNvSpPr>
            <a:spLocks noGrp="1"/>
          </p:cNvSpPr>
          <p:nvPr>
            <p:ph idx="1"/>
          </p:nvPr>
        </p:nvSpPr>
        <p:spPr>
          <a:xfrm>
            <a:off x="1120000" y="1825625"/>
            <a:ext cx="10716400" cy="4351338"/>
          </a:xfrm>
        </p:spPr>
        <p:txBody>
          <a:bodyPr>
            <a:normAutofit/>
          </a:bodyPr>
          <a:lstStyle/>
          <a:p>
            <a:pPr>
              <a:lnSpc>
                <a:spcPct val="100000"/>
              </a:lnSpc>
              <a:spcBef>
                <a:spcPts val="1500"/>
              </a:spcBef>
            </a:pPr>
            <a:r>
              <a:rPr kumimoji="1" lang="ja-JP" altLang="en-US" sz="3200" dirty="0"/>
              <a:t>対象</a:t>
            </a:r>
            <a:r>
              <a:rPr lang="ja-JP" altLang="en-US" sz="3200" dirty="0"/>
              <a:t>：道路環境の動画</a:t>
            </a:r>
            <a:endParaRPr lang="en-US" altLang="ja-JP" sz="3200" dirty="0"/>
          </a:p>
          <a:p>
            <a:pPr>
              <a:lnSpc>
                <a:spcPct val="100000"/>
              </a:lnSpc>
              <a:spcBef>
                <a:spcPts val="1500"/>
              </a:spcBef>
            </a:pPr>
            <a:r>
              <a:rPr kumimoji="1" lang="ja-JP" altLang="en-US" sz="3200" dirty="0"/>
              <a:t>データセット：</a:t>
            </a:r>
            <a:br>
              <a:rPr kumimoji="1" lang="en-US" altLang="ja-JP" sz="3200" dirty="0"/>
            </a:br>
            <a:r>
              <a:rPr kumimoji="1" lang="ja-JP" altLang="en-US" sz="3200" dirty="0"/>
              <a:t>学習用の動画</a:t>
            </a:r>
            <a:r>
              <a:rPr kumimoji="1" lang="en-US" altLang="ja-JP" sz="3200" dirty="0"/>
              <a:t>50</a:t>
            </a:r>
            <a:r>
              <a:rPr kumimoji="1" lang="ja-JP" altLang="en-US" sz="3200" dirty="0"/>
              <a:t>枚による教師データ</a:t>
            </a:r>
            <a:br>
              <a:rPr kumimoji="1" lang="en-US" altLang="ja-JP" sz="3200" dirty="0"/>
            </a:br>
            <a:r>
              <a:rPr kumimoji="1" lang="ja-JP" altLang="en-US" sz="3200" dirty="0"/>
              <a:t>評価用の動画</a:t>
            </a:r>
            <a:r>
              <a:rPr kumimoji="1" lang="en-US" altLang="ja-JP" sz="3200" dirty="0"/>
              <a:t>20</a:t>
            </a:r>
            <a:r>
              <a:rPr kumimoji="1" lang="ja-JP" altLang="en-US" sz="3200" dirty="0"/>
              <a:t>枚による評価データ</a:t>
            </a:r>
            <a:endParaRPr kumimoji="1" lang="en-US" altLang="ja-JP" sz="3200" dirty="0"/>
          </a:p>
          <a:p>
            <a:pPr>
              <a:lnSpc>
                <a:spcPct val="100000"/>
              </a:lnSpc>
              <a:spcBef>
                <a:spcPts val="1500"/>
              </a:spcBef>
            </a:pPr>
            <a:r>
              <a:rPr lang="ja-JP" altLang="en-US" sz="3200" dirty="0"/>
              <a:t>比較対象：</a:t>
            </a:r>
            <a:br>
              <a:rPr lang="en-US" altLang="ja-JP" sz="3200" dirty="0"/>
            </a:br>
            <a:r>
              <a:rPr lang="ja-JP" altLang="en-US" sz="3200" dirty="0"/>
              <a:t>➀ベースモデル</a:t>
            </a:r>
            <a:r>
              <a:rPr lang="en-US" altLang="ja-JP" sz="3200" dirty="0"/>
              <a:t>(Gemini</a:t>
            </a:r>
            <a:r>
              <a:rPr lang="ja-JP" altLang="en-US" sz="3200" dirty="0"/>
              <a:t> </a:t>
            </a:r>
            <a:r>
              <a:rPr lang="en-US" altLang="ja-JP" sz="3200" dirty="0"/>
              <a:t>2.5</a:t>
            </a:r>
            <a:r>
              <a:rPr lang="ja-JP" altLang="en-US" sz="3200" dirty="0"/>
              <a:t> </a:t>
            </a:r>
            <a:r>
              <a:rPr lang="en-US" altLang="ja-JP" sz="3200" dirty="0"/>
              <a:t>Pro)</a:t>
            </a:r>
            <a:br>
              <a:rPr lang="en-US" altLang="ja-JP" sz="3200" dirty="0"/>
            </a:br>
            <a:r>
              <a:rPr lang="ja-JP" altLang="en-US" sz="3200" dirty="0"/>
              <a:t>②学習済みモデル</a:t>
            </a:r>
            <a:r>
              <a:rPr lang="en-US" altLang="ja-JP" sz="3200" dirty="0"/>
              <a:t>(</a:t>
            </a:r>
            <a:r>
              <a:rPr lang="ja-JP" altLang="en-US" sz="3200" dirty="0"/>
              <a:t>学習用データセット</a:t>
            </a:r>
            <a:r>
              <a:rPr lang="en-US" altLang="ja-JP" sz="3200" dirty="0"/>
              <a:t>50</a:t>
            </a:r>
            <a:r>
              <a:rPr lang="ja-JP" altLang="en-US" sz="3200" dirty="0"/>
              <a:t>枚を学習</a:t>
            </a:r>
            <a:r>
              <a:rPr lang="en-US" altLang="ja-JP" sz="3200" dirty="0"/>
              <a:t>)</a:t>
            </a:r>
          </a:p>
        </p:txBody>
      </p:sp>
      <p:sp>
        <p:nvSpPr>
          <p:cNvPr id="4" name="スライド番号プレースホルダー 3">
            <a:extLst>
              <a:ext uri="{FF2B5EF4-FFF2-40B4-BE49-F238E27FC236}">
                <a16:creationId xmlns:a16="http://schemas.microsoft.com/office/drawing/2014/main" id="{8EF4735A-67CA-965B-3224-5BA66B417B2E}"/>
              </a:ext>
            </a:extLst>
          </p:cNvPr>
          <p:cNvSpPr>
            <a:spLocks noGrp="1"/>
          </p:cNvSpPr>
          <p:nvPr>
            <p:ph type="sldNum" sz="quarter" idx="12"/>
          </p:nvPr>
        </p:nvSpPr>
        <p:spPr/>
        <p:txBody>
          <a:bodyPr/>
          <a:lstStyle/>
          <a:p>
            <a:fld id="{8213A850-EEC5-482E-871C-F91D51FCFBE2}" type="slidenum">
              <a:rPr kumimoji="1" lang="ja-JP" altLang="en-US" smtClean="0"/>
              <a:t>18</a:t>
            </a:fld>
            <a:endParaRPr kumimoji="1" lang="ja-JP" altLang="en-US" dirty="0"/>
          </a:p>
        </p:txBody>
      </p:sp>
    </p:spTree>
    <p:extLst>
      <p:ext uri="{BB962C8B-B14F-4D97-AF65-F5344CB8AC3E}">
        <p14:creationId xmlns:p14="http://schemas.microsoft.com/office/powerpoint/2010/main" val="1788628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02F73-2C02-659F-CFE5-604C51CA7E11}"/>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D1AAEFD-B2B8-1A91-75CB-46728A0D5BC6}"/>
              </a:ext>
            </a:extLst>
          </p:cNvPr>
          <p:cNvSpPr>
            <a:spLocks noGrp="1"/>
          </p:cNvSpPr>
          <p:nvPr>
            <p:ph type="sldNum" sz="quarter" idx="12"/>
          </p:nvPr>
        </p:nvSpPr>
        <p:spPr/>
        <p:txBody>
          <a:bodyPr/>
          <a:lstStyle/>
          <a:p>
            <a:fld id="{228943F0-0511-42E8-9F3F-80232065CB31}" type="slidenum">
              <a:rPr kumimoji="1" lang="ja-JP" altLang="en-US" smtClean="0"/>
              <a:t>19</a:t>
            </a:fld>
            <a:endParaRPr kumimoji="1" lang="ja-JP" altLang="en-US"/>
          </a:p>
        </p:txBody>
      </p:sp>
      <p:sp>
        <p:nvSpPr>
          <p:cNvPr id="7" name="タイトル 1">
            <a:extLst>
              <a:ext uri="{FF2B5EF4-FFF2-40B4-BE49-F238E27FC236}">
                <a16:creationId xmlns:a16="http://schemas.microsoft.com/office/drawing/2014/main" id="{AEC0BC92-06FC-09A9-1107-A8BB6047EFE2}"/>
              </a:ext>
            </a:extLst>
          </p:cNvPr>
          <p:cNvSpPr>
            <a:spLocks noGrp="1"/>
          </p:cNvSpPr>
          <p:nvPr>
            <p:ph type="title"/>
          </p:nvPr>
        </p:nvSpPr>
        <p:spPr>
          <a:xfrm>
            <a:off x="838200" y="365125"/>
            <a:ext cx="10515600" cy="1325563"/>
          </a:xfrm>
        </p:spPr>
        <p:txBody>
          <a:bodyPr>
            <a:normAutofit/>
          </a:bodyPr>
          <a:lstStyle/>
          <a:p>
            <a:pPr marL="914400" indent="-914400">
              <a:buFont typeface="+mj-lt"/>
              <a:buAutoNum type="arabicPeriod" startAt="8"/>
            </a:pPr>
            <a:r>
              <a:rPr lang="ja-JP" altLang="en-US" dirty="0"/>
              <a:t>評価実験</a:t>
            </a:r>
            <a:endParaRPr kumimoji="1" lang="ja-JP" altLang="en-US" dirty="0"/>
          </a:p>
        </p:txBody>
      </p:sp>
      <mc:AlternateContent xmlns:mc="http://schemas.openxmlformats.org/markup-compatibility/2006" xmlns:a14="http://schemas.microsoft.com/office/drawing/2010/main">
        <mc:Choice Requires="a14">
          <p:graphicFrame>
            <p:nvGraphicFramePr>
              <p:cNvPr id="6" name="コンテンツ プレースホルダー 5">
                <a:extLst>
                  <a:ext uri="{FF2B5EF4-FFF2-40B4-BE49-F238E27FC236}">
                    <a16:creationId xmlns:a16="http://schemas.microsoft.com/office/drawing/2014/main" id="{39AB51C4-4161-A5B2-A4F4-38F63D5B581C}"/>
                  </a:ext>
                </a:extLst>
              </p:cNvPr>
              <p:cNvGraphicFramePr>
                <a:graphicFrameLocks noGrp="1"/>
              </p:cNvGraphicFramePr>
              <p:nvPr>
                <p:ph idx="1"/>
                <p:extLst>
                  <p:ext uri="{D42A27DB-BD31-4B8C-83A1-F6EECF244321}">
                    <p14:modId xmlns:p14="http://schemas.microsoft.com/office/powerpoint/2010/main" val="3864666831"/>
                  </p:ext>
                </p:extLst>
              </p:nvPr>
            </p:nvGraphicFramePr>
            <p:xfrm>
              <a:off x="973396" y="2040029"/>
              <a:ext cx="9665108" cy="2225040"/>
            </p:xfrm>
            <a:graphic>
              <a:graphicData uri="http://schemas.openxmlformats.org/drawingml/2006/table">
                <a:tbl>
                  <a:tblPr firstRow="1" bandRow="1">
                    <a:tableStyleId>{5C22544A-7EE6-4342-B048-85BDC9FD1C3A}</a:tableStyleId>
                  </a:tblPr>
                  <a:tblGrid>
                    <a:gridCol w="2272079">
                      <a:extLst>
                        <a:ext uri="{9D8B030D-6E8A-4147-A177-3AD203B41FA5}">
                          <a16:colId xmlns:a16="http://schemas.microsoft.com/office/drawing/2014/main" val="2138805608"/>
                        </a:ext>
                      </a:extLst>
                    </a:gridCol>
                    <a:gridCol w="7393029">
                      <a:extLst>
                        <a:ext uri="{9D8B030D-6E8A-4147-A177-3AD203B41FA5}">
                          <a16:colId xmlns:a16="http://schemas.microsoft.com/office/drawing/2014/main" val="4245100662"/>
                        </a:ext>
                      </a:extLst>
                    </a:gridCol>
                  </a:tblGrid>
                  <a:tr h="370840">
                    <a:tc>
                      <a:txBody>
                        <a:bodyPr/>
                        <a:lstStyle/>
                        <a:p>
                          <a:pPr algn="ctr"/>
                          <a:r>
                            <a:rPr kumimoji="1" lang="ja-JP" altLang="en-US" sz="2000" u="none" dirty="0"/>
                            <a:t>パラメータ</a:t>
                          </a:r>
                        </a:p>
                      </a:txBody>
                      <a:tcPr anchor="ctr">
                        <a:lnR w="38100" cap="flat" cmpd="sng" algn="ctr">
                          <a:solidFill>
                            <a:schemeClr val="tx1"/>
                          </a:solidFill>
                          <a:prstDash val="solid"/>
                          <a:round/>
                          <a:headEnd type="none" w="med" len="med"/>
                          <a:tailEnd type="none" w="med" len="med"/>
                        </a:lnR>
                        <a:solidFill>
                          <a:schemeClr val="bg2">
                            <a:lumMod val="75000"/>
                          </a:schemeClr>
                        </a:solidFill>
                      </a:tcPr>
                    </a:tc>
                    <a:tc>
                      <a:txBody>
                        <a:bodyPr/>
                        <a:lstStyle/>
                        <a:p>
                          <a:pPr algn="ctr"/>
                          <a:r>
                            <a:rPr kumimoji="1" lang="ja-JP" altLang="en-US" sz="2000" u="none" dirty="0"/>
                            <a:t>意味</a:t>
                          </a: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2953034097"/>
                      </a:ext>
                    </a:extLst>
                  </a:tr>
                  <a:tr h="370840">
                    <a:tc>
                      <a:txBody>
                        <a:bodyPr/>
                        <a:lstStyle/>
                        <a:p>
                          <a:pPr algn="ctr"/>
                          <a:r>
                            <a:rPr lang="ja-JP" altLang="en-US" sz="2400" u="none" dirty="0">
                              <a:solidFill>
                                <a:schemeClr val="accent6">
                                  <a:lumMod val="60000"/>
                                  <a:lumOff val="40000"/>
                                </a:schemeClr>
                              </a:solidFill>
                            </a:rPr>
                            <a:t>正解数</a:t>
                          </a:r>
                          <a14:m>
                            <m:oMath xmlns:m="http://schemas.openxmlformats.org/officeDocument/2006/math">
                              <m:r>
                                <a:rPr lang="en-US" altLang="ja-JP" sz="2400" i="1" u="none" dirty="0" smtClean="0">
                                  <a:solidFill>
                                    <a:schemeClr val="accent6">
                                      <a:lumMod val="60000"/>
                                      <a:lumOff val="40000"/>
                                    </a:schemeClr>
                                  </a:solidFill>
                                  <a:latin typeface="Cambria Math" panose="02040503050406030204" pitchFamily="18" charset="0"/>
                                </a:rPr>
                                <m:t>𝑇𝑃</m:t>
                              </m:r>
                            </m:oMath>
                          </a14:m>
                          <a:endParaRPr kumimoji="1" lang="ja-JP" altLang="en-US" sz="2400" u="none" dirty="0"/>
                        </a:p>
                      </a:txBody>
                      <a:tcPr anchor="ctr">
                        <a:lnR w="38100" cap="flat" cmpd="sng" algn="ctr">
                          <a:solidFill>
                            <a:schemeClr val="tx1"/>
                          </a:solidFill>
                          <a:prstDash val="solid"/>
                          <a:round/>
                          <a:headEnd type="none" w="med" len="med"/>
                          <a:tailEnd type="none" w="med" len="med"/>
                        </a:lnR>
                        <a:solidFill>
                          <a:schemeClr val="bg2">
                            <a:lumMod val="75000"/>
                          </a:schemeClr>
                        </a:solidFill>
                      </a:tcPr>
                    </a:tc>
                    <a:tc>
                      <a:txBody>
                        <a:bodyPr/>
                        <a:lstStyle/>
                        <a:p>
                          <a:pPr algn="ctr"/>
                          <a:r>
                            <a:rPr lang="ja-JP" altLang="en-US" sz="2000" b="1" u="none" dirty="0">
                              <a:solidFill>
                                <a:schemeClr val="tx1"/>
                              </a:solidFill>
                            </a:rPr>
                            <a:t>正確に記述されたイベント数</a:t>
                          </a:r>
                          <a:endParaRPr kumimoji="1" lang="ja-JP" altLang="en-US" sz="2000" b="1" u="none" dirty="0">
                            <a:solidFill>
                              <a:schemeClr val="tx1"/>
                            </a:solidFill>
                          </a:endParaRP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640943971"/>
                      </a:ext>
                    </a:extLst>
                  </a:tr>
                  <a:tr h="370840">
                    <a:tc>
                      <a:txBody>
                        <a:bodyPr/>
                        <a:lstStyle/>
                        <a:p>
                          <a:pPr algn="ctr"/>
                          <a:r>
                            <a:rPr lang="ja-JP" altLang="en-US" sz="2400" u="none" dirty="0">
                              <a:solidFill>
                                <a:schemeClr val="tx2">
                                  <a:lumMod val="60000"/>
                                  <a:lumOff val="40000"/>
                                </a:schemeClr>
                              </a:solidFill>
                            </a:rPr>
                            <a:t>不正解数</a:t>
                          </a:r>
                          <a14:m>
                            <m:oMath xmlns:m="http://schemas.openxmlformats.org/officeDocument/2006/math">
                              <m:r>
                                <a:rPr lang="en-US" altLang="ja-JP" sz="2400" b="0" i="1" u="none" dirty="0">
                                  <a:solidFill>
                                    <a:schemeClr val="tx2">
                                      <a:lumMod val="60000"/>
                                      <a:lumOff val="40000"/>
                                    </a:schemeClr>
                                  </a:solidFill>
                                  <a:latin typeface="Cambria Math" panose="02040503050406030204" pitchFamily="18" charset="0"/>
                                </a:rPr>
                                <m:t>𝑀𝑖𝑠</m:t>
                              </m:r>
                              <m:r>
                                <a:rPr lang="en-US" altLang="ja-JP" sz="2400" i="1" u="none" dirty="0">
                                  <a:solidFill>
                                    <a:schemeClr val="tx2">
                                      <a:lumMod val="60000"/>
                                      <a:lumOff val="40000"/>
                                    </a:schemeClr>
                                  </a:solidFill>
                                  <a:latin typeface="Cambria Math" panose="02040503050406030204" pitchFamily="18" charset="0"/>
                                </a:rPr>
                                <m:t> </m:t>
                              </m:r>
                            </m:oMath>
                          </a14:m>
                          <a:endParaRPr kumimoji="1" lang="ja-JP" altLang="en-US" sz="2400" u="none" dirty="0"/>
                        </a:p>
                      </a:txBody>
                      <a:tcPr anchor="ctr">
                        <a:lnR w="38100" cap="flat" cmpd="sng" algn="ctr">
                          <a:solidFill>
                            <a:schemeClr val="tx1"/>
                          </a:solidFill>
                          <a:prstDash val="solid"/>
                          <a:round/>
                          <a:headEnd type="none" w="med" len="med"/>
                          <a:tailEnd type="none" w="med" len="med"/>
                        </a:lnR>
                        <a:solidFill>
                          <a:schemeClr val="bg2">
                            <a:lumMod val="75000"/>
                          </a:schemeClr>
                        </a:solidFill>
                      </a:tcPr>
                    </a:tc>
                    <a:tc>
                      <a:txBody>
                        <a:bodyPr/>
                        <a:lstStyle/>
                        <a:p>
                          <a:pPr algn="ctr"/>
                          <a:r>
                            <a:rPr lang="ja-JP" altLang="en-US" sz="2000" b="1" u="none" dirty="0">
                              <a:solidFill>
                                <a:schemeClr val="tx1"/>
                              </a:solidFill>
                            </a:rPr>
                            <a:t>不正確に記述されたイベント数</a:t>
                          </a:r>
                          <a:endParaRPr kumimoji="1" lang="ja-JP" altLang="en-US" sz="2000" b="1" u="none" dirty="0">
                            <a:solidFill>
                              <a:schemeClr val="tx1"/>
                            </a:solidFill>
                          </a:endParaRP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3858982730"/>
                      </a:ext>
                    </a:extLst>
                  </a:tr>
                  <a:tr h="370840">
                    <a:tc>
                      <a:txBody>
                        <a:bodyPr/>
                        <a:lstStyle/>
                        <a:p>
                          <a:pPr algn="ctr"/>
                          <a:r>
                            <a:rPr lang="ja-JP" altLang="en-US" sz="2400" u="none" dirty="0">
                              <a:solidFill>
                                <a:srgbClr val="00B050"/>
                              </a:solidFill>
                            </a:rPr>
                            <a:t>過剰検知数</a:t>
                          </a:r>
                          <a14:m>
                            <m:oMath xmlns:m="http://schemas.openxmlformats.org/officeDocument/2006/math">
                              <m:r>
                                <a:rPr lang="en-US" altLang="ja-JP" sz="2400" i="1" u="none" dirty="0">
                                  <a:solidFill>
                                    <a:srgbClr val="00B050"/>
                                  </a:solidFill>
                                  <a:latin typeface="Cambria Math" panose="02040503050406030204" pitchFamily="18" charset="0"/>
                                </a:rPr>
                                <m:t>𝐹</m:t>
                              </m:r>
                              <m:r>
                                <a:rPr lang="en-US" altLang="ja-JP" sz="2400" b="0" i="1" u="none" dirty="0" smtClean="0">
                                  <a:solidFill>
                                    <a:srgbClr val="00B050"/>
                                  </a:solidFill>
                                  <a:latin typeface="Cambria Math" panose="02040503050406030204" pitchFamily="18" charset="0"/>
                                </a:rPr>
                                <m:t>𝑃</m:t>
                              </m:r>
                              <m:r>
                                <a:rPr lang="en-US" altLang="ja-JP" sz="2400" i="1" u="none" dirty="0">
                                  <a:solidFill>
                                    <a:srgbClr val="00B050"/>
                                  </a:solidFill>
                                  <a:latin typeface="Cambria Math" panose="02040503050406030204" pitchFamily="18" charset="0"/>
                                </a:rPr>
                                <m:t> </m:t>
                              </m:r>
                            </m:oMath>
                          </a14:m>
                          <a:endParaRPr kumimoji="1" lang="ja-JP" altLang="en-US" sz="2400" u="none" dirty="0"/>
                        </a:p>
                      </a:txBody>
                      <a:tcPr anchor="ctr">
                        <a:lnR w="38100" cap="flat" cmpd="sng" algn="ctr">
                          <a:solidFill>
                            <a:schemeClr val="tx1"/>
                          </a:solidFill>
                          <a:prstDash val="solid"/>
                          <a:round/>
                          <a:headEnd type="none" w="med" len="med"/>
                          <a:tailEnd type="none" w="med" len="med"/>
                        </a:lnR>
                        <a:solidFill>
                          <a:schemeClr val="bg2">
                            <a:lumMod val="75000"/>
                          </a:schemeClr>
                        </a:solidFill>
                      </a:tcPr>
                    </a:tc>
                    <a:tc>
                      <a:txBody>
                        <a:bodyPr/>
                        <a:lstStyle/>
                        <a:p>
                          <a:pPr algn="ctr"/>
                          <a:r>
                            <a:rPr lang="ja-JP" altLang="en-US" sz="2000" b="1" u="none" dirty="0">
                              <a:solidFill>
                                <a:schemeClr val="tx1"/>
                              </a:solidFill>
                            </a:rPr>
                            <a:t>存在しないイベント数</a:t>
                          </a:r>
                          <a:endParaRPr kumimoji="1" lang="ja-JP" altLang="en-US" sz="2000" b="1" u="none" dirty="0">
                            <a:solidFill>
                              <a:schemeClr val="tx1"/>
                            </a:solidFill>
                          </a:endParaRP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1101832877"/>
                      </a:ext>
                    </a:extLst>
                  </a:tr>
                  <a:tr h="370840">
                    <a:tc>
                      <a:txBody>
                        <a:bodyPr/>
                        <a:lstStyle/>
                        <a:p>
                          <a:pPr algn="ctr"/>
                          <a:r>
                            <a:rPr lang="ja-JP" altLang="en-US" sz="2400" u="none" dirty="0">
                              <a:solidFill>
                                <a:schemeClr val="accent3">
                                  <a:lumMod val="40000"/>
                                  <a:lumOff val="60000"/>
                                </a:schemeClr>
                              </a:solidFill>
                            </a:rPr>
                            <a:t>検出漏れ数</a:t>
                          </a:r>
                          <a14:m>
                            <m:oMath xmlns:m="http://schemas.openxmlformats.org/officeDocument/2006/math">
                              <m:r>
                                <a:rPr lang="en-US" altLang="ja-JP" sz="2400" b="0" i="1" u="none" dirty="0">
                                  <a:solidFill>
                                    <a:schemeClr val="accent3">
                                      <a:lumMod val="40000"/>
                                      <a:lumOff val="60000"/>
                                    </a:schemeClr>
                                  </a:solidFill>
                                  <a:latin typeface="Cambria Math" panose="02040503050406030204" pitchFamily="18" charset="0"/>
                                </a:rPr>
                                <m:t>𝐹</m:t>
                              </m:r>
                              <m:r>
                                <a:rPr lang="en-US" altLang="ja-JP" sz="2400" i="1" u="none" dirty="0">
                                  <a:solidFill>
                                    <a:schemeClr val="accent3">
                                      <a:lumMod val="40000"/>
                                      <a:lumOff val="60000"/>
                                    </a:schemeClr>
                                  </a:solidFill>
                                  <a:latin typeface="Cambria Math" panose="02040503050406030204" pitchFamily="18" charset="0"/>
                                </a:rPr>
                                <m:t>𝑁</m:t>
                              </m:r>
                            </m:oMath>
                          </a14:m>
                          <a:endParaRPr kumimoji="1" lang="ja-JP" altLang="en-US" sz="2400" u="none" dirty="0"/>
                        </a:p>
                      </a:txBody>
                      <a:tcPr anchor="ctr">
                        <a:lnR w="38100" cap="flat" cmpd="sng" algn="ctr">
                          <a:solidFill>
                            <a:schemeClr val="tx1"/>
                          </a:solidFill>
                          <a:prstDash val="solid"/>
                          <a:round/>
                          <a:headEnd type="none" w="med" len="med"/>
                          <a:tailEnd type="none" w="med" len="med"/>
                        </a:lnR>
                        <a:solidFill>
                          <a:schemeClr val="bg2">
                            <a:lumMod val="75000"/>
                          </a:schemeClr>
                        </a:solidFill>
                      </a:tcPr>
                    </a:tc>
                    <a:tc>
                      <a:txBody>
                        <a:bodyPr/>
                        <a:lstStyle/>
                        <a:p>
                          <a:pPr algn="ctr"/>
                          <a:r>
                            <a:rPr lang="en-US" altLang="ja-JP" sz="2000" b="1" u="none" dirty="0">
                              <a:solidFill>
                                <a:schemeClr val="tx1"/>
                              </a:solidFill>
                            </a:rPr>
                            <a:t>AI</a:t>
                          </a:r>
                          <a:r>
                            <a:rPr lang="ja-JP" altLang="en-US" sz="2000" b="1" u="none" dirty="0">
                              <a:solidFill>
                                <a:schemeClr val="tx1"/>
                              </a:solidFill>
                            </a:rPr>
                            <a:t>が見逃したイベント数</a:t>
                          </a:r>
                          <a:endParaRPr kumimoji="1" lang="ja-JP" altLang="en-US" sz="2000" b="1" u="none" dirty="0">
                            <a:solidFill>
                              <a:schemeClr val="tx1"/>
                            </a:solidFill>
                          </a:endParaRP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2016310190"/>
                      </a:ext>
                    </a:extLst>
                  </a:tr>
                </a:tbl>
              </a:graphicData>
            </a:graphic>
          </p:graphicFrame>
        </mc:Choice>
        <mc:Fallback xmlns="">
          <p:graphicFrame>
            <p:nvGraphicFramePr>
              <p:cNvPr id="6" name="コンテンツ プレースホルダー 5">
                <a:extLst>
                  <a:ext uri="{FF2B5EF4-FFF2-40B4-BE49-F238E27FC236}">
                    <a16:creationId xmlns:a16="http://schemas.microsoft.com/office/drawing/2014/main" id="{39AB51C4-4161-A5B2-A4F4-38F63D5B581C}"/>
                  </a:ext>
                </a:extLst>
              </p:cNvPr>
              <p:cNvGraphicFramePr>
                <a:graphicFrameLocks noGrp="1"/>
              </p:cNvGraphicFramePr>
              <p:nvPr>
                <p:ph idx="1"/>
                <p:extLst>
                  <p:ext uri="{D42A27DB-BD31-4B8C-83A1-F6EECF244321}">
                    <p14:modId xmlns:p14="http://schemas.microsoft.com/office/powerpoint/2010/main" val="3864666831"/>
                  </p:ext>
                </p:extLst>
              </p:nvPr>
            </p:nvGraphicFramePr>
            <p:xfrm>
              <a:off x="973396" y="2040029"/>
              <a:ext cx="9665108" cy="2225040"/>
            </p:xfrm>
            <a:graphic>
              <a:graphicData uri="http://schemas.openxmlformats.org/drawingml/2006/table">
                <a:tbl>
                  <a:tblPr firstRow="1" bandRow="1">
                    <a:tableStyleId>{5C22544A-7EE6-4342-B048-85BDC9FD1C3A}</a:tableStyleId>
                  </a:tblPr>
                  <a:tblGrid>
                    <a:gridCol w="2272079">
                      <a:extLst>
                        <a:ext uri="{9D8B030D-6E8A-4147-A177-3AD203B41FA5}">
                          <a16:colId xmlns:a16="http://schemas.microsoft.com/office/drawing/2014/main" val="2138805608"/>
                        </a:ext>
                      </a:extLst>
                    </a:gridCol>
                    <a:gridCol w="7393029">
                      <a:extLst>
                        <a:ext uri="{9D8B030D-6E8A-4147-A177-3AD203B41FA5}">
                          <a16:colId xmlns:a16="http://schemas.microsoft.com/office/drawing/2014/main" val="4245100662"/>
                        </a:ext>
                      </a:extLst>
                    </a:gridCol>
                  </a:tblGrid>
                  <a:tr h="396240">
                    <a:tc>
                      <a:txBody>
                        <a:bodyPr/>
                        <a:lstStyle/>
                        <a:p>
                          <a:pPr algn="ctr"/>
                          <a:r>
                            <a:rPr kumimoji="1" lang="ja-JP" altLang="en-US" sz="2000" u="none" dirty="0"/>
                            <a:t>パラメータ</a:t>
                          </a:r>
                        </a:p>
                      </a:txBody>
                      <a:tcPr anchor="ctr">
                        <a:lnR w="38100" cap="flat" cmpd="sng" algn="ctr">
                          <a:solidFill>
                            <a:schemeClr val="tx1"/>
                          </a:solidFill>
                          <a:prstDash val="solid"/>
                          <a:round/>
                          <a:headEnd type="none" w="med" len="med"/>
                          <a:tailEnd type="none" w="med" len="med"/>
                        </a:lnR>
                        <a:solidFill>
                          <a:schemeClr val="bg2">
                            <a:lumMod val="75000"/>
                          </a:schemeClr>
                        </a:solidFill>
                      </a:tcPr>
                    </a:tc>
                    <a:tc>
                      <a:txBody>
                        <a:bodyPr/>
                        <a:lstStyle/>
                        <a:p>
                          <a:pPr algn="ctr"/>
                          <a:r>
                            <a:rPr kumimoji="1" lang="ja-JP" altLang="en-US" sz="2000" u="none" dirty="0"/>
                            <a:t>意味</a:t>
                          </a: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2953034097"/>
                      </a:ext>
                    </a:extLst>
                  </a:tr>
                  <a:tr h="457200">
                    <a:tc>
                      <a:txBody>
                        <a:bodyPr/>
                        <a:lstStyle/>
                        <a:p>
                          <a:endParaRPr lang="ja-JP"/>
                        </a:p>
                      </a:txBody>
                      <a:tcPr anchor="ctr">
                        <a:lnR w="38100" cap="flat" cmpd="sng" algn="ctr">
                          <a:solidFill>
                            <a:schemeClr val="tx1"/>
                          </a:solidFill>
                          <a:prstDash val="solid"/>
                          <a:round/>
                          <a:headEnd type="none" w="med" len="med"/>
                          <a:tailEnd type="none" w="med" len="med"/>
                        </a:lnR>
                        <a:blipFill>
                          <a:blip r:embed="rId3"/>
                          <a:stretch>
                            <a:fillRect l="-268" t="-93333" r="-326542" b="-334667"/>
                          </a:stretch>
                        </a:blipFill>
                      </a:tcPr>
                    </a:tc>
                    <a:tc>
                      <a:txBody>
                        <a:bodyPr/>
                        <a:lstStyle/>
                        <a:p>
                          <a:pPr algn="ctr"/>
                          <a:r>
                            <a:rPr lang="ja-JP" altLang="en-US" sz="2000" b="1" u="none" dirty="0">
                              <a:solidFill>
                                <a:schemeClr val="tx1"/>
                              </a:solidFill>
                            </a:rPr>
                            <a:t>正確に記述されたイベント数</a:t>
                          </a:r>
                          <a:endParaRPr kumimoji="1" lang="ja-JP" altLang="en-US" sz="2000" b="1" u="none" dirty="0">
                            <a:solidFill>
                              <a:schemeClr val="tx1"/>
                            </a:solidFill>
                          </a:endParaRP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640943971"/>
                      </a:ext>
                    </a:extLst>
                  </a:tr>
                  <a:tr h="457200">
                    <a:tc>
                      <a:txBody>
                        <a:bodyPr/>
                        <a:lstStyle/>
                        <a:p>
                          <a:endParaRPr lang="ja-JP"/>
                        </a:p>
                      </a:txBody>
                      <a:tcPr anchor="ctr">
                        <a:lnR w="38100" cap="flat" cmpd="sng" algn="ctr">
                          <a:solidFill>
                            <a:schemeClr val="tx1"/>
                          </a:solidFill>
                          <a:prstDash val="solid"/>
                          <a:round/>
                          <a:headEnd type="none" w="med" len="med"/>
                          <a:tailEnd type="none" w="med" len="med"/>
                        </a:lnR>
                        <a:blipFill>
                          <a:blip r:embed="rId3"/>
                          <a:stretch>
                            <a:fillRect l="-268" t="-190789" r="-326542" b="-230263"/>
                          </a:stretch>
                        </a:blipFill>
                      </a:tcPr>
                    </a:tc>
                    <a:tc>
                      <a:txBody>
                        <a:bodyPr/>
                        <a:lstStyle/>
                        <a:p>
                          <a:pPr algn="ctr"/>
                          <a:r>
                            <a:rPr lang="ja-JP" altLang="en-US" sz="2000" b="1" u="none" dirty="0">
                              <a:solidFill>
                                <a:schemeClr val="tx1"/>
                              </a:solidFill>
                            </a:rPr>
                            <a:t>不正確に記述されたイベント数</a:t>
                          </a:r>
                          <a:endParaRPr kumimoji="1" lang="ja-JP" altLang="en-US" sz="2000" b="1" u="none" dirty="0">
                            <a:solidFill>
                              <a:schemeClr val="tx1"/>
                            </a:solidFill>
                          </a:endParaRP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3858982730"/>
                      </a:ext>
                    </a:extLst>
                  </a:tr>
                  <a:tr h="457200">
                    <a:tc>
                      <a:txBody>
                        <a:bodyPr/>
                        <a:lstStyle/>
                        <a:p>
                          <a:endParaRPr lang="ja-JP"/>
                        </a:p>
                      </a:txBody>
                      <a:tcPr anchor="ctr">
                        <a:lnR w="38100" cap="flat" cmpd="sng" algn="ctr">
                          <a:solidFill>
                            <a:schemeClr val="tx1"/>
                          </a:solidFill>
                          <a:prstDash val="solid"/>
                          <a:round/>
                          <a:headEnd type="none" w="med" len="med"/>
                          <a:tailEnd type="none" w="med" len="med"/>
                        </a:lnR>
                        <a:blipFill>
                          <a:blip r:embed="rId3"/>
                          <a:stretch>
                            <a:fillRect l="-268" t="-294667" r="-326542" b="-133333"/>
                          </a:stretch>
                        </a:blipFill>
                      </a:tcPr>
                    </a:tc>
                    <a:tc>
                      <a:txBody>
                        <a:bodyPr/>
                        <a:lstStyle/>
                        <a:p>
                          <a:pPr algn="ctr"/>
                          <a:r>
                            <a:rPr lang="ja-JP" altLang="en-US" sz="2000" b="1" u="none" dirty="0">
                              <a:solidFill>
                                <a:schemeClr val="tx1"/>
                              </a:solidFill>
                            </a:rPr>
                            <a:t>存在しないイベント数</a:t>
                          </a:r>
                          <a:endParaRPr kumimoji="1" lang="ja-JP" altLang="en-US" sz="2000" b="1" u="none" dirty="0">
                            <a:solidFill>
                              <a:schemeClr val="tx1"/>
                            </a:solidFill>
                          </a:endParaRP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1101832877"/>
                      </a:ext>
                    </a:extLst>
                  </a:tr>
                  <a:tr h="457200">
                    <a:tc>
                      <a:txBody>
                        <a:bodyPr/>
                        <a:lstStyle/>
                        <a:p>
                          <a:endParaRPr lang="ja-JP"/>
                        </a:p>
                      </a:txBody>
                      <a:tcPr anchor="ctr">
                        <a:lnR w="38100" cap="flat" cmpd="sng" algn="ctr">
                          <a:solidFill>
                            <a:schemeClr val="tx1"/>
                          </a:solidFill>
                          <a:prstDash val="solid"/>
                          <a:round/>
                          <a:headEnd type="none" w="med" len="med"/>
                          <a:tailEnd type="none" w="med" len="med"/>
                        </a:lnR>
                        <a:blipFill>
                          <a:blip r:embed="rId3"/>
                          <a:stretch>
                            <a:fillRect l="-268" t="-394667" r="-326542" b="-33333"/>
                          </a:stretch>
                        </a:blipFill>
                      </a:tcPr>
                    </a:tc>
                    <a:tc>
                      <a:txBody>
                        <a:bodyPr/>
                        <a:lstStyle/>
                        <a:p>
                          <a:pPr algn="ctr"/>
                          <a:r>
                            <a:rPr lang="en-US" altLang="ja-JP" sz="2000" b="1" u="none" dirty="0">
                              <a:solidFill>
                                <a:schemeClr val="tx1"/>
                              </a:solidFill>
                            </a:rPr>
                            <a:t>AI</a:t>
                          </a:r>
                          <a:r>
                            <a:rPr lang="ja-JP" altLang="en-US" sz="2000" b="1" u="none" dirty="0">
                              <a:solidFill>
                                <a:schemeClr val="tx1"/>
                              </a:solidFill>
                            </a:rPr>
                            <a:t>が見逃したイベント数</a:t>
                          </a:r>
                          <a:endParaRPr kumimoji="1" lang="ja-JP" altLang="en-US" sz="2000" b="1" u="none" dirty="0">
                            <a:solidFill>
                              <a:schemeClr val="tx1"/>
                            </a:solidFill>
                          </a:endParaRPr>
                        </a:p>
                      </a:txBody>
                      <a:tcPr anchor="ctr">
                        <a:lnL w="38100" cap="flat" cmpd="sng" algn="ctr">
                          <a:solidFill>
                            <a:schemeClr val="tx1"/>
                          </a:solidFill>
                          <a:prstDash val="solid"/>
                          <a:round/>
                          <a:headEnd type="none" w="med" len="med"/>
                          <a:tailEnd type="none" w="med" len="med"/>
                        </a:lnL>
                        <a:solidFill>
                          <a:schemeClr val="bg2">
                            <a:lumMod val="75000"/>
                          </a:schemeClr>
                        </a:solidFill>
                      </a:tcPr>
                    </a:tc>
                    <a:extLst>
                      <a:ext uri="{0D108BD9-81ED-4DB2-BD59-A6C34878D82A}">
                        <a16:rowId xmlns:a16="http://schemas.microsoft.com/office/drawing/2014/main" val="201631019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 7">
                <a:extLst>
                  <a:ext uri="{FF2B5EF4-FFF2-40B4-BE49-F238E27FC236}">
                    <a16:creationId xmlns:a16="http://schemas.microsoft.com/office/drawing/2014/main" id="{4703576D-69C7-08CD-A065-85C054A8831B}"/>
                  </a:ext>
                </a:extLst>
              </p:cNvPr>
              <p:cNvGraphicFramePr>
                <a:graphicFrameLocks noGrp="1"/>
              </p:cNvGraphicFramePr>
              <p:nvPr>
                <p:extLst>
                  <p:ext uri="{D42A27DB-BD31-4B8C-83A1-F6EECF244321}">
                    <p14:modId xmlns:p14="http://schemas.microsoft.com/office/powerpoint/2010/main" val="3238060595"/>
                  </p:ext>
                </p:extLst>
              </p:nvPr>
            </p:nvGraphicFramePr>
            <p:xfrm>
              <a:off x="973397" y="4471547"/>
              <a:ext cx="9665108" cy="914400"/>
            </p:xfrm>
            <a:graphic>
              <a:graphicData uri="http://schemas.openxmlformats.org/drawingml/2006/table">
                <a:tbl>
                  <a:tblPr firstRow="1" bandRow="1">
                    <a:tableStyleId>{5C22544A-7EE6-4342-B048-85BDC9FD1C3A}</a:tableStyleId>
                  </a:tblPr>
                  <a:tblGrid>
                    <a:gridCol w="4838037">
                      <a:extLst>
                        <a:ext uri="{9D8B030D-6E8A-4147-A177-3AD203B41FA5}">
                          <a16:colId xmlns:a16="http://schemas.microsoft.com/office/drawing/2014/main" val="2433159358"/>
                        </a:ext>
                      </a:extLst>
                    </a:gridCol>
                    <a:gridCol w="4827071">
                      <a:extLst>
                        <a:ext uri="{9D8B030D-6E8A-4147-A177-3AD203B41FA5}">
                          <a16:colId xmlns:a16="http://schemas.microsoft.com/office/drawing/2014/main" val="2367698413"/>
                        </a:ext>
                      </a:extLst>
                    </a:gridCol>
                  </a:tblGrid>
                  <a:tr h="428256">
                    <a:tc>
                      <a:txBody>
                        <a:bodyPr/>
                        <a:lstStyle/>
                        <a:p>
                          <a:pPr algn="ctr"/>
                          <a:r>
                            <a:rPr lang="ja-JP" altLang="en-US" sz="2400" b="0" dirty="0"/>
                            <a:t>検出されたイベント数</a:t>
                          </a:r>
                          <a:endParaRPr lang="en-US" altLang="ja-JP" sz="2400" b="0" dirty="0">
                            <a:solidFill>
                              <a:schemeClr val="tx1"/>
                            </a:solidFill>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lvl="1"/>
                          <a14:m>
                            <m:oMathPara xmlns:m="http://schemas.openxmlformats.org/officeDocument/2006/math">
                              <m:oMathParaPr>
                                <m:jc m:val="centerGroup"/>
                              </m:oMathParaPr>
                              <m:oMath xmlns:m="http://schemas.openxmlformats.org/officeDocument/2006/math">
                                <m:r>
                                  <a:rPr lang="en-US" altLang="ja-JP" sz="2400" i="1" dirty="0" smtClean="0">
                                    <a:solidFill>
                                      <a:schemeClr val="accent6">
                                        <a:lumMod val="60000"/>
                                        <a:lumOff val="40000"/>
                                      </a:schemeClr>
                                    </a:solidFill>
                                    <a:latin typeface="Cambria Math" panose="02040503050406030204" pitchFamily="18" charset="0"/>
                                  </a:rPr>
                                  <m:t>𝑇𝑃</m:t>
                                </m:r>
                                <m:r>
                                  <a:rPr lang="en-US" altLang="ja-JP" sz="2400" i="1" dirty="0">
                                    <a:latin typeface="Cambria Math" panose="02040503050406030204" pitchFamily="18" charset="0"/>
                                  </a:rPr>
                                  <m:t>+</m:t>
                                </m:r>
                                <m:r>
                                  <a:rPr lang="en-US" altLang="ja-JP" sz="2400" i="1" dirty="0" smtClean="0">
                                    <a:solidFill>
                                      <a:schemeClr val="tx2">
                                        <a:lumMod val="60000"/>
                                        <a:lumOff val="40000"/>
                                      </a:schemeClr>
                                    </a:solidFill>
                                    <a:latin typeface="Cambria Math" panose="02040503050406030204" pitchFamily="18" charset="0"/>
                                  </a:rPr>
                                  <m:t>𝑀𝑖𝑠</m:t>
                                </m:r>
                                <m:r>
                                  <a:rPr lang="en-US" altLang="ja-JP" sz="2400" i="1" dirty="0">
                                    <a:latin typeface="Cambria Math" panose="02040503050406030204" pitchFamily="18" charset="0"/>
                                  </a:rPr>
                                  <m:t>+</m:t>
                                </m:r>
                                <m:r>
                                  <a:rPr lang="en-US" altLang="ja-JP" sz="2400" i="1" dirty="0" smtClean="0">
                                    <a:solidFill>
                                      <a:srgbClr val="00B050"/>
                                    </a:solidFill>
                                    <a:latin typeface="Cambria Math" panose="02040503050406030204" pitchFamily="18" charset="0"/>
                                  </a:rPr>
                                  <m:t>𝐹𝑃</m:t>
                                </m:r>
                              </m:oMath>
                            </m:oMathPara>
                          </a14:m>
                          <a:endParaRPr lang="ja-JP" altLang="en-US" sz="24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951487480"/>
                      </a:ext>
                    </a:extLst>
                  </a:tr>
                  <a:tr h="370840">
                    <a:tc>
                      <a:txBody>
                        <a:bodyPr/>
                        <a:lstStyle/>
                        <a:p>
                          <a:pPr algn="ctr"/>
                          <a:r>
                            <a:rPr lang="ja-JP" altLang="en-US" sz="2400" b="0" dirty="0">
                              <a:solidFill>
                                <a:schemeClr val="tx1"/>
                              </a:solidFill>
                            </a:rPr>
                            <a:t>実際のイベント数</a:t>
                          </a:r>
                          <a:endParaRPr kumimoji="1" lang="ja-JP" altLang="en-US" sz="2400" b="0" u="none" dirty="0">
                            <a:solidFill>
                              <a:schemeClr val="tx1"/>
                            </a:solidFill>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lvl="1"/>
                          <a14:m>
                            <m:oMathPara xmlns:m="http://schemas.openxmlformats.org/officeDocument/2006/math">
                              <m:oMathParaPr>
                                <m:jc m:val="centerGroup"/>
                              </m:oMathParaPr>
                              <m:oMath xmlns:m="http://schemas.openxmlformats.org/officeDocument/2006/math">
                                <m:r>
                                  <a:rPr lang="en-US" altLang="ja-JP" sz="2400" i="1" dirty="0" smtClean="0">
                                    <a:solidFill>
                                      <a:schemeClr val="accent6">
                                        <a:lumMod val="60000"/>
                                        <a:lumOff val="40000"/>
                                      </a:schemeClr>
                                    </a:solidFill>
                                    <a:latin typeface="Cambria Math" panose="02040503050406030204" pitchFamily="18" charset="0"/>
                                  </a:rPr>
                                  <m:t>𝑇𝑃</m:t>
                                </m:r>
                                <m:r>
                                  <a:rPr lang="en-US" altLang="ja-JP" sz="2400" i="1" dirty="0" smtClean="0">
                                    <a:solidFill>
                                      <a:schemeClr val="tx1"/>
                                    </a:solidFill>
                                    <a:latin typeface="Cambria Math" panose="02040503050406030204" pitchFamily="18" charset="0"/>
                                  </a:rPr>
                                  <m:t>+</m:t>
                                </m:r>
                                <m:r>
                                  <a:rPr lang="en-US" altLang="ja-JP" sz="2400" i="1" dirty="0" smtClean="0">
                                    <a:solidFill>
                                      <a:schemeClr val="tx2">
                                        <a:lumMod val="60000"/>
                                        <a:lumOff val="40000"/>
                                      </a:schemeClr>
                                    </a:solidFill>
                                    <a:latin typeface="Cambria Math" panose="02040503050406030204" pitchFamily="18" charset="0"/>
                                  </a:rPr>
                                  <m:t>𝑀𝑖𝑠</m:t>
                                </m:r>
                                <m:r>
                                  <a:rPr lang="en-US" altLang="ja-JP" sz="2400" i="1" dirty="0" smtClean="0">
                                    <a:solidFill>
                                      <a:schemeClr val="tx1"/>
                                    </a:solidFill>
                                    <a:latin typeface="Cambria Math" panose="02040503050406030204" pitchFamily="18" charset="0"/>
                                  </a:rPr>
                                  <m:t>+</m:t>
                                </m:r>
                                <m:r>
                                  <a:rPr lang="en-US" altLang="ja-JP" sz="2400" i="1" dirty="0" smtClean="0">
                                    <a:solidFill>
                                      <a:schemeClr val="accent3">
                                        <a:lumMod val="40000"/>
                                        <a:lumOff val="60000"/>
                                      </a:schemeClr>
                                    </a:solidFill>
                                    <a:latin typeface="Cambria Math" panose="02040503050406030204" pitchFamily="18" charset="0"/>
                                  </a:rPr>
                                  <m:t>𝐹𝑁</m:t>
                                </m:r>
                              </m:oMath>
                            </m:oMathPara>
                          </a14:m>
                          <a:endParaRPr lang="ja-JP" altLang="en-US" sz="2400"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25066131"/>
                      </a:ext>
                    </a:extLst>
                  </a:tr>
                </a:tbl>
              </a:graphicData>
            </a:graphic>
          </p:graphicFrame>
        </mc:Choice>
        <mc:Fallback xmlns="">
          <p:graphicFrame>
            <p:nvGraphicFramePr>
              <p:cNvPr id="8" name="表 7">
                <a:extLst>
                  <a:ext uri="{FF2B5EF4-FFF2-40B4-BE49-F238E27FC236}">
                    <a16:creationId xmlns:a16="http://schemas.microsoft.com/office/drawing/2014/main" id="{4703576D-69C7-08CD-A065-85C054A8831B}"/>
                  </a:ext>
                </a:extLst>
              </p:cNvPr>
              <p:cNvGraphicFramePr>
                <a:graphicFrameLocks noGrp="1"/>
              </p:cNvGraphicFramePr>
              <p:nvPr>
                <p:extLst>
                  <p:ext uri="{D42A27DB-BD31-4B8C-83A1-F6EECF244321}">
                    <p14:modId xmlns:p14="http://schemas.microsoft.com/office/powerpoint/2010/main" val="3238060595"/>
                  </p:ext>
                </p:extLst>
              </p:nvPr>
            </p:nvGraphicFramePr>
            <p:xfrm>
              <a:off x="973397" y="4471547"/>
              <a:ext cx="9665108" cy="914400"/>
            </p:xfrm>
            <a:graphic>
              <a:graphicData uri="http://schemas.openxmlformats.org/drawingml/2006/table">
                <a:tbl>
                  <a:tblPr firstRow="1" bandRow="1">
                    <a:tableStyleId>{5C22544A-7EE6-4342-B048-85BDC9FD1C3A}</a:tableStyleId>
                  </a:tblPr>
                  <a:tblGrid>
                    <a:gridCol w="4838037">
                      <a:extLst>
                        <a:ext uri="{9D8B030D-6E8A-4147-A177-3AD203B41FA5}">
                          <a16:colId xmlns:a16="http://schemas.microsoft.com/office/drawing/2014/main" val="2433159358"/>
                        </a:ext>
                      </a:extLst>
                    </a:gridCol>
                    <a:gridCol w="4827071">
                      <a:extLst>
                        <a:ext uri="{9D8B030D-6E8A-4147-A177-3AD203B41FA5}">
                          <a16:colId xmlns:a16="http://schemas.microsoft.com/office/drawing/2014/main" val="2367698413"/>
                        </a:ext>
                      </a:extLst>
                    </a:gridCol>
                  </a:tblGrid>
                  <a:tr h="457200">
                    <a:tc>
                      <a:txBody>
                        <a:bodyPr/>
                        <a:lstStyle/>
                        <a:p>
                          <a:pPr algn="ctr"/>
                          <a:r>
                            <a:rPr lang="ja-JP" altLang="en-US" sz="2400" b="0" dirty="0"/>
                            <a:t>検出されたイベント数</a:t>
                          </a:r>
                          <a:endParaRPr lang="en-US" altLang="ja-JP" sz="2400" b="0" dirty="0">
                            <a:solidFill>
                              <a:schemeClr val="tx1"/>
                            </a:solidFill>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endParaRPr lang="ja-JP"/>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252" t="-6579" r="-252" b="-131579"/>
                          </a:stretch>
                        </a:blipFill>
                      </a:tcPr>
                    </a:tc>
                    <a:extLst>
                      <a:ext uri="{0D108BD9-81ED-4DB2-BD59-A6C34878D82A}">
                        <a16:rowId xmlns:a16="http://schemas.microsoft.com/office/drawing/2014/main" val="3951487480"/>
                      </a:ext>
                    </a:extLst>
                  </a:tr>
                  <a:tr h="457200">
                    <a:tc>
                      <a:txBody>
                        <a:bodyPr/>
                        <a:lstStyle/>
                        <a:p>
                          <a:pPr algn="ctr"/>
                          <a:r>
                            <a:rPr lang="ja-JP" altLang="en-US" sz="2400" b="0" dirty="0">
                              <a:solidFill>
                                <a:schemeClr val="tx1"/>
                              </a:solidFill>
                            </a:rPr>
                            <a:t>実際のイベント数</a:t>
                          </a:r>
                          <a:endParaRPr kumimoji="1" lang="ja-JP" altLang="en-US" sz="2400" b="0" u="none" dirty="0">
                            <a:solidFill>
                              <a:schemeClr val="tx1"/>
                            </a:solidFill>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endParaRPr lang="ja-JP"/>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252" t="-108000" r="-252" b="-33333"/>
                          </a:stretch>
                        </a:blipFill>
                      </a:tcPr>
                    </a:tc>
                    <a:extLst>
                      <a:ext uri="{0D108BD9-81ED-4DB2-BD59-A6C34878D82A}">
                        <a16:rowId xmlns:a16="http://schemas.microsoft.com/office/drawing/2014/main" val="2325066131"/>
                      </a:ext>
                    </a:extLst>
                  </a:tr>
                </a:tbl>
              </a:graphicData>
            </a:graphic>
          </p:graphicFrame>
        </mc:Fallback>
      </mc:AlternateContent>
    </p:spTree>
    <p:extLst>
      <p:ext uri="{BB962C8B-B14F-4D97-AF65-F5344CB8AC3E}">
        <p14:creationId xmlns:p14="http://schemas.microsoft.com/office/powerpoint/2010/main" val="1869291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D95EA-757E-3854-F457-5A412FA4ED0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8B42A73C-49B1-D81A-AC93-06C2F4F53C29}"/>
              </a:ext>
            </a:extLst>
          </p:cNvPr>
          <p:cNvSpPr>
            <a:spLocks noGrp="1"/>
          </p:cNvSpPr>
          <p:nvPr>
            <p:ph type="title"/>
          </p:nvPr>
        </p:nvSpPr>
        <p:spPr/>
        <p:txBody>
          <a:bodyPr/>
          <a:lstStyle/>
          <a:p>
            <a:pPr marL="914400" indent="-914400">
              <a:buFont typeface="+mj-lt"/>
              <a:buAutoNum type="arabicPeriod" startAt="8"/>
            </a:pPr>
            <a:r>
              <a:rPr lang="ja-JP" altLang="en-US" dirty="0"/>
              <a:t>評価実験</a:t>
            </a:r>
            <a:endParaRPr kumimoji="1" lang="ja-JP" altLang="en-US" dirty="0"/>
          </a:p>
        </p:txBody>
      </p:sp>
      <p:sp>
        <p:nvSpPr>
          <p:cNvPr id="2" name="テキスト プレースホルダー 1">
            <a:extLst>
              <a:ext uri="{FF2B5EF4-FFF2-40B4-BE49-F238E27FC236}">
                <a16:creationId xmlns:a16="http://schemas.microsoft.com/office/drawing/2014/main" id="{471ECF46-E14B-BC50-B491-CF263065B1B7}"/>
              </a:ext>
            </a:extLst>
          </p:cNvPr>
          <p:cNvSpPr>
            <a:spLocks noGrp="1"/>
          </p:cNvSpPr>
          <p:nvPr>
            <p:ph type="body" idx="1"/>
          </p:nvPr>
        </p:nvSpPr>
        <p:spPr>
          <a:xfrm>
            <a:off x="1120000" y="1681163"/>
            <a:ext cx="10232212" cy="657225"/>
          </a:xfrm>
        </p:spPr>
        <p:txBody>
          <a:bodyPr>
            <a:normAutofit/>
          </a:bodyPr>
          <a:lstStyle/>
          <a:p>
            <a:r>
              <a:rPr lang="ja-JP" altLang="en-US" sz="3200" b="1" dirty="0"/>
              <a:t>モデルの精度評価の指標</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470562D-1468-6A91-265E-9017C41A8ABA}"/>
                  </a:ext>
                </a:extLst>
              </p:cNvPr>
              <p:cNvSpPr>
                <a:spLocks noGrp="1"/>
              </p:cNvSpPr>
              <p:nvPr>
                <p:ph sz="half" idx="2"/>
              </p:nvPr>
            </p:nvSpPr>
            <p:spPr>
              <a:xfrm>
                <a:off x="1119999" y="2505075"/>
                <a:ext cx="10737703" cy="3851275"/>
              </a:xfrm>
              <a:noFill/>
              <a:ln w="28575">
                <a:noFill/>
              </a:ln>
            </p:spPr>
            <p:txBody>
              <a:bodyPr>
                <a:noAutofit/>
              </a:bodyPr>
              <a:lstStyle/>
              <a:p>
                <a:pPr marL="0" indent="0">
                  <a:lnSpc>
                    <a:spcPct val="100000"/>
                  </a:lnSpc>
                  <a:buNone/>
                </a:pPr>
                <a:r>
                  <a:rPr lang="ja-JP" altLang="en-US" dirty="0"/>
                  <a:t>評価指標による定量化：</a:t>
                </a:r>
                <a:endParaRPr lang="en-US" altLang="ja-JP" dirty="0"/>
              </a:p>
              <a:p>
                <a:r>
                  <a:rPr lang="ja-JP" altLang="en-US" sz="3200" dirty="0"/>
                  <a:t>不正解率</a:t>
                </a:r>
                <a14:m>
                  <m:oMath xmlns:m="http://schemas.openxmlformats.org/officeDocument/2006/math">
                    <m:r>
                      <a:rPr lang="en-US" altLang="ja-JP" sz="3200" dirty="0">
                        <a:latin typeface="Cambria Math" panose="02040503050406030204" pitchFamily="18" charset="0"/>
                      </a:rPr>
                      <m:t>=</m:t>
                    </m:r>
                    <m:f>
                      <m:fPr>
                        <m:ctrlPr>
                          <a:rPr lang="en-US" altLang="ja-JP" sz="3200" i="1" dirty="0">
                            <a:solidFill>
                              <a:schemeClr val="tx1"/>
                            </a:solidFill>
                            <a:latin typeface="Cambria Math" panose="02040503050406030204" pitchFamily="18" charset="0"/>
                          </a:rPr>
                        </m:ctrlPr>
                      </m:fPr>
                      <m:num>
                        <m:r>
                          <a:rPr lang="en-US" altLang="ja-JP" sz="3200" i="1" dirty="0">
                            <a:solidFill>
                              <a:srgbClr val="00B050"/>
                            </a:solidFill>
                            <a:latin typeface="Cambria Math" panose="02040503050406030204" pitchFamily="18" charset="0"/>
                          </a:rPr>
                          <m:t>𝐹𝑃</m:t>
                        </m:r>
                        <m:r>
                          <a:rPr lang="en-US" altLang="ja-JP" sz="3200" i="1" dirty="0">
                            <a:latin typeface="Cambria Math" panose="02040503050406030204" pitchFamily="18" charset="0"/>
                          </a:rPr>
                          <m:t>+</m:t>
                        </m:r>
                        <m:r>
                          <a:rPr lang="en-US" altLang="ja-JP" sz="3200" i="1" dirty="0">
                            <a:solidFill>
                              <a:schemeClr val="tx2">
                                <a:lumMod val="60000"/>
                                <a:lumOff val="40000"/>
                              </a:schemeClr>
                            </a:solidFill>
                            <a:latin typeface="Cambria Math" panose="02040503050406030204" pitchFamily="18" charset="0"/>
                          </a:rPr>
                          <m:t>𝑀𝑖𝑠</m:t>
                        </m:r>
                      </m:num>
                      <m:den>
                        <m:r>
                          <a:rPr lang="en-US" altLang="ja-JP" sz="3200" i="1" dirty="0">
                            <a:solidFill>
                              <a:schemeClr val="accent6">
                                <a:lumMod val="60000"/>
                                <a:lumOff val="40000"/>
                              </a:schemeClr>
                            </a:solidFill>
                            <a:latin typeface="Cambria Math" panose="02040503050406030204" pitchFamily="18" charset="0"/>
                          </a:rPr>
                          <m:t>𝑇𝑃</m:t>
                        </m:r>
                        <m:r>
                          <a:rPr lang="en-US" altLang="ja-JP" sz="3200" i="1" dirty="0">
                            <a:latin typeface="Cambria Math" panose="02040503050406030204" pitchFamily="18" charset="0"/>
                          </a:rPr>
                          <m:t>+</m:t>
                        </m:r>
                        <m:r>
                          <a:rPr lang="en-US" altLang="ja-JP" sz="3200" i="1" dirty="0">
                            <a:solidFill>
                              <a:srgbClr val="00B050"/>
                            </a:solidFill>
                            <a:latin typeface="Cambria Math" panose="02040503050406030204" pitchFamily="18" charset="0"/>
                          </a:rPr>
                          <m:t>𝐹𝑃</m:t>
                        </m:r>
                        <m:r>
                          <a:rPr lang="en-US" altLang="ja-JP" sz="3200" i="1" dirty="0">
                            <a:latin typeface="Cambria Math" panose="02040503050406030204" pitchFamily="18" charset="0"/>
                          </a:rPr>
                          <m:t>+</m:t>
                        </m:r>
                        <m:r>
                          <a:rPr lang="en-US" altLang="ja-JP" sz="3200" i="1" dirty="0">
                            <a:solidFill>
                              <a:schemeClr val="tx2">
                                <a:lumMod val="60000"/>
                                <a:lumOff val="40000"/>
                              </a:schemeClr>
                            </a:solidFill>
                            <a:latin typeface="Cambria Math" panose="02040503050406030204" pitchFamily="18" charset="0"/>
                          </a:rPr>
                          <m:t>𝑀𝑖𝑠</m:t>
                        </m:r>
                      </m:den>
                    </m:f>
                    <m:r>
                      <a:rPr lang="en-US" altLang="ja-JP" sz="3200" b="0" i="0" dirty="0" smtClean="0">
                        <a:solidFill>
                          <a:schemeClr val="tx2">
                            <a:lumMod val="60000"/>
                            <a:lumOff val="40000"/>
                          </a:schemeClr>
                        </a:solidFill>
                        <a:latin typeface="Cambria Math" panose="02040503050406030204" pitchFamily="18" charset="0"/>
                      </a:rPr>
                      <m:t>       </m:t>
                    </m:r>
                  </m:oMath>
                </a14:m>
                <a:r>
                  <a:rPr lang="en-US" altLang="ja-JP" sz="3200" dirty="0"/>
                  <a:t>(</a:t>
                </a:r>
                <a:r>
                  <a:rPr lang="ja-JP" altLang="en-US" sz="3200" dirty="0"/>
                  <a:t>過剰検知数＋不正解数</a:t>
                </a:r>
                <a:r>
                  <a:rPr lang="en-US" altLang="ja-JP" sz="3200" dirty="0"/>
                  <a:t>)/</a:t>
                </a:r>
                <a:r>
                  <a:rPr lang="ja-JP" altLang="en-US" sz="3200" dirty="0"/>
                  <a:t>検出数</a:t>
                </a:r>
                <a:br>
                  <a:rPr lang="en-US" altLang="ja-JP" sz="3200" dirty="0"/>
                </a:br>
                <a:endParaRPr lang="en-US" altLang="ja-JP" sz="3200" dirty="0"/>
              </a:p>
              <a:p>
                <a:r>
                  <a:rPr lang="ja-JP" altLang="en-US" sz="3200" dirty="0"/>
                  <a:t>検出漏れ率</a:t>
                </a:r>
                <a:r>
                  <a:rPr lang="en-US" altLang="ja-JP" sz="3200" dirty="0"/>
                  <a:t>=</a:t>
                </a:r>
                <a:r>
                  <a:rPr lang="en-US" altLang="ja-JP" dirty="0">
                    <a:solidFill>
                      <a:schemeClr val="tx1"/>
                    </a:solidFill>
                  </a:rPr>
                  <a:t> </a:t>
                </a:r>
                <a14:m>
                  <m:oMath xmlns:m="http://schemas.openxmlformats.org/officeDocument/2006/math">
                    <m:f>
                      <m:fPr>
                        <m:ctrlPr>
                          <a:rPr lang="en-US" altLang="ja-JP" sz="3200" i="1" dirty="0">
                            <a:solidFill>
                              <a:schemeClr val="tx1"/>
                            </a:solidFill>
                            <a:latin typeface="Cambria Math" panose="02040503050406030204" pitchFamily="18" charset="0"/>
                          </a:rPr>
                        </m:ctrlPr>
                      </m:fPr>
                      <m:num>
                        <m:r>
                          <a:rPr lang="en-US" altLang="ja-JP" sz="3200" i="1" dirty="0">
                            <a:solidFill>
                              <a:schemeClr val="accent3">
                                <a:lumMod val="40000"/>
                                <a:lumOff val="60000"/>
                              </a:schemeClr>
                            </a:solidFill>
                            <a:latin typeface="Cambria Math" panose="02040503050406030204" pitchFamily="18" charset="0"/>
                          </a:rPr>
                          <m:t>𝐹𝑁</m:t>
                        </m:r>
                      </m:num>
                      <m:den>
                        <m:r>
                          <a:rPr lang="en-US" altLang="ja-JP" sz="3200" i="1" dirty="0">
                            <a:solidFill>
                              <a:schemeClr val="accent6">
                                <a:lumMod val="60000"/>
                                <a:lumOff val="40000"/>
                              </a:schemeClr>
                            </a:solidFill>
                            <a:latin typeface="Cambria Math" panose="02040503050406030204" pitchFamily="18" charset="0"/>
                          </a:rPr>
                          <m:t>𝑇𝑃</m:t>
                        </m:r>
                        <m:r>
                          <a:rPr lang="en-US" altLang="ja-JP" sz="3200" i="1" dirty="0">
                            <a:solidFill>
                              <a:schemeClr val="tx1"/>
                            </a:solidFill>
                            <a:latin typeface="Cambria Math" panose="02040503050406030204" pitchFamily="18" charset="0"/>
                          </a:rPr>
                          <m:t>+</m:t>
                        </m:r>
                        <m:r>
                          <a:rPr lang="en-US" altLang="ja-JP" sz="3200" i="1" dirty="0">
                            <a:solidFill>
                              <a:schemeClr val="accent3">
                                <a:lumMod val="40000"/>
                                <a:lumOff val="60000"/>
                              </a:schemeClr>
                            </a:solidFill>
                            <a:latin typeface="Cambria Math" panose="02040503050406030204" pitchFamily="18" charset="0"/>
                          </a:rPr>
                          <m:t>𝐹𝑁</m:t>
                        </m:r>
                        <m:r>
                          <a:rPr lang="en-US" altLang="ja-JP" sz="3200" i="1" dirty="0">
                            <a:solidFill>
                              <a:schemeClr val="tx1"/>
                            </a:solidFill>
                            <a:latin typeface="Cambria Math" panose="02040503050406030204" pitchFamily="18" charset="0"/>
                          </a:rPr>
                          <m:t>+</m:t>
                        </m:r>
                        <m:r>
                          <a:rPr lang="en-US" altLang="ja-JP" sz="3200" i="1" dirty="0">
                            <a:solidFill>
                              <a:schemeClr val="tx2">
                                <a:lumMod val="60000"/>
                                <a:lumOff val="40000"/>
                              </a:schemeClr>
                            </a:solidFill>
                            <a:latin typeface="Cambria Math" panose="02040503050406030204" pitchFamily="18" charset="0"/>
                          </a:rPr>
                          <m:t>𝑀𝑖𝑠</m:t>
                        </m:r>
                      </m:den>
                    </m:f>
                    <m:r>
                      <a:rPr lang="en-US" altLang="ja-JP" sz="3200" b="0" i="1" dirty="0" smtClean="0">
                        <a:solidFill>
                          <a:schemeClr val="tx2">
                            <a:lumMod val="60000"/>
                            <a:lumOff val="40000"/>
                          </a:schemeClr>
                        </a:solidFill>
                        <a:latin typeface="Cambria Math" panose="02040503050406030204" pitchFamily="18" charset="0"/>
                      </a:rPr>
                      <m:t> </m:t>
                    </m:r>
                    <m:r>
                      <a:rPr lang="ja-JP" altLang="en-US" sz="3200" i="1" dirty="0" smtClean="0">
                        <a:solidFill>
                          <a:schemeClr val="tx1"/>
                        </a:solidFill>
                        <a:latin typeface="Cambria Math" panose="02040503050406030204" pitchFamily="18" charset="0"/>
                      </a:rPr>
                      <m:t>検出</m:t>
                    </m:r>
                    <m:r>
                      <a:rPr kumimoji="1" lang="ja-JP" altLang="en-US" sz="3200" i="1" dirty="0">
                        <a:solidFill>
                          <a:schemeClr val="tx1"/>
                        </a:solidFill>
                        <a:latin typeface="Cambria Math" panose="02040503050406030204" pitchFamily="18" charset="0"/>
                      </a:rPr>
                      <m:t>漏れ</m:t>
                    </m:r>
                  </m:oMath>
                </a14:m>
                <a:r>
                  <a:rPr kumimoji="1" lang="ja-JP" altLang="en-US" sz="3200" dirty="0">
                    <a:solidFill>
                      <a:schemeClr val="tx1"/>
                    </a:solidFill>
                  </a:rPr>
                  <a:t>数</a:t>
                </a:r>
                <a:r>
                  <a:rPr kumimoji="1" lang="en-US" altLang="ja-JP" sz="3200" dirty="0"/>
                  <a:t>/</a:t>
                </a:r>
                <a:r>
                  <a:rPr kumimoji="1" lang="ja-JP" altLang="en-US" sz="3200" dirty="0"/>
                  <a:t>実際のイベント数</a:t>
                </a:r>
                <a:endParaRPr kumimoji="1" lang="en-US" altLang="ja-JP" sz="3200" dirty="0"/>
              </a:p>
              <a:p>
                <a:r>
                  <a:rPr lang="ja-JP" altLang="en-US" sz="3200" dirty="0"/>
                  <a:t>過剰</a:t>
                </a:r>
                <a14:m>
                  <m:oMath xmlns:m="http://schemas.openxmlformats.org/officeDocument/2006/math">
                    <m:r>
                      <a:rPr lang="ja-JP" altLang="en-US" sz="3200" i="1" dirty="0" smtClean="0">
                        <a:latin typeface="Cambria Math" panose="02040503050406030204" pitchFamily="18" charset="0"/>
                      </a:rPr>
                      <m:t>検知率</m:t>
                    </m:r>
                    <m:r>
                      <m:rPr>
                        <m:nor/>
                      </m:rPr>
                      <a:rPr lang="en-US" altLang="ja-JP" sz="3200" dirty="0"/>
                      <m:t>=</m:t>
                    </m:r>
                    <m:f>
                      <m:fPr>
                        <m:ctrlPr>
                          <a:rPr lang="en-US" altLang="ja-JP" sz="3200" i="1" dirty="0">
                            <a:solidFill>
                              <a:schemeClr val="tx1"/>
                            </a:solidFill>
                            <a:latin typeface="Cambria Math" panose="02040503050406030204" pitchFamily="18" charset="0"/>
                          </a:rPr>
                        </m:ctrlPr>
                      </m:fPr>
                      <m:num>
                        <m:r>
                          <a:rPr lang="en-US" altLang="ja-JP" sz="3200" i="1" dirty="0">
                            <a:solidFill>
                              <a:srgbClr val="00B050"/>
                            </a:solidFill>
                            <a:latin typeface="Cambria Math" panose="02040503050406030204" pitchFamily="18" charset="0"/>
                          </a:rPr>
                          <m:t>𝐹𝑃</m:t>
                        </m:r>
                      </m:num>
                      <m:den>
                        <m:r>
                          <a:rPr lang="en-US" altLang="ja-JP" sz="3200" i="1" dirty="0">
                            <a:solidFill>
                              <a:schemeClr val="accent6">
                                <a:lumMod val="60000"/>
                                <a:lumOff val="40000"/>
                              </a:schemeClr>
                            </a:solidFill>
                            <a:latin typeface="Cambria Math" panose="02040503050406030204" pitchFamily="18" charset="0"/>
                          </a:rPr>
                          <m:t>𝑇𝑃</m:t>
                        </m:r>
                        <m:r>
                          <a:rPr lang="en-US" altLang="ja-JP" sz="3200" i="1" dirty="0">
                            <a:latin typeface="Cambria Math" panose="02040503050406030204" pitchFamily="18" charset="0"/>
                          </a:rPr>
                          <m:t>+</m:t>
                        </m:r>
                        <m:r>
                          <a:rPr lang="en-US" altLang="ja-JP" sz="3200" i="1" dirty="0">
                            <a:solidFill>
                              <a:srgbClr val="00B050"/>
                            </a:solidFill>
                            <a:latin typeface="Cambria Math" panose="02040503050406030204" pitchFamily="18" charset="0"/>
                          </a:rPr>
                          <m:t>𝐹𝑃</m:t>
                        </m:r>
                        <m:r>
                          <a:rPr lang="en-US" altLang="ja-JP" sz="3200" i="1" dirty="0">
                            <a:latin typeface="Cambria Math" panose="02040503050406030204" pitchFamily="18" charset="0"/>
                          </a:rPr>
                          <m:t>+</m:t>
                        </m:r>
                        <m:r>
                          <a:rPr lang="en-US" altLang="ja-JP" sz="3200" i="1" dirty="0">
                            <a:solidFill>
                              <a:schemeClr val="tx2">
                                <a:lumMod val="60000"/>
                                <a:lumOff val="40000"/>
                              </a:schemeClr>
                            </a:solidFill>
                            <a:latin typeface="Cambria Math" panose="02040503050406030204" pitchFamily="18" charset="0"/>
                          </a:rPr>
                          <m:t>𝑀𝑖𝑠</m:t>
                        </m:r>
                      </m:den>
                    </m:f>
                    <m:r>
                      <a:rPr lang="en-US" altLang="ja-JP" sz="3200" b="0" i="1" dirty="0" smtClean="0">
                        <a:solidFill>
                          <a:schemeClr val="tx2">
                            <a:lumMod val="60000"/>
                            <a:lumOff val="40000"/>
                          </a:schemeClr>
                        </a:solidFill>
                        <a:latin typeface="Cambria Math" panose="02040503050406030204" pitchFamily="18" charset="0"/>
                      </a:rPr>
                      <m:t> </m:t>
                    </m:r>
                    <m:r>
                      <a:rPr lang="en-US" altLang="ja-JP" sz="3200" b="0" i="0" dirty="0" smtClean="0">
                        <a:solidFill>
                          <a:schemeClr val="tx2">
                            <a:lumMod val="60000"/>
                            <a:lumOff val="40000"/>
                          </a:schemeClr>
                        </a:solidFill>
                        <a:latin typeface="Cambria Math" panose="02040503050406030204" pitchFamily="18" charset="0"/>
                      </a:rPr>
                      <m:t>  </m:t>
                    </m:r>
                  </m:oMath>
                </a14:m>
                <a:r>
                  <a:rPr lang="ja-JP" altLang="en-US" sz="3200" dirty="0"/>
                  <a:t>過剰検知数</a:t>
                </a:r>
                <a:r>
                  <a:rPr lang="en-US" altLang="ja-JP" sz="3200" dirty="0"/>
                  <a:t>/</a:t>
                </a:r>
                <a:r>
                  <a:rPr lang="ja-JP" altLang="en-US" sz="3200" dirty="0"/>
                  <a:t>検出数</a:t>
                </a:r>
                <a:endParaRPr kumimoji="1" lang="en-US" altLang="ja-JP" sz="3200" dirty="0"/>
              </a:p>
              <a:p>
                <a:endParaRPr kumimoji="1" lang="en-US" altLang="ja-JP" sz="3200" dirty="0"/>
              </a:p>
              <a:p>
                <a:pPr marL="0" indent="0">
                  <a:buNone/>
                </a:pP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D470562D-1468-6A91-265E-9017C41A8ABA}"/>
                  </a:ext>
                </a:extLst>
              </p:cNvPr>
              <p:cNvSpPr>
                <a:spLocks noGrp="1" noRot="1" noChangeAspect="1" noMove="1" noResize="1" noEditPoints="1" noAdjustHandles="1" noChangeArrowheads="1" noChangeShapeType="1" noTextEdit="1"/>
              </p:cNvSpPr>
              <p:nvPr>
                <p:ph sz="half" idx="2"/>
              </p:nvPr>
            </p:nvSpPr>
            <p:spPr>
              <a:xfrm>
                <a:off x="1119999" y="2505075"/>
                <a:ext cx="10737703" cy="3851275"/>
              </a:xfrm>
              <a:blipFill>
                <a:blip r:embed="rId3"/>
                <a:stretch>
                  <a:fillRect/>
                </a:stretch>
              </a:blipFill>
              <a:ln w="28575">
                <a:noFill/>
              </a:ln>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9C7A6C4B-ECD8-4FAF-B8AF-1F2F7D0F8E20}"/>
              </a:ext>
            </a:extLst>
          </p:cNvPr>
          <p:cNvSpPr>
            <a:spLocks noGrp="1"/>
          </p:cNvSpPr>
          <p:nvPr>
            <p:ph type="sldNum" sz="quarter" idx="12"/>
          </p:nvPr>
        </p:nvSpPr>
        <p:spPr/>
        <p:txBody>
          <a:bodyPr/>
          <a:lstStyle/>
          <a:p>
            <a:fld id="{228943F0-0511-42E8-9F3F-80232065CB31}" type="slidenum">
              <a:rPr kumimoji="1" lang="ja-JP" altLang="en-US" sz="2800" smtClean="0"/>
              <a:t>20</a:t>
            </a:fld>
            <a:endParaRPr kumimoji="1" lang="ja-JP" altLang="en-US" sz="2800" dirty="0"/>
          </a:p>
        </p:txBody>
      </p:sp>
    </p:spTree>
    <p:extLst>
      <p:ext uri="{BB962C8B-B14F-4D97-AF65-F5344CB8AC3E}">
        <p14:creationId xmlns:p14="http://schemas.microsoft.com/office/powerpoint/2010/main" val="2235184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815DC066-7974-E45B-0183-8360C6F28741}"/>
              </a:ext>
            </a:extLst>
          </p:cNvPr>
          <p:cNvSpPr>
            <a:spLocks noGrp="1"/>
          </p:cNvSpPr>
          <p:nvPr>
            <p:ph type="body" idx="1"/>
          </p:nvPr>
        </p:nvSpPr>
        <p:spPr>
          <a:xfrm>
            <a:off x="838200" y="1710064"/>
            <a:ext cx="5110316" cy="595546"/>
          </a:xfrm>
        </p:spPr>
        <p:txBody>
          <a:bodyPr anchor="ctr">
            <a:normAutofit lnSpcReduction="10000"/>
          </a:bodyPr>
          <a:lstStyle/>
          <a:p>
            <a:r>
              <a:rPr lang="ja-JP" altLang="en-US" sz="3600" b="1" dirty="0"/>
              <a:t>誤りタイプの分類</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136990C-1C91-FBBC-666A-1E1F65C3072D}"/>
                  </a:ext>
                </a:extLst>
              </p:cNvPr>
              <p:cNvSpPr>
                <a:spLocks noGrp="1"/>
              </p:cNvSpPr>
              <p:nvPr>
                <p:ph sz="half" idx="2"/>
              </p:nvPr>
            </p:nvSpPr>
            <p:spPr>
              <a:xfrm>
                <a:off x="838200" y="2029619"/>
                <a:ext cx="5732206" cy="3987800"/>
              </a:xfrm>
            </p:spPr>
            <p:txBody>
              <a:bodyPr>
                <a:noAutofit/>
              </a:bodyPr>
              <a:lstStyle/>
              <a:p>
                <a:pPr>
                  <a:lnSpc>
                    <a:spcPct val="150000"/>
                  </a:lnSpc>
                </a:pPr>
                <a14:m>
                  <m:oMath xmlns:m="http://schemas.openxmlformats.org/officeDocument/2006/math">
                    <m:d>
                      <m:dPr>
                        <m:begChr m:val="{"/>
                        <m:endChr m:val=""/>
                        <m:ctrlPr>
                          <a:rPr kumimoji="1" lang="en-US" altLang="ja-JP" sz="2300" i="1" smtClean="0">
                            <a:latin typeface="Cambria Math" panose="02040503050406030204" pitchFamily="18" charset="0"/>
                          </a:rPr>
                        </m:ctrlPr>
                      </m:dPr>
                      <m:e>
                        <m:eqArr>
                          <m:eqArrPr>
                            <m:ctrlPr>
                              <a:rPr kumimoji="1" lang="en-US" altLang="ja-JP" sz="2300" i="1" smtClean="0">
                                <a:latin typeface="Cambria Math" panose="02040503050406030204" pitchFamily="18" charset="0"/>
                              </a:rPr>
                            </m:ctrlPr>
                          </m:eqArrPr>
                          <m:e>
                            <m:r>
                              <m:rPr>
                                <m:sty m:val="p"/>
                              </m:rPr>
                              <a:rPr lang="en-US" altLang="ja-JP" sz="2300" i="1">
                                <a:latin typeface="Cambria Math" panose="02040503050406030204" pitchFamily="18" charset="0"/>
                              </a:rPr>
                              <m:t>AI</m:t>
                            </m:r>
                            <m:r>
                              <a:rPr lang="ja-JP" altLang="en-US" sz="2300" i="1" smtClean="0">
                                <a:latin typeface="Cambria Math" panose="02040503050406030204" pitchFamily="18" charset="0"/>
                              </a:rPr>
                              <m:t>が出力した</m:t>
                            </m:r>
                            <m:r>
                              <a:rPr lang="ja-JP" altLang="en-US" sz="2300" i="1">
                                <a:latin typeface="Cambria Math" panose="02040503050406030204" pitchFamily="18" charset="0"/>
                              </a:rPr>
                              <m:t>推論根拠</m:t>
                            </m:r>
                          </m:e>
                          <m:e>
                            <m:r>
                              <a:rPr lang="ja-JP" altLang="en-US" sz="2300" i="1">
                                <a:latin typeface="Cambria Math" panose="02040503050406030204" pitchFamily="18" charset="0"/>
                              </a:rPr>
                              <m:t>修正した</m:t>
                            </m:r>
                            <m:r>
                              <a:rPr lang="ja-JP" altLang="en-US" sz="2300" i="1" smtClean="0">
                                <a:latin typeface="Cambria Math" panose="02040503050406030204" pitchFamily="18" charset="0"/>
                              </a:rPr>
                              <m:t>推論根拠</m:t>
                            </m:r>
                          </m:e>
                        </m:eqArr>
                      </m:e>
                    </m:d>
                    <m:r>
                      <a:rPr lang="ja-JP" altLang="en-US" sz="2300" i="1" dirty="0">
                        <a:latin typeface="Cambria Math" panose="02040503050406030204" pitchFamily="18" charset="0"/>
                      </a:rPr>
                      <m:t>➡</m:t>
                    </m:r>
                  </m:oMath>
                </a14:m>
                <a:r>
                  <a:rPr kumimoji="1" lang="ja-JP" altLang="en-US" sz="2300" dirty="0"/>
                  <a:t>構造化</a:t>
                </a:r>
                <a:endParaRPr kumimoji="1" lang="en-US" altLang="ja-JP" sz="2300" dirty="0"/>
              </a:p>
              <a:p>
                <a:pPr>
                  <a:lnSpc>
                    <a:spcPct val="100000"/>
                  </a:lnSpc>
                </a:pPr>
                <a:r>
                  <a:rPr lang="ja-JP" altLang="en-US" sz="2300" dirty="0"/>
                  <a:t>構造化・・・</a:t>
                </a:r>
                <a:br>
                  <a:rPr lang="en-US" altLang="ja-JP" sz="2300" dirty="0"/>
                </a:br>
                <a:r>
                  <a:rPr lang="ja-JP" altLang="en-US" sz="2300" u="sng" dirty="0"/>
                  <a:t>オブジェクト</a:t>
                </a:r>
                <a:r>
                  <a:rPr lang="ja-JP" altLang="en-US" sz="2300" dirty="0"/>
                  <a:t>，</a:t>
                </a:r>
                <a:r>
                  <a:rPr lang="ja-JP" altLang="en-US" sz="2300" u="sng" dirty="0"/>
                  <a:t>属性</a:t>
                </a:r>
                <a:r>
                  <a:rPr lang="ja-JP" altLang="en-US" sz="2300" dirty="0"/>
                  <a:t>，</a:t>
                </a:r>
                <a:r>
                  <a:rPr lang="ja-JP" altLang="en-US" sz="2300" u="sng" dirty="0"/>
                  <a:t>動作</a:t>
                </a:r>
                <a:r>
                  <a:rPr lang="ja-JP" altLang="en-US" sz="2300" dirty="0"/>
                  <a:t>，</a:t>
                </a:r>
                <a:r>
                  <a:rPr lang="ja-JP" altLang="en-US" sz="2300" u="sng" dirty="0"/>
                  <a:t>音</a:t>
                </a:r>
                <a:br>
                  <a:rPr lang="en-US" altLang="ja-JP" sz="2300" dirty="0"/>
                </a:br>
                <a:r>
                  <a:rPr lang="ja-JP" altLang="en-US" sz="2300" dirty="0"/>
                  <a:t>の</a:t>
                </a:r>
                <a:r>
                  <a:rPr lang="en-US" altLang="ja-JP" sz="2300" dirty="0"/>
                  <a:t>4</a:t>
                </a:r>
                <a:r>
                  <a:rPr lang="ja-JP" altLang="en-US" sz="2300" dirty="0"/>
                  <a:t>要素に分類</a:t>
                </a:r>
                <a:endParaRPr lang="en-US" altLang="ja-JP" sz="2300" dirty="0"/>
              </a:p>
              <a:p>
                <a:pPr>
                  <a:lnSpc>
                    <a:spcPct val="100000"/>
                  </a:lnSpc>
                </a:pPr>
                <a:r>
                  <a:rPr kumimoji="1" lang="ja-JP" altLang="en-US" sz="2300" dirty="0"/>
                  <a:t>誤りタイプの取得</a:t>
                </a:r>
                <a:br>
                  <a:rPr kumimoji="1" lang="en-US" altLang="ja-JP" sz="2300" dirty="0"/>
                </a:br>
                <a:r>
                  <a:rPr kumimoji="1" lang="ja-JP" altLang="en-US" sz="2300" dirty="0"/>
                  <a:t>例：動作方向が誤っていた場合</a:t>
                </a:r>
                <a:r>
                  <a:rPr lang="ja-JP" altLang="en-US" sz="2300" dirty="0"/>
                  <a:t>，</a:t>
                </a:r>
                <a:br>
                  <a:rPr kumimoji="1" lang="en-US" altLang="ja-JP" sz="2300" dirty="0"/>
                </a:br>
                <a:r>
                  <a:rPr kumimoji="1" lang="ja-JP" altLang="en-US" sz="2300" dirty="0"/>
                  <a:t>　　動作誤認へ分類</a:t>
                </a:r>
                <a:endParaRPr lang="en-US" altLang="ja-JP" sz="2300" dirty="0"/>
              </a:p>
            </p:txBody>
          </p:sp>
        </mc:Choice>
        <mc:Fallback xmlns="">
          <p:sp>
            <p:nvSpPr>
              <p:cNvPr id="3" name="コンテンツ プレースホルダー 2">
                <a:extLst>
                  <a:ext uri="{FF2B5EF4-FFF2-40B4-BE49-F238E27FC236}">
                    <a16:creationId xmlns:a16="http://schemas.microsoft.com/office/drawing/2014/main" id="{F136990C-1C91-FBBC-666A-1E1F65C3072D}"/>
                  </a:ext>
                </a:extLst>
              </p:cNvPr>
              <p:cNvSpPr>
                <a:spLocks noGrp="1" noRot="1" noChangeAspect="1" noMove="1" noResize="1" noEditPoints="1" noAdjustHandles="1" noChangeArrowheads="1" noChangeShapeType="1" noTextEdit="1"/>
              </p:cNvSpPr>
              <p:nvPr>
                <p:ph sz="half" idx="2"/>
              </p:nvPr>
            </p:nvSpPr>
            <p:spPr>
              <a:xfrm>
                <a:off x="838200" y="2029619"/>
                <a:ext cx="5732206" cy="3987800"/>
              </a:xfrm>
              <a:blipFill>
                <a:blip r:embed="rId3"/>
                <a:stretch>
                  <a:fillRect/>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E9B45692-87D8-E056-8E6D-4D253BB3298A}"/>
              </a:ext>
            </a:extLst>
          </p:cNvPr>
          <p:cNvSpPr>
            <a:spLocks noGrp="1"/>
          </p:cNvSpPr>
          <p:nvPr>
            <p:ph type="sldNum" sz="quarter" idx="12"/>
          </p:nvPr>
        </p:nvSpPr>
        <p:spPr/>
        <p:txBody>
          <a:bodyPr/>
          <a:lstStyle/>
          <a:p>
            <a:fld id="{8213A850-EEC5-482E-871C-F91D51FCFBE2}" type="slidenum">
              <a:rPr kumimoji="1" lang="ja-JP" altLang="en-US" sz="2800" smtClean="0"/>
              <a:pPr/>
              <a:t>21</a:t>
            </a:fld>
            <a:endParaRPr kumimoji="1" lang="ja-JP" altLang="en-US" sz="2800" dirty="0"/>
          </a:p>
        </p:txBody>
      </p:sp>
      <p:sp>
        <p:nvSpPr>
          <p:cNvPr id="11" name="タイトル 1">
            <a:extLst>
              <a:ext uri="{FF2B5EF4-FFF2-40B4-BE49-F238E27FC236}">
                <a16:creationId xmlns:a16="http://schemas.microsoft.com/office/drawing/2014/main" id="{A0EA2CDF-EF00-11C0-5117-99C36F060CEF}"/>
              </a:ext>
            </a:extLst>
          </p:cNvPr>
          <p:cNvSpPr>
            <a:spLocks noGrp="1"/>
          </p:cNvSpPr>
          <p:nvPr>
            <p:ph type="title"/>
          </p:nvPr>
        </p:nvSpPr>
        <p:spPr>
          <a:xfrm>
            <a:off x="838200" y="365125"/>
            <a:ext cx="10515600" cy="1325563"/>
          </a:xfrm>
        </p:spPr>
        <p:txBody>
          <a:bodyPr/>
          <a:lstStyle/>
          <a:p>
            <a:pPr marL="914400" indent="-914400">
              <a:buFont typeface="+mj-lt"/>
              <a:buAutoNum type="arabicPeriod" startAt="8"/>
            </a:pPr>
            <a:r>
              <a:rPr lang="ja-JP" altLang="en-US" dirty="0"/>
              <a:t>評価実験</a:t>
            </a:r>
            <a:endParaRPr kumimoji="1" lang="ja-JP" altLang="en-US" dirty="0"/>
          </a:p>
        </p:txBody>
      </p:sp>
      <p:graphicFrame>
        <p:nvGraphicFramePr>
          <p:cNvPr id="2" name="表 1">
            <a:extLst>
              <a:ext uri="{FF2B5EF4-FFF2-40B4-BE49-F238E27FC236}">
                <a16:creationId xmlns:a16="http://schemas.microsoft.com/office/drawing/2014/main" id="{6274EBC5-6104-C103-613E-A1C6DC640D2C}"/>
              </a:ext>
            </a:extLst>
          </p:cNvPr>
          <p:cNvGraphicFramePr>
            <a:graphicFrameLocks noGrp="1"/>
          </p:cNvGraphicFramePr>
          <p:nvPr>
            <p:extLst>
              <p:ext uri="{D42A27DB-BD31-4B8C-83A1-F6EECF244321}">
                <p14:modId xmlns:p14="http://schemas.microsoft.com/office/powerpoint/2010/main" val="21123281"/>
              </p:ext>
            </p:extLst>
          </p:nvPr>
        </p:nvGraphicFramePr>
        <p:xfrm>
          <a:off x="6322141" y="2842419"/>
          <a:ext cx="5683046" cy="2362200"/>
        </p:xfrm>
        <a:graphic>
          <a:graphicData uri="http://schemas.openxmlformats.org/drawingml/2006/table">
            <a:tbl>
              <a:tblPr firstRow="1" bandRow="1">
                <a:tableStyleId>{5940675A-B579-460E-94D1-54222C63F5DA}</a:tableStyleId>
              </a:tblPr>
              <a:tblGrid>
                <a:gridCol w="1258529">
                  <a:extLst>
                    <a:ext uri="{9D8B030D-6E8A-4147-A177-3AD203B41FA5}">
                      <a16:colId xmlns:a16="http://schemas.microsoft.com/office/drawing/2014/main" val="808119924"/>
                    </a:ext>
                  </a:extLst>
                </a:gridCol>
                <a:gridCol w="1858298">
                  <a:extLst>
                    <a:ext uri="{9D8B030D-6E8A-4147-A177-3AD203B41FA5}">
                      <a16:colId xmlns:a16="http://schemas.microsoft.com/office/drawing/2014/main" val="3414158529"/>
                    </a:ext>
                  </a:extLst>
                </a:gridCol>
                <a:gridCol w="1875502">
                  <a:extLst>
                    <a:ext uri="{9D8B030D-6E8A-4147-A177-3AD203B41FA5}">
                      <a16:colId xmlns:a16="http://schemas.microsoft.com/office/drawing/2014/main" val="2896936887"/>
                    </a:ext>
                  </a:extLst>
                </a:gridCol>
                <a:gridCol w="690717">
                  <a:extLst>
                    <a:ext uri="{9D8B030D-6E8A-4147-A177-3AD203B41FA5}">
                      <a16:colId xmlns:a16="http://schemas.microsoft.com/office/drawing/2014/main" val="4079034641"/>
                    </a:ext>
                  </a:extLst>
                </a:gridCol>
              </a:tblGrid>
              <a:tr h="370840">
                <a:tc>
                  <a:txBody>
                    <a:bodyPr/>
                    <a:lstStyle/>
                    <a:p>
                      <a:pPr algn="ctr"/>
                      <a:r>
                        <a:rPr kumimoji="1" lang="ja-JP" altLang="en-US" sz="1400" b="1" dirty="0">
                          <a:solidFill>
                            <a:schemeClr val="tx1"/>
                          </a:solidFill>
                        </a:rPr>
                        <a:t>項目</a:t>
                      </a:r>
                      <a:endParaRPr kumimoji="1" lang="en-US" altLang="ja-JP" sz="1400" b="1" dirty="0">
                        <a:solidFill>
                          <a:schemeClr val="tx1"/>
                        </a:solidFill>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ctr"/>
                      <a:r>
                        <a:rPr kumimoji="1" lang="ja-JP" altLang="en-US" sz="1400" b="1" dirty="0">
                          <a:solidFill>
                            <a:schemeClr val="tx1"/>
                          </a:solidFill>
                        </a:rPr>
                        <a:t>正解</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ctr"/>
                      <a:r>
                        <a:rPr kumimoji="1" lang="en-US" altLang="ja-JP" sz="1400" b="1" dirty="0">
                          <a:solidFill>
                            <a:schemeClr val="tx1"/>
                          </a:solidFill>
                        </a:rPr>
                        <a:t>AI</a:t>
                      </a:r>
                      <a:r>
                        <a:rPr kumimoji="1" lang="ja-JP" altLang="en-US" sz="1400" b="1" dirty="0">
                          <a:solidFill>
                            <a:schemeClr val="tx1"/>
                          </a:solidFill>
                        </a:rPr>
                        <a:t>予測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ctr"/>
                      <a:r>
                        <a:rPr kumimoji="1" lang="ja-JP" altLang="en-US" sz="1400" b="1" dirty="0">
                          <a:solidFill>
                            <a:schemeClr val="tx1"/>
                          </a:solidFill>
                        </a:rPr>
                        <a:t>判定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586355324"/>
                  </a:ext>
                </a:extLst>
              </a:tr>
              <a:tr h="370840">
                <a:tc>
                  <a:txBody>
                    <a:bodyPr/>
                    <a:lstStyle/>
                    <a:p>
                      <a:pPr algn="ctr"/>
                      <a:r>
                        <a:rPr kumimoji="1" lang="ja-JP" altLang="en-US" sz="1400" b="1" dirty="0">
                          <a:solidFill>
                            <a:schemeClr val="tx1"/>
                          </a:solidFill>
                        </a:rPr>
                        <a:t>オブジェクト</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kumimoji="1" lang="ja-JP" altLang="en-US" sz="1400" dirty="0">
                          <a:solidFill>
                            <a:schemeClr val="tx1"/>
                          </a:solidFill>
                        </a:rPr>
                        <a:t>トラック</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kumimoji="1" lang="ja-JP" altLang="en-US" sz="1400" dirty="0">
                          <a:solidFill>
                            <a:schemeClr val="tx1"/>
                          </a:solidFill>
                        </a:rPr>
                        <a:t>トラック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dist"/>
                      <a:r>
                        <a:rPr kumimoji="1" lang="ja-JP" altLang="en-US" sz="1400" b="1" dirty="0">
                          <a:solidFill>
                            <a:srgbClr val="FFC000"/>
                          </a:solidFill>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246178809"/>
                  </a:ext>
                </a:extLst>
              </a:tr>
              <a:tr h="370840">
                <a:tc>
                  <a:txBody>
                    <a:bodyPr/>
                    <a:lstStyle/>
                    <a:p>
                      <a:pPr algn="ctr"/>
                      <a:r>
                        <a:rPr kumimoji="1" lang="ja-JP" altLang="en-US" sz="1400" b="1" dirty="0">
                          <a:solidFill>
                            <a:schemeClr val="tx1"/>
                          </a:solidFill>
                        </a:rPr>
                        <a:t>属性</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kumimoji="1" lang="ja-JP" altLang="en-US" sz="1400" dirty="0">
                          <a:solidFill>
                            <a:schemeClr val="tx1"/>
                          </a:solidFill>
                        </a:rPr>
                        <a:t>緑色の幌で荷台が覆われた白いトラック</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緑色の幌で荷台が覆われた白いトラック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dist"/>
                      <a:r>
                        <a:rPr kumimoji="1" lang="ja-JP" altLang="en-US" sz="1400" b="1" dirty="0">
                          <a:solidFill>
                            <a:srgbClr val="FFC000"/>
                          </a:solidFill>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4151466873"/>
                  </a:ext>
                </a:extLst>
              </a:tr>
              <a:tr h="370840">
                <a:tc>
                  <a:txBody>
                    <a:bodyPr/>
                    <a:lstStyle/>
                    <a:p>
                      <a:pPr algn="ctr"/>
                      <a:r>
                        <a:rPr kumimoji="1" lang="ja-JP" altLang="en-US" sz="1400" b="1" dirty="0">
                          <a:solidFill>
                            <a:schemeClr val="tx1"/>
                          </a:solidFill>
                        </a:rPr>
                        <a:t>動作</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kumimoji="1" lang="ja-JP" altLang="en-US" sz="1400" dirty="0">
                          <a:solidFill>
                            <a:schemeClr val="tx1"/>
                          </a:solidFill>
                        </a:rPr>
                        <a:t>画面</a:t>
                      </a:r>
                      <a:r>
                        <a:rPr kumimoji="1" lang="ja-JP" altLang="en-US" sz="1400" u="sng" dirty="0">
                          <a:solidFill>
                            <a:schemeClr val="tx2">
                              <a:lumMod val="40000"/>
                              <a:lumOff val="60000"/>
                            </a:schemeClr>
                          </a:solidFill>
                        </a:rPr>
                        <a:t>左から右</a:t>
                      </a:r>
                      <a:r>
                        <a:rPr kumimoji="1" lang="ja-JP" altLang="en-US" sz="1400" dirty="0">
                          <a:solidFill>
                            <a:schemeClr val="tx1"/>
                          </a:solidFill>
                        </a:rPr>
                        <a:t>へ走行</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kumimoji="1" lang="ja-JP" altLang="en-US" sz="1400" dirty="0">
                          <a:solidFill>
                            <a:schemeClr val="tx1"/>
                          </a:solidFill>
                        </a:rPr>
                        <a:t>画面</a:t>
                      </a:r>
                      <a:r>
                        <a:rPr kumimoji="1" lang="ja-JP" altLang="en-US" sz="1400" u="sng" dirty="0">
                          <a:solidFill>
                            <a:schemeClr val="accent5">
                              <a:lumMod val="40000"/>
                              <a:lumOff val="60000"/>
                            </a:schemeClr>
                          </a:solidFill>
                        </a:rPr>
                        <a:t>右から左</a:t>
                      </a:r>
                      <a:r>
                        <a:rPr kumimoji="1" lang="ja-JP" altLang="en-US" sz="1400" dirty="0">
                          <a:solidFill>
                            <a:schemeClr val="tx1"/>
                          </a:solidFill>
                        </a:rPr>
                        <a:t>へ走行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dist"/>
                      <a:r>
                        <a:rPr kumimoji="1" lang="en-US" altLang="ja-JP" sz="1400" b="1" dirty="0">
                          <a:solidFill>
                            <a:srgbClr val="00B0F0"/>
                          </a:solidFill>
                        </a:rPr>
                        <a:t>×</a:t>
                      </a:r>
                      <a:endParaRPr kumimoji="1" lang="ja-JP" altLang="en-US" sz="1400" b="1" dirty="0">
                        <a:solidFill>
                          <a:srgbClr val="00B0F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3180028485"/>
                  </a:ext>
                </a:extLst>
              </a:tr>
              <a:tr h="370840">
                <a:tc>
                  <a:txBody>
                    <a:bodyPr/>
                    <a:lstStyle/>
                    <a:p>
                      <a:pPr algn="ctr"/>
                      <a:r>
                        <a:rPr kumimoji="1" lang="ja-JP" altLang="en-US" sz="1400" b="1" dirty="0">
                          <a:solidFill>
                            <a:schemeClr val="tx1"/>
                          </a:solidFill>
                        </a:rPr>
                        <a:t>音</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kumimoji="1" lang="ja-JP" altLang="en-US" sz="1400" dirty="0">
                          <a:solidFill>
                            <a:schemeClr val="tx1"/>
                          </a:solidFill>
                        </a:rPr>
                        <a:t>低いディーゼルエンジンの音とタイヤの走行音</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低いディーゼルエンジンの音とタイヤの走行音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dist"/>
                      <a:r>
                        <a:rPr kumimoji="1" lang="ja-JP" altLang="en-US" sz="1400" b="1" dirty="0">
                          <a:solidFill>
                            <a:srgbClr val="FFC000"/>
                          </a:solidFill>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2108951118"/>
                  </a:ext>
                </a:extLst>
              </a:tr>
            </a:tbl>
          </a:graphicData>
        </a:graphic>
      </p:graphicFrame>
    </p:spTree>
    <p:extLst>
      <p:ext uri="{BB962C8B-B14F-4D97-AF65-F5344CB8AC3E}">
        <p14:creationId xmlns:p14="http://schemas.microsoft.com/office/powerpoint/2010/main" val="2526282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2B427-F24A-B0D0-9364-64254F17EB42}"/>
            </a:ext>
          </a:extLst>
        </p:cNvPr>
        <p:cNvGrpSpPr/>
        <p:nvPr/>
      </p:nvGrpSpPr>
      <p:grpSpPr>
        <a:xfrm>
          <a:off x="0" y="0"/>
          <a:ext cx="0" cy="0"/>
          <a:chOff x="0" y="0"/>
          <a:chExt cx="0" cy="0"/>
        </a:xfrm>
      </p:grpSpPr>
      <p:sp>
        <p:nvSpPr>
          <p:cNvPr id="11" name="テキスト プレースホルダー 10">
            <a:extLst>
              <a:ext uri="{FF2B5EF4-FFF2-40B4-BE49-F238E27FC236}">
                <a16:creationId xmlns:a16="http://schemas.microsoft.com/office/drawing/2014/main" id="{6E266EE7-61A9-5A56-14F1-04C50A5A0A11}"/>
              </a:ext>
            </a:extLst>
          </p:cNvPr>
          <p:cNvSpPr>
            <a:spLocks noGrp="1"/>
          </p:cNvSpPr>
          <p:nvPr>
            <p:ph type="body" idx="1"/>
          </p:nvPr>
        </p:nvSpPr>
        <p:spPr>
          <a:xfrm>
            <a:off x="971410" y="1380666"/>
            <a:ext cx="5546650" cy="823912"/>
          </a:xfrm>
        </p:spPr>
        <p:txBody>
          <a:bodyPr anchor="ctr">
            <a:noAutofit/>
          </a:bodyPr>
          <a:lstStyle/>
          <a:p>
            <a:br>
              <a:rPr lang="en-US" altLang="ja-JP" sz="3200" dirty="0"/>
            </a:br>
            <a:br>
              <a:rPr lang="en-US" altLang="ja-JP" sz="3200" dirty="0"/>
            </a:br>
            <a:r>
              <a:rPr lang="ja-JP" altLang="en-US" sz="3200" b="1" dirty="0"/>
              <a:t>ファインチューニングの実施</a:t>
            </a:r>
            <a:endParaRPr lang="en-US" altLang="ja-JP" sz="3200" b="1" dirty="0"/>
          </a:p>
          <a:p>
            <a:endParaRPr lang="ja-JP" altLang="en-US" sz="3200" dirty="0"/>
          </a:p>
        </p:txBody>
      </p:sp>
      <p:sp>
        <p:nvSpPr>
          <p:cNvPr id="3" name="コンテンツ プレースホルダー 2">
            <a:extLst>
              <a:ext uri="{FF2B5EF4-FFF2-40B4-BE49-F238E27FC236}">
                <a16:creationId xmlns:a16="http://schemas.microsoft.com/office/drawing/2014/main" id="{7D712C13-F04E-1E08-9E89-49EC021CD053}"/>
              </a:ext>
            </a:extLst>
          </p:cNvPr>
          <p:cNvSpPr>
            <a:spLocks noGrp="1"/>
          </p:cNvSpPr>
          <p:nvPr>
            <p:ph sz="half" idx="2"/>
          </p:nvPr>
        </p:nvSpPr>
        <p:spPr>
          <a:xfrm>
            <a:off x="1120000" y="2505075"/>
            <a:ext cx="5398060" cy="3684588"/>
          </a:xfrm>
        </p:spPr>
        <p:txBody>
          <a:bodyPr>
            <a:normAutofit/>
          </a:bodyPr>
          <a:lstStyle/>
          <a:p>
            <a:pPr>
              <a:lnSpc>
                <a:spcPct val="100000"/>
              </a:lnSpc>
            </a:pPr>
            <a:r>
              <a:rPr kumimoji="1" lang="en-US" altLang="ja-JP" dirty="0"/>
              <a:t>Vertex</a:t>
            </a:r>
            <a:r>
              <a:rPr kumimoji="1" lang="ja-JP" altLang="en-US" dirty="0"/>
              <a:t> </a:t>
            </a:r>
            <a:r>
              <a:rPr kumimoji="1" lang="en-US" altLang="ja-JP" dirty="0"/>
              <a:t>AI</a:t>
            </a:r>
            <a:r>
              <a:rPr kumimoji="1" lang="ja-JP" altLang="en-US" dirty="0"/>
              <a:t>の形式に合わせ</a:t>
            </a:r>
            <a:r>
              <a:rPr kumimoji="1" lang="en-US" altLang="ja-JP" dirty="0"/>
              <a:t>JSONL</a:t>
            </a:r>
            <a:r>
              <a:rPr kumimoji="1" lang="ja-JP" altLang="en-US" dirty="0"/>
              <a:t>ファイルを作成</a:t>
            </a:r>
            <a:br>
              <a:rPr kumimoji="1" lang="en-US" altLang="ja-JP" dirty="0"/>
            </a:br>
            <a:r>
              <a:rPr lang="ja-JP" altLang="en-US" dirty="0"/>
              <a:t>➡ファインチューニング</a:t>
            </a:r>
            <a:br>
              <a:rPr lang="en-US" altLang="ja-JP" dirty="0"/>
            </a:br>
            <a:endParaRPr kumimoji="1" lang="en-US" altLang="ja-JP" dirty="0"/>
          </a:p>
          <a:p>
            <a:pPr>
              <a:lnSpc>
                <a:spcPct val="100000"/>
              </a:lnSpc>
            </a:pPr>
            <a:r>
              <a:rPr lang="ja-JP" altLang="en-US" dirty="0"/>
              <a:t>複数の動画で作成した</a:t>
            </a:r>
            <a:br>
              <a:rPr lang="en-US" altLang="ja-JP" dirty="0"/>
            </a:br>
            <a:r>
              <a:rPr lang="ja-JP" altLang="en-US" dirty="0"/>
              <a:t>教師データをまとめて選択</a:t>
            </a:r>
            <a:br>
              <a:rPr lang="en-US" altLang="ja-JP" dirty="0"/>
            </a:br>
            <a:r>
              <a:rPr lang="ja-JP" altLang="en-US" dirty="0"/>
              <a:t>➡チューニングジョブへ投入</a:t>
            </a:r>
            <a:endParaRPr lang="en-US" altLang="ja-JP" dirty="0"/>
          </a:p>
          <a:p>
            <a:pPr marL="0" indent="0">
              <a:buNone/>
            </a:pPr>
            <a:endParaRPr kumimoji="1" lang="ja-JP" altLang="en-US" dirty="0"/>
          </a:p>
        </p:txBody>
      </p:sp>
      <p:sp>
        <p:nvSpPr>
          <p:cNvPr id="4" name="スライド番号プレースホルダー 3">
            <a:extLst>
              <a:ext uri="{FF2B5EF4-FFF2-40B4-BE49-F238E27FC236}">
                <a16:creationId xmlns:a16="http://schemas.microsoft.com/office/drawing/2014/main" id="{DC8160BE-1DB5-AC73-DAFD-24072CE3FAC0}"/>
              </a:ext>
            </a:extLst>
          </p:cNvPr>
          <p:cNvSpPr>
            <a:spLocks noGrp="1"/>
          </p:cNvSpPr>
          <p:nvPr>
            <p:ph type="sldNum" sz="quarter" idx="12"/>
          </p:nvPr>
        </p:nvSpPr>
        <p:spPr/>
        <p:txBody>
          <a:bodyPr/>
          <a:lstStyle/>
          <a:p>
            <a:fld id="{8213A850-EEC5-482E-871C-F91D51FCFBE2}" type="slidenum">
              <a:rPr kumimoji="1" lang="ja-JP" altLang="en-US" sz="2800" smtClean="0"/>
              <a:t>22</a:t>
            </a:fld>
            <a:endParaRPr kumimoji="1" lang="ja-JP" altLang="en-US" sz="2800"/>
          </a:p>
        </p:txBody>
      </p:sp>
      <p:pic>
        <p:nvPicPr>
          <p:cNvPr id="10" name="図 9" descr="テーブル&#10;&#10;AI 生成コンテンツは誤りを含む可能性があります。">
            <a:extLst>
              <a:ext uri="{FF2B5EF4-FFF2-40B4-BE49-F238E27FC236}">
                <a16:creationId xmlns:a16="http://schemas.microsoft.com/office/drawing/2014/main" id="{4C11EA0F-BA54-5EA2-4A2E-8BFA332BC45D}"/>
              </a:ext>
            </a:extLst>
          </p:cNvPr>
          <p:cNvPicPr>
            <a:picLocks noChangeAspect="1"/>
          </p:cNvPicPr>
          <p:nvPr/>
        </p:nvPicPr>
        <p:blipFill>
          <a:blip r:embed="rId3"/>
          <a:srcRect t="25093"/>
          <a:stretch>
            <a:fillRect/>
          </a:stretch>
        </p:blipFill>
        <p:spPr>
          <a:xfrm>
            <a:off x="6666650" y="2082124"/>
            <a:ext cx="5041080" cy="2424788"/>
          </a:xfrm>
          <a:prstGeom prst="rect">
            <a:avLst/>
          </a:prstGeom>
        </p:spPr>
      </p:pic>
      <p:sp>
        <p:nvSpPr>
          <p:cNvPr id="16" name="タイトル 1">
            <a:extLst>
              <a:ext uri="{FF2B5EF4-FFF2-40B4-BE49-F238E27FC236}">
                <a16:creationId xmlns:a16="http://schemas.microsoft.com/office/drawing/2014/main" id="{57367568-DAE7-5D8F-597E-7A5F271D5031}"/>
              </a:ext>
            </a:extLst>
          </p:cNvPr>
          <p:cNvSpPr>
            <a:spLocks noGrp="1"/>
          </p:cNvSpPr>
          <p:nvPr>
            <p:ph type="title"/>
          </p:nvPr>
        </p:nvSpPr>
        <p:spPr>
          <a:xfrm>
            <a:off x="838200" y="365125"/>
            <a:ext cx="10515600" cy="1325563"/>
          </a:xfrm>
        </p:spPr>
        <p:txBody>
          <a:bodyPr/>
          <a:lstStyle/>
          <a:p>
            <a:pPr marL="914400" indent="-914400">
              <a:buFont typeface="+mj-lt"/>
              <a:buAutoNum type="arabicPeriod" startAt="8"/>
            </a:pPr>
            <a:r>
              <a:rPr lang="ja-JP" altLang="en-US" dirty="0"/>
              <a:t>評価実験</a:t>
            </a:r>
            <a:endParaRPr kumimoji="1" lang="ja-JP" altLang="en-US" dirty="0"/>
          </a:p>
        </p:txBody>
      </p:sp>
      <p:sp>
        <p:nvSpPr>
          <p:cNvPr id="2" name="テキスト ボックス 1">
            <a:extLst>
              <a:ext uri="{FF2B5EF4-FFF2-40B4-BE49-F238E27FC236}">
                <a16:creationId xmlns:a16="http://schemas.microsoft.com/office/drawing/2014/main" id="{99897B17-0BFA-659F-F9F6-51974E791338}"/>
              </a:ext>
            </a:extLst>
          </p:cNvPr>
          <p:cNvSpPr txBox="1"/>
          <p:nvPr/>
        </p:nvSpPr>
        <p:spPr>
          <a:xfrm>
            <a:off x="6666650" y="4619524"/>
            <a:ext cx="5066546" cy="400110"/>
          </a:xfrm>
          <a:prstGeom prst="rect">
            <a:avLst/>
          </a:prstGeom>
          <a:noFill/>
        </p:spPr>
        <p:txBody>
          <a:bodyPr wrap="square" rtlCol="0">
            <a:spAutoFit/>
          </a:bodyPr>
          <a:lstStyle/>
          <a:p>
            <a:pPr algn="ctr"/>
            <a:r>
              <a:rPr kumimoji="1" lang="en-US" altLang="ja-JP" sz="2000" b="1" dirty="0">
                <a:latin typeface="+mj-ea"/>
                <a:ea typeface="+mj-ea"/>
              </a:rPr>
              <a:t>UI</a:t>
            </a:r>
            <a:r>
              <a:rPr kumimoji="1" lang="ja-JP" altLang="en-US" sz="2000" b="1" dirty="0">
                <a:latin typeface="+mj-ea"/>
                <a:ea typeface="+mj-ea"/>
              </a:rPr>
              <a:t>に表示した教師データ一覧</a:t>
            </a:r>
          </a:p>
        </p:txBody>
      </p:sp>
    </p:spTree>
    <p:extLst>
      <p:ext uri="{BB962C8B-B14F-4D97-AF65-F5344CB8AC3E}">
        <p14:creationId xmlns:p14="http://schemas.microsoft.com/office/powerpoint/2010/main" val="1793822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AC0B-530C-3200-E3E2-DCE5D8B714AA}"/>
            </a:ext>
          </a:extLst>
        </p:cNvPr>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13D73CE0-BDE0-909D-B324-1BE66391EBBE}"/>
              </a:ext>
            </a:extLst>
          </p:cNvPr>
          <p:cNvGraphicFramePr>
            <a:graphicFrameLocks noGrp="1"/>
          </p:cNvGraphicFramePr>
          <p:nvPr>
            <p:ph idx="1"/>
            <p:extLst>
              <p:ext uri="{D42A27DB-BD31-4B8C-83A1-F6EECF244321}">
                <p14:modId xmlns:p14="http://schemas.microsoft.com/office/powerpoint/2010/main" val="683825918"/>
              </p:ext>
            </p:extLst>
          </p:nvPr>
        </p:nvGraphicFramePr>
        <p:xfrm>
          <a:off x="1925053" y="1438356"/>
          <a:ext cx="9023683" cy="4101166"/>
        </p:xfrm>
        <a:graphic>
          <a:graphicData uri="http://schemas.openxmlformats.org/drawingml/2006/table">
            <a:tbl>
              <a:tblPr firstRow="1" firstCol="1" bandRow="1">
                <a:tableStyleId>{5C22544A-7EE6-4342-B048-85BDC9FD1C3A}</a:tableStyleId>
              </a:tblPr>
              <a:tblGrid>
                <a:gridCol w="1867369">
                  <a:extLst>
                    <a:ext uri="{9D8B030D-6E8A-4147-A177-3AD203B41FA5}">
                      <a16:colId xmlns:a16="http://schemas.microsoft.com/office/drawing/2014/main" val="858303535"/>
                    </a:ext>
                  </a:extLst>
                </a:gridCol>
                <a:gridCol w="2735351">
                  <a:extLst>
                    <a:ext uri="{9D8B030D-6E8A-4147-A177-3AD203B41FA5}">
                      <a16:colId xmlns:a16="http://schemas.microsoft.com/office/drawing/2014/main" val="2826971884"/>
                    </a:ext>
                  </a:extLst>
                </a:gridCol>
                <a:gridCol w="2509386">
                  <a:extLst>
                    <a:ext uri="{9D8B030D-6E8A-4147-A177-3AD203B41FA5}">
                      <a16:colId xmlns:a16="http://schemas.microsoft.com/office/drawing/2014/main" val="753584803"/>
                    </a:ext>
                  </a:extLst>
                </a:gridCol>
                <a:gridCol w="1911577">
                  <a:extLst>
                    <a:ext uri="{9D8B030D-6E8A-4147-A177-3AD203B41FA5}">
                      <a16:colId xmlns:a16="http://schemas.microsoft.com/office/drawing/2014/main" val="2800783840"/>
                    </a:ext>
                  </a:extLst>
                </a:gridCol>
              </a:tblGrid>
              <a:tr h="666971">
                <a:tc>
                  <a:txBody>
                    <a:bodyPr/>
                    <a:lstStyle/>
                    <a:p>
                      <a:pPr marL="0" algn="ctr">
                        <a:lnSpc>
                          <a:spcPct val="100000"/>
                        </a:lnSpc>
                        <a:buNone/>
                      </a:pPr>
                      <a:r>
                        <a:rPr lang="ja-JP" sz="2000" b="1" kern="100" dirty="0">
                          <a:effectLst/>
                          <a:latin typeface="BIZ UDPゴシック" panose="020B0400000000000000" pitchFamily="50" charset="-128"/>
                          <a:ea typeface="BIZ UDPゴシック" panose="020B0400000000000000" pitchFamily="50" charset="-128"/>
                        </a:rPr>
                        <a:t>指標</a:t>
                      </a:r>
                      <a:endParaRPr lang="ja-JP" sz="2000" b="1" kern="100" dirty="0">
                        <a:effectLst/>
                        <a:latin typeface="BIZ UDPゴシック" panose="020B0400000000000000" pitchFamily="50" charset="-128"/>
                        <a:ea typeface="BIZ UDPゴシック" panose="020B0400000000000000" pitchFamily="50" charset="-128"/>
                        <a:cs typeface="Times New Roman" panose="02020603050405020304" pitchFamily="18" charset="0"/>
                      </a:endParaRPr>
                    </a:p>
                  </a:txBody>
                  <a:tcPr marL="68580" marR="68580" marT="0" marB="0" anchor="ctr"/>
                </a:tc>
                <a:tc>
                  <a:txBody>
                    <a:bodyPr/>
                    <a:lstStyle/>
                    <a:p>
                      <a:pPr marL="0" algn="ctr">
                        <a:lnSpc>
                          <a:spcPct val="150000"/>
                        </a:lnSpc>
                        <a:buNone/>
                      </a:pPr>
                      <a:r>
                        <a:rPr lang="ja-JP" sz="2000" kern="100" dirty="0">
                          <a:effectLst/>
                          <a:latin typeface="メイリオ" panose="020B0604030504040204" pitchFamily="50" charset="-128"/>
                        </a:rPr>
                        <a:t>ベースモデル</a:t>
                      </a:r>
                      <a:r>
                        <a:rPr lang="en-US" sz="2000" kern="100" dirty="0">
                          <a:effectLst/>
                          <a:latin typeface="メイリオ" panose="020B0604030504040204" pitchFamily="50" charset="-128"/>
                        </a:rPr>
                        <a:t>(A)</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ja-JP" sz="2000" kern="100" dirty="0">
                          <a:effectLst/>
                          <a:latin typeface="メイリオ" panose="020B0604030504040204" pitchFamily="50" charset="-128"/>
                        </a:rPr>
                        <a:t>学習済みモデ</a:t>
                      </a:r>
                      <a:r>
                        <a:rPr lang="ja-JP" altLang="en-US" sz="2000" kern="100" dirty="0">
                          <a:effectLst/>
                          <a:latin typeface="メイリオ" panose="020B0604030504040204" pitchFamily="50" charset="-128"/>
                        </a:rPr>
                        <a:t>ル</a:t>
                      </a:r>
                      <a:r>
                        <a:rPr lang="en-US" sz="2000" kern="100" dirty="0">
                          <a:effectLst/>
                          <a:latin typeface="メイリオ" panose="020B0604030504040204" pitchFamily="50" charset="-128"/>
                        </a:rPr>
                        <a:t>(B)</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en-US" sz="2000" kern="100" dirty="0">
                          <a:effectLst/>
                          <a:latin typeface="メイリオ" panose="020B0604030504040204" pitchFamily="50" charset="-128"/>
                        </a:rPr>
                        <a:t>A-B</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15246113"/>
                  </a:ext>
                </a:extLst>
              </a:tr>
              <a:tr h="485671">
                <a:tc>
                  <a:txBody>
                    <a:bodyPr/>
                    <a:lstStyle/>
                    <a:p>
                      <a:pPr marL="0" algn="ctr">
                        <a:lnSpc>
                          <a:spcPct val="100000"/>
                        </a:lnSpc>
                        <a:buNone/>
                      </a:pPr>
                      <a:r>
                        <a:rPr lang="ja-JP" sz="1600" kern="100" dirty="0">
                          <a:effectLst/>
                          <a:latin typeface="BIZ UDPゴシック" panose="020B0400000000000000" pitchFamily="50" charset="-128"/>
                          <a:ea typeface="BIZ UDPゴシック" panose="020B0400000000000000" pitchFamily="50" charset="-128"/>
                        </a:rPr>
                        <a:t>不正解率</a:t>
                      </a:r>
                      <a:r>
                        <a:rPr lang="en-US" sz="1600" kern="100" dirty="0">
                          <a:effectLst/>
                          <a:latin typeface="BIZ UDPゴシック" panose="020B0400000000000000" pitchFamily="50" charset="-128"/>
                          <a:ea typeface="BIZ UDPゴシック" panose="020B0400000000000000" pitchFamily="50" charset="-128"/>
                        </a:rPr>
                        <a:t>(Mis)</a:t>
                      </a:r>
                      <a:endParaRPr lang="ja-JP" sz="1600" kern="100" dirty="0">
                        <a:effectLst/>
                        <a:latin typeface="BIZ UDPゴシック" panose="020B0400000000000000" pitchFamily="50" charset="-128"/>
                        <a:ea typeface="BIZ UDPゴシック" panose="020B0400000000000000" pitchFamily="50" charset="-128"/>
                        <a:cs typeface="Times New Roman" panose="02020603050405020304" pitchFamily="18" charset="0"/>
                      </a:endParaRPr>
                    </a:p>
                  </a:txBody>
                  <a:tcPr marL="68580" marR="68580" marT="0" marB="0" anchor="ctr"/>
                </a:tc>
                <a:tc>
                  <a:txBody>
                    <a:bodyPr/>
                    <a:lstStyle/>
                    <a:p>
                      <a:pPr marL="0" algn="ctr">
                        <a:lnSpc>
                          <a:spcPct val="150000"/>
                        </a:lnSpc>
                        <a:buNone/>
                      </a:pPr>
                      <a:r>
                        <a:rPr lang="en-US" sz="2000" kern="100" dirty="0">
                          <a:effectLst/>
                          <a:latin typeface="メイリオ" panose="020B0604030504040204" pitchFamily="50" charset="-128"/>
                        </a:rPr>
                        <a:t>0.385</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en-US" sz="2000" kern="100" dirty="0">
                          <a:effectLst/>
                          <a:latin typeface="メイリオ" panose="020B0604030504040204" pitchFamily="50" charset="-128"/>
                        </a:rPr>
                        <a:t>0.354</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en-US" sz="2400" b="1" kern="100" dirty="0">
                          <a:solidFill>
                            <a:srgbClr val="0070C0"/>
                          </a:solidFill>
                          <a:effectLst/>
                          <a:latin typeface="メイリオ" panose="020B0604030504040204" pitchFamily="50" charset="-128"/>
                        </a:rPr>
                        <a:t>-0.031</a:t>
                      </a:r>
                      <a:endParaRPr lang="ja-JP" sz="2400" b="1" kern="100" dirty="0">
                        <a:solidFill>
                          <a:srgbClr val="0070C0"/>
                        </a:solidFill>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77199394"/>
                  </a:ext>
                </a:extLst>
              </a:tr>
              <a:tr h="485671">
                <a:tc>
                  <a:txBody>
                    <a:bodyPr/>
                    <a:lstStyle/>
                    <a:p>
                      <a:pPr marL="0" algn="ctr">
                        <a:lnSpc>
                          <a:spcPct val="100000"/>
                        </a:lnSpc>
                        <a:buNone/>
                      </a:pPr>
                      <a:r>
                        <a:rPr lang="ja-JP" altLang="en-US" sz="1600" kern="100" dirty="0">
                          <a:effectLst/>
                          <a:latin typeface="BIZ UDPゴシック" panose="020B0400000000000000" pitchFamily="50" charset="-128"/>
                          <a:ea typeface="BIZ UDPゴシック" panose="020B0400000000000000" pitchFamily="50" charset="-128"/>
                        </a:rPr>
                        <a:t>（</a:t>
                      </a:r>
                      <a:r>
                        <a:rPr lang="ja-JP" sz="1600" kern="100" dirty="0">
                          <a:effectLst/>
                          <a:latin typeface="BIZ UDPゴシック" panose="020B0400000000000000" pitchFamily="50" charset="-128"/>
                          <a:ea typeface="BIZ UDPゴシック" panose="020B0400000000000000" pitchFamily="50" charset="-128"/>
                        </a:rPr>
                        <a:t>過剰検知率</a:t>
                      </a:r>
                      <a:r>
                        <a:rPr lang="ja-JP" altLang="en-US" sz="1600" kern="100" dirty="0">
                          <a:effectLst/>
                          <a:latin typeface="BIZ UDPゴシック" panose="020B0400000000000000" pitchFamily="50" charset="-128"/>
                          <a:ea typeface="BIZ UDPゴシック" panose="020B0400000000000000" pitchFamily="50" charset="-128"/>
                        </a:rPr>
                        <a:t>）</a:t>
                      </a:r>
                      <a:endParaRPr lang="ja-JP" sz="1600" kern="100" dirty="0">
                        <a:effectLst/>
                        <a:latin typeface="BIZ UDPゴシック" panose="020B0400000000000000" pitchFamily="50" charset="-128"/>
                        <a:ea typeface="BIZ UDPゴシック" panose="020B0400000000000000" pitchFamily="50" charset="-128"/>
                        <a:cs typeface="Times New Roman" panose="02020603050405020304" pitchFamily="18" charset="0"/>
                      </a:endParaRPr>
                    </a:p>
                  </a:txBody>
                  <a:tcPr marL="68580" marR="68580" marT="0" marB="0" anchor="ctr"/>
                </a:tc>
                <a:tc>
                  <a:txBody>
                    <a:bodyPr/>
                    <a:lstStyle/>
                    <a:p>
                      <a:pPr marL="0" algn="ctr">
                        <a:lnSpc>
                          <a:spcPct val="150000"/>
                        </a:lnSpc>
                        <a:buNone/>
                      </a:pPr>
                      <a:r>
                        <a:rPr lang="en-US" sz="2000" kern="100" dirty="0">
                          <a:effectLst/>
                          <a:latin typeface="メイリオ" panose="020B0604030504040204" pitchFamily="50" charset="-128"/>
                        </a:rPr>
                        <a:t>0.0</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en-US" sz="2000" kern="100" dirty="0">
                          <a:effectLst/>
                          <a:latin typeface="メイリオ" panose="020B0604030504040204" pitchFamily="50" charset="-128"/>
                        </a:rPr>
                        <a:t>0.0</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en-US" sz="2000" b="1" kern="100" dirty="0">
                          <a:effectLst/>
                          <a:latin typeface="メイリオ" panose="020B0604030504040204" pitchFamily="50" charset="-128"/>
                        </a:rPr>
                        <a:t>0.0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183092421"/>
                  </a:ext>
                </a:extLst>
              </a:tr>
              <a:tr h="485671">
                <a:tc>
                  <a:txBody>
                    <a:bodyPr/>
                    <a:lstStyle/>
                    <a:p>
                      <a:pPr marL="0" algn="ctr">
                        <a:lnSpc>
                          <a:spcPct val="100000"/>
                        </a:lnSpc>
                        <a:buNone/>
                      </a:pPr>
                      <a:r>
                        <a:rPr lang="ja-JP" sz="1600" kern="100" dirty="0">
                          <a:effectLst/>
                          <a:latin typeface="BIZ UDPゴシック" panose="020B0400000000000000" pitchFamily="50" charset="-128"/>
                          <a:ea typeface="BIZ UDPゴシック" panose="020B0400000000000000" pitchFamily="50" charset="-128"/>
                        </a:rPr>
                        <a:t>検出漏れ率</a:t>
                      </a:r>
                      <a:endParaRPr lang="ja-JP" sz="1600" kern="100" dirty="0">
                        <a:effectLst/>
                        <a:latin typeface="BIZ UDPゴシック" panose="020B0400000000000000" pitchFamily="50" charset="-128"/>
                        <a:ea typeface="BIZ UDPゴシック" panose="020B0400000000000000" pitchFamily="50"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algn="ctr">
                        <a:lnSpc>
                          <a:spcPct val="150000"/>
                        </a:lnSpc>
                        <a:buNone/>
                      </a:pPr>
                      <a:r>
                        <a:rPr lang="en-US" sz="2000" kern="100" dirty="0">
                          <a:effectLst/>
                          <a:latin typeface="メイリオ" panose="020B0604030504040204" pitchFamily="50" charset="-128"/>
                        </a:rPr>
                        <a:t>0.143</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algn="ctr">
                        <a:lnSpc>
                          <a:spcPct val="150000"/>
                        </a:lnSpc>
                        <a:buNone/>
                      </a:pPr>
                      <a:r>
                        <a:rPr lang="en-US" sz="2000" kern="100" dirty="0">
                          <a:effectLst/>
                          <a:latin typeface="メイリオ" panose="020B0604030504040204" pitchFamily="50" charset="-128"/>
                        </a:rPr>
                        <a:t>0.099</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algn="ctr">
                        <a:lnSpc>
                          <a:spcPct val="150000"/>
                        </a:lnSpc>
                        <a:buNone/>
                      </a:pPr>
                      <a:r>
                        <a:rPr lang="en-US" sz="2400" b="1" kern="100" dirty="0">
                          <a:solidFill>
                            <a:srgbClr val="0070C0"/>
                          </a:solidFill>
                          <a:effectLst/>
                          <a:latin typeface="メイリオ" panose="020B0604030504040204" pitchFamily="50" charset="-128"/>
                        </a:rPr>
                        <a:t>-0.044</a:t>
                      </a:r>
                      <a:endParaRPr lang="ja-JP" sz="2400" b="1" kern="100" dirty="0">
                        <a:solidFill>
                          <a:srgbClr val="0070C0"/>
                        </a:solidFill>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6084714"/>
                  </a:ext>
                </a:extLst>
              </a:tr>
              <a:tr h="485671">
                <a:tc>
                  <a:txBody>
                    <a:bodyPr/>
                    <a:lstStyle/>
                    <a:p>
                      <a:pPr marL="0" algn="ctr">
                        <a:lnSpc>
                          <a:spcPct val="100000"/>
                        </a:lnSpc>
                        <a:buNone/>
                      </a:pPr>
                      <a:r>
                        <a:rPr lang="ja-JP" sz="1600" kern="100" dirty="0">
                          <a:effectLst/>
                          <a:latin typeface="BIZ UDPゴシック" panose="020B0400000000000000" pitchFamily="50" charset="-128"/>
                          <a:ea typeface="BIZ UDPゴシック" panose="020B0400000000000000" pitchFamily="50" charset="-128"/>
                        </a:rPr>
                        <a:t>物体の誤認</a:t>
                      </a:r>
                      <a:r>
                        <a:rPr lang="ja-JP" altLang="en-US" sz="1600" kern="100" dirty="0">
                          <a:effectLst/>
                          <a:latin typeface="BIZ UDPゴシック" panose="020B0400000000000000" pitchFamily="50" charset="-128"/>
                          <a:ea typeface="BIZ UDPゴシック" panose="020B0400000000000000" pitchFamily="50" charset="-128"/>
                        </a:rPr>
                        <a:t>割合</a:t>
                      </a:r>
                      <a:endParaRPr lang="ja-JP" sz="1600" kern="100" dirty="0">
                        <a:effectLst/>
                        <a:latin typeface="BIZ UDPゴシック" panose="020B0400000000000000" pitchFamily="50" charset="-128"/>
                        <a:ea typeface="BIZ UDPゴシック" panose="020B0400000000000000" pitchFamily="50"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algn="ctr">
                        <a:lnSpc>
                          <a:spcPct val="150000"/>
                        </a:lnSpc>
                        <a:buNone/>
                      </a:pPr>
                      <a:r>
                        <a:rPr lang="en-US" altLang="ja-JP" sz="2000" kern="100" dirty="0">
                          <a:effectLst/>
                          <a:latin typeface="メイリオ" panose="020B0604030504040204" pitchFamily="50" charset="-128"/>
                          <a:ea typeface="游明朝" panose="02020400000000000000" pitchFamily="18" charset="-128"/>
                          <a:cs typeface="Times New Roman" panose="02020603050405020304" pitchFamily="18" charset="0"/>
                        </a:rPr>
                        <a:t>0.372</a:t>
                      </a:r>
                      <a:endParaRPr lang="ja-JP" sz="2000" kern="100" dirty="0">
                        <a:effectLst/>
                        <a:latin typeface="メイリオ" panose="020B0604030504040204" pitchFamily="50" charset="-128"/>
                        <a:ea typeface="メイリオ" panose="020B0604030504040204" pitchFamily="50"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algn="ctr">
                        <a:lnSpc>
                          <a:spcPct val="150000"/>
                        </a:lnSpc>
                        <a:buNone/>
                      </a:pPr>
                      <a:r>
                        <a:rPr lang="en-US" altLang="ja-JP" sz="2000" kern="100" dirty="0">
                          <a:effectLst/>
                          <a:latin typeface="メイリオ" panose="020B0604030504040204" pitchFamily="50" charset="-128"/>
                          <a:ea typeface="游明朝" panose="02020400000000000000" pitchFamily="18" charset="-128"/>
                          <a:cs typeface="Times New Roman" panose="02020603050405020304" pitchFamily="18" charset="0"/>
                        </a:rPr>
                        <a:t>0.354</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algn="ctr">
                        <a:lnSpc>
                          <a:spcPct val="150000"/>
                        </a:lnSpc>
                        <a:buNone/>
                      </a:pPr>
                      <a:r>
                        <a:rPr lang="en-US" altLang="ja-JP" sz="2000" b="1" kern="100" dirty="0">
                          <a:effectLst/>
                          <a:latin typeface="メイリオ" panose="020B0604030504040204" pitchFamily="50" charset="-128"/>
                          <a:ea typeface="游明朝" panose="02020400000000000000" pitchFamily="18" charset="-128"/>
                          <a:cs typeface="Times New Roman" panose="02020603050405020304" pitchFamily="18" charset="0"/>
                        </a:rPr>
                        <a:t>-0.018</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24943978"/>
                  </a:ext>
                </a:extLst>
              </a:tr>
              <a:tr h="485671">
                <a:tc>
                  <a:txBody>
                    <a:bodyPr/>
                    <a:lstStyle/>
                    <a:p>
                      <a:pPr marL="0" algn="ctr">
                        <a:lnSpc>
                          <a:spcPct val="100000"/>
                        </a:lnSpc>
                        <a:buNone/>
                      </a:pPr>
                      <a:r>
                        <a:rPr lang="ja-JP" sz="1600" kern="100" dirty="0">
                          <a:effectLst/>
                          <a:latin typeface="BIZ UDPゴシック" panose="020B0400000000000000" pitchFamily="50" charset="-128"/>
                          <a:ea typeface="BIZ UDPゴシック" panose="020B0400000000000000" pitchFamily="50" charset="-128"/>
                        </a:rPr>
                        <a:t>属性の誤認</a:t>
                      </a:r>
                      <a:r>
                        <a:rPr lang="ja-JP" altLang="en-US" sz="1600" kern="100" dirty="0">
                          <a:effectLst/>
                          <a:latin typeface="BIZ UDPゴシック" panose="020B0400000000000000" pitchFamily="50" charset="-128"/>
                          <a:ea typeface="BIZ UDPゴシック" panose="020B0400000000000000" pitchFamily="50" charset="-128"/>
                        </a:rPr>
                        <a:t>割合</a:t>
                      </a:r>
                      <a:endParaRPr lang="ja-JP" sz="1600" kern="100" dirty="0">
                        <a:effectLst/>
                        <a:latin typeface="BIZ UDPゴシック" panose="020B0400000000000000" pitchFamily="50" charset="-128"/>
                        <a:ea typeface="BIZ UDPゴシック" panose="020B0400000000000000" pitchFamily="50" charset="-128"/>
                        <a:cs typeface="Times New Roman" panose="02020603050405020304" pitchFamily="18" charset="0"/>
                      </a:endParaRPr>
                    </a:p>
                  </a:txBody>
                  <a:tcPr marL="68580" marR="68580" marT="0" marB="0" anchor="ctr"/>
                </a:tc>
                <a:tc>
                  <a:txBody>
                    <a:bodyPr/>
                    <a:lstStyle/>
                    <a:p>
                      <a:pPr marL="0" algn="ctr">
                        <a:lnSpc>
                          <a:spcPct val="150000"/>
                        </a:lnSpc>
                        <a:buNone/>
                      </a:pPr>
                      <a:r>
                        <a:rPr lang="en-US" altLang="ja-JP" sz="2000" kern="100" dirty="0">
                          <a:effectLst/>
                          <a:latin typeface="メイリオ" panose="020B0604030504040204" pitchFamily="50" charset="-128"/>
                          <a:ea typeface="游明朝" panose="02020400000000000000" pitchFamily="18" charset="-128"/>
                          <a:cs typeface="Times New Roman" panose="02020603050405020304" pitchFamily="18" charset="0"/>
                        </a:rPr>
                        <a:t>0.026</a:t>
                      </a:r>
                    </a:p>
                  </a:txBody>
                  <a:tcPr marL="68580" marR="68580" marT="0" marB="0" anchor="ctr"/>
                </a:tc>
                <a:tc>
                  <a:txBody>
                    <a:bodyPr/>
                    <a:lstStyle/>
                    <a:p>
                      <a:pPr marL="0" algn="ctr">
                        <a:lnSpc>
                          <a:spcPct val="150000"/>
                        </a:lnSpc>
                        <a:buNone/>
                      </a:pPr>
                      <a:r>
                        <a:rPr lang="en-US" altLang="ja-JP" sz="2000" kern="100" dirty="0">
                          <a:effectLst/>
                          <a:latin typeface="メイリオ" panose="020B0604030504040204" pitchFamily="50" charset="-128"/>
                          <a:ea typeface="游明朝" panose="02020400000000000000" pitchFamily="18" charset="-128"/>
                          <a:cs typeface="Times New Roman" panose="02020603050405020304" pitchFamily="18" charset="0"/>
                        </a:rPr>
                        <a:t>0</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en-US" altLang="ja-JP" sz="2000" b="1" kern="100" dirty="0">
                          <a:solidFill>
                            <a:srgbClr val="0070C0"/>
                          </a:solidFill>
                          <a:effectLst/>
                          <a:latin typeface="メイリオ" panose="020B0604030504040204" pitchFamily="50" charset="-128"/>
                          <a:ea typeface="游明朝" panose="02020400000000000000" pitchFamily="18" charset="-128"/>
                          <a:cs typeface="Times New Roman" panose="02020603050405020304" pitchFamily="18" charset="0"/>
                        </a:rPr>
                        <a:t>-0.026</a:t>
                      </a:r>
                      <a:endParaRPr lang="ja-JP" sz="2000" b="1" kern="100" dirty="0">
                        <a:solidFill>
                          <a:srgbClr val="0070C0"/>
                        </a:solidFill>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04338535"/>
                  </a:ext>
                </a:extLst>
              </a:tr>
              <a:tr h="485671">
                <a:tc>
                  <a:txBody>
                    <a:bodyPr/>
                    <a:lstStyle/>
                    <a:p>
                      <a:pPr marL="0" algn="ctr">
                        <a:lnSpc>
                          <a:spcPct val="100000"/>
                        </a:lnSpc>
                        <a:buNone/>
                      </a:pPr>
                      <a:r>
                        <a:rPr lang="ja-JP" sz="1600" kern="100" dirty="0">
                          <a:effectLst/>
                          <a:latin typeface="BIZ UDPゴシック" panose="020B0400000000000000" pitchFamily="50" charset="-128"/>
                          <a:ea typeface="BIZ UDPゴシック" panose="020B0400000000000000" pitchFamily="50" charset="-128"/>
                        </a:rPr>
                        <a:t>動作の誤認</a:t>
                      </a:r>
                      <a:r>
                        <a:rPr lang="ja-JP" altLang="en-US" sz="1600" kern="100" dirty="0">
                          <a:effectLst/>
                          <a:latin typeface="BIZ UDPゴシック" panose="020B0400000000000000" pitchFamily="50" charset="-128"/>
                          <a:ea typeface="BIZ UDPゴシック" panose="020B0400000000000000" pitchFamily="50" charset="-128"/>
                        </a:rPr>
                        <a:t>割合</a:t>
                      </a:r>
                      <a:endParaRPr lang="ja-JP" sz="1600" kern="100" dirty="0">
                        <a:effectLst/>
                        <a:latin typeface="BIZ UDPゴシック" panose="020B0400000000000000" pitchFamily="50" charset="-128"/>
                        <a:ea typeface="BIZ UDPゴシック" panose="020B0400000000000000" pitchFamily="50" charset="-128"/>
                        <a:cs typeface="Times New Roman" panose="02020603050405020304" pitchFamily="18" charset="0"/>
                      </a:endParaRPr>
                    </a:p>
                  </a:txBody>
                  <a:tcPr marL="68580" marR="68580" marT="0" marB="0" anchor="ctr"/>
                </a:tc>
                <a:tc>
                  <a:txBody>
                    <a:bodyPr/>
                    <a:lstStyle/>
                    <a:p>
                      <a:pPr marL="0" algn="ctr">
                        <a:lnSpc>
                          <a:spcPct val="150000"/>
                        </a:lnSpc>
                        <a:buNone/>
                      </a:pPr>
                      <a:r>
                        <a:rPr lang="en-US" altLang="ja-JP" sz="2000" kern="100" dirty="0">
                          <a:effectLst/>
                          <a:latin typeface="メイリオ" panose="020B0604030504040204" pitchFamily="50" charset="-128"/>
                          <a:ea typeface="游明朝" panose="02020400000000000000" pitchFamily="18" charset="-128"/>
                          <a:cs typeface="Times New Roman" panose="02020603050405020304" pitchFamily="18" charset="0"/>
                        </a:rPr>
                        <a:t>0.026</a:t>
                      </a:r>
                    </a:p>
                  </a:txBody>
                  <a:tcPr marL="68580" marR="68580" marT="0" marB="0" anchor="ctr"/>
                </a:tc>
                <a:tc>
                  <a:txBody>
                    <a:bodyPr/>
                    <a:lstStyle/>
                    <a:p>
                      <a:pPr marL="0" algn="ctr">
                        <a:lnSpc>
                          <a:spcPct val="150000"/>
                        </a:lnSpc>
                        <a:buNone/>
                      </a:pPr>
                      <a:r>
                        <a:rPr lang="en-US" altLang="ja-JP" sz="2000" kern="100" dirty="0">
                          <a:effectLst/>
                          <a:latin typeface="メイリオ" panose="020B0604030504040204" pitchFamily="50" charset="-128"/>
                          <a:ea typeface="游明朝" panose="02020400000000000000" pitchFamily="18" charset="-128"/>
                          <a:cs typeface="Times New Roman" panose="02020603050405020304" pitchFamily="18" charset="0"/>
                        </a:rPr>
                        <a:t>0.024</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en-US" altLang="ja-JP" sz="2000" b="1" kern="100" dirty="0">
                          <a:effectLst/>
                          <a:latin typeface="メイリオ" panose="020B0604030504040204" pitchFamily="50" charset="-128"/>
                          <a:ea typeface="游明朝" panose="02020400000000000000" pitchFamily="18" charset="-128"/>
                          <a:cs typeface="Times New Roman" panose="02020603050405020304" pitchFamily="18" charset="0"/>
                        </a:rPr>
                        <a:t>0.002</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498377532"/>
                  </a:ext>
                </a:extLst>
              </a:tr>
              <a:tr h="485671">
                <a:tc>
                  <a:txBody>
                    <a:bodyPr/>
                    <a:lstStyle/>
                    <a:p>
                      <a:pPr marL="0" algn="ctr">
                        <a:lnSpc>
                          <a:spcPct val="100000"/>
                        </a:lnSpc>
                        <a:buNone/>
                      </a:pPr>
                      <a:r>
                        <a:rPr lang="ja-JP" sz="1600" kern="100" dirty="0">
                          <a:effectLst/>
                          <a:latin typeface="BIZ UDPゴシック" panose="020B0400000000000000" pitchFamily="50" charset="-128"/>
                          <a:ea typeface="BIZ UDPゴシック" panose="020B0400000000000000" pitchFamily="50" charset="-128"/>
                        </a:rPr>
                        <a:t>音の誤認</a:t>
                      </a:r>
                      <a:r>
                        <a:rPr lang="ja-JP" altLang="en-US" sz="1600" kern="100" dirty="0">
                          <a:effectLst/>
                          <a:latin typeface="BIZ UDPゴシック" panose="020B0400000000000000" pitchFamily="50" charset="-128"/>
                          <a:ea typeface="BIZ UDPゴシック" panose="020B0400000000000000" pitchFamily="50" charset="-128"/>
                        </a:rPr>
                        <a:t>割合</a:t>
                      </a:r>
                      <a:endParaRPr lang="ja-JP" sz="1600" kern="100" dirty="0">
                        <a:effectLst/>
                        <a:latin typeface="BIZ UDPゴシック" panose="020B0400000000000000" pitchFamily="50" charset="-128"/>
                        <a:ea typeface="BIZ UDPゴシック" panose="020B0400000000000000" pitchFamily="50" charset="-128"/>
                        <a:cs typeface="Times New Roman" panose="02020603050405020304" pitchFamily="18" charset="0"/>
                      </a:endParaRPr>
                    </a:p>
                  </a:txBody>
                  <a:tcPr marL="68580" marR="68580" marT="0" marB="0" anchor="ctr"/>
                </a:tc>
                <a:tc>
                  <a:txBody>
                    <a:bodyPr/>
                    <a:lstStyle/>
                    <a:p>
                      <a:pPr marL="0" algn="ctr">
                        <a:lnSpc>
                          <a:spcPct val="150000"/>
                        </a:lnSpc>
                        <a:buNone/>
                      </a:pPr>
                      <a:r>
                        <a:rPr lang="en-US" altLang="ja-JP" sz="2000" kern="100" dirty="0">
                          <a:effectLst/>
                          <a:latin typeface="メイリオ" panose="020B0604030504040204" pitchFamily="50" charset="-128"/>
                          <a:ea typeface="游明朝" panose="02020400000000000000" pitchFamily="18" charset="-128"/>
                          <a:cs typeface="Times New Roman" panose="02020603050405020304" pitchFamily="18" charset="0"/>
                        </a:rPr>
                        <a:t>0.013</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en-US" altLang="ja-JP" sz="2000" kern="100" dirty="0">
                          <a:effectLst/>
                          <a:latin typeface="メイリオ" panose="020B0604030504040204" pitchFamily="50" charset="-128"/>
                          <a:ea typeface="游明朝" panose="02020400000000000000" pitchFamily="18" charset="-128"/>
                          <a:cs typeface="Times New Roman" panose="02020603050405020304" pitchFamily="18" charset="0"/>
                        </a:rPr>
                        <a:t>0.024</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marL="0" algn="ctr">
                        <a:lnSpc>
                          <a:spcPct val="150000"/>
                        </a:lnSpc>
                        <a:buNone/>
                      </a:pPr>
                      <a:r>
                        <a:rPr lang="ja-JP" altLang="en-US" sz="2000" b="1" kern="100" dirty="0">
                          <a:solidFill>
                            <a:srgbClr val="FF0000"/>
                          </a:solidFill>
                          <a:effectLst/>
                          <a:latin typeface="メイリオ" panose="020B0604030504040204" pitchFamily="50" charset="-128"/>
                          <a:ea typeface="メイリオ" panose="020B0604030504040204" pitchFamily="50" charset="-128"/>
                          <a:cs typeface="Times New Roman" panose="02020603050405020304" pitchFamily="18" charset="0"/>
                        </a:rPr>
                        <a:t>＋</a:t>
                      </a:r>
                      <a:r>
                        <a:rPr lang="en-US" altLang="ja-JP" sz="2000" b="1" kern="100" dirty="0">
                          <a:solidFill>
                            <a:srgbClr val="FF0000"/>
                          </a:solidFill>
                          <a:effectLst/>
                          <a:latin typeface="メイリオ" panose="020B0604030504040204" pitchFamily="50" charset="-128"/>
                          <a:ea typeface="メイリオ" panose="020B0604030504040204" pitchFamily="50" charset="-128"/>
                          <a:cs typeface="Times New Roman" panose="02020603050405020304" pitchFamily="18" charset="0"/>
                        </a:rPr>
                        <a:t>0.011</a:t>
                      </a:r>
                      <a:endParaRPr lang="ja-JP" sz="2000" b="1" kern="100" dirty="0">
                        <a:solidFill>
                          <a:srgbClr val="FF0000"/>
                        </a:solidFill>
                        <a:effectLst/>
                        <a:latin typeface="メイリオ" panose="020B0604030504040204" pitchFamily="50" charset="-128"/>
                        <a:ea typeface="メイリオ" panose="020B0604030504040204" pitchFamily="50"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0897015"/>
                  </a:ext>
                </a:extLst>
              </a:tr>
            </a:tbl>
          </a:graphicData>
        </a:graphic>
      </p:graphicFrame>
      <p:sp>
        <p:nvSpPr>
          <p:cNvPr id="7" name="スライド番号プレースホルダー 6">
            <a:extLst>
              <a:ext uri="{FF2B5EF4-FFF2-40B4-BE49-F238E27FC236}">
                <a16:creationId xmlns:a16="http://schemas.microsoft.com/office/drawing/2014/main" id="{124A1EF4-8445-3D72-7E57-4E746339C0C3}"/>
              </a:ext>
            </a:extLst>
          </p:cNvPr>
          <p:cNvSpPr>
            <a:spLocks noGrp="1"/>
          </p:cNvSpPr>
          <p:nvPr>
            <p:ph type="sldNum" sz="quarter" idx="12"/>
          </p:nvPr>
        </p:nvSpPr>
        <p:spPr/>
        <p:txBody>
          <a:bodyPr/>
          <a:lstStyle/>
          <a:p>
            <a:fld id="{8213A850-EEC5-482E-871C-F91D51FCFBE2}" type="slidenum">
              <a:rPr kumimoji="1" lang="ja-JP" altLang="en-US" smtClean="0"/>
              <a:t>23</a:t>
            </a:fld>
            <a:endParaRPr kumimoji="1" lang="ja-JP" altLang="en-US"/>
          </a:p>
        </p:txBody>
      </p:sp>
      <p:sp>
        <p:nvSpPr>
          <p:cNvPr id="8" name="タイトル 1">
            <a:extLst>
              <a:ext uri="{FF2B5EF4-FFF2-40B4-BE49-F238E27FC236}">
                <a16:creationId xmlns:a16="http://schemas.microsoft.com/office/drawing/2014/main" id="{479CE4A0-E620-BFB9-5B4B-BDECC406ECF9}"/>
              </a:ext>
            </a:extLst>
          </p:cNvPr>
          <p:cNvSpPr>
            <a:spLocks noGrp="1"/>
          </p:cNvSpPr>
          <p:nvPr>
            <p:ph type="title"/>
          </p:nvPr>
        </p:nvSpPr>
        <p:spPr>
          <a:xfrm>
            <a:off x="838200" y="365125"/>
            <a:ext cx="10515600" cy="1325563"/>
          </a:xfrm>
        </p:spPr>
        <p:txBody>
          <a:bodyPr/>
          <a:lstStyle/>
          <a:p>
            <a:pPr marL="914400" indent="-914400">
              <a:buFont typeface="+mj-lt"/>
              <a:buAutoNum type="arabicPeriod" startAt="8"/>
            </a:pPr>
            <a:r>
              <a:rPr lang="ja-JP" altLang="en-US" dirty="0"/>
              <a:t>評価実験</a:t>
            </a:r>
            <a:endParaRPr kumimoji="1" lang="ja-JP" altLang="en-US" dirty="0"/>
          </a:p>
        </p:txBody>
      </p:sp>
      <p:sp>
        <p:nvSpPr>
          <p:cNvPr id="6" name="正方形/長方形 5">
            <a:extLst>
              <a:ext uri="{FF2B5EF4-FFF2-40B4-BE49-F238E27FC236}">
                <a16:creationId xmlns:a16="http://schemas.microsoft.com/office/drawing/2014/main" id="{3159DE0F-F9CF-B6C1-BCBA-1151A3C41C72}"/>
              </a:ext>
            </a:extLst>
          </p:cNvPr>
          <p:cNvSpPr/>
          <p:nvPr/>
        </p:nvSpPr>
        <p:spPr>
          <a:xfrm>
            <a:off x="9432556" y="2226559"/>
            <a:ext cx="1111919" cy="36023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28BF1032-5D09-BBF4-A2F5-4D019B872836}"/>
              </a:ext>
            </a:extLst>
          </p:cNvPr>
          <p:cNvSpPr/>
          <p:nvPr/>
        </p:nvSpPr>
        <p:spPr>
          <a:xfrm>
            <a:off x="9426240" y="3194005"/>
            <a:ext cx="1111919" cy="36023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28154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57F10-50ED-59A5-5A8C-960F01C4B894}"/>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6345F15-6841-87E0-B99B-1BB1AF56DA8E}"/>
              </a:ext>
            </a:extLst>
          </p:cNvPr>
          <p:cNvSpPr>
            <a:spLocks noGrp="1"/>
          </p:cNvSpPr>
          <p:nvPr>
            <p:ph idx="1"/>
          </p:nvPr>
        </p:nvSpPr>
        <p:spPr/>
        <p:txBody>
          <a:bodyPr>
            <a:normAutofit fontScale="92500" lnSpcReduction="10000"/>
          </a:body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sz="3000" b="1" i="0" u="none" strike="noStrike" kern="1200" cap="none" spc="0" normalizeH="0" baseline="0" noProof="0" dirty="0">
                <a:ln>
                  <a:noFill/>
                </a:ln>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ffectLst/>
                <a:uLnTx/>
                <a:uFillTx/>
                <a:latin typeface="メイリオ" panose="020B0604030504040204" pitchFamily="50" charset="-128"/>
                <a:ea typeface="メイリオ" panose="020B0604030504040204" pitchFamily="50" charset="-128"/>
                <a:cs typeface="+mn-cs"/>
              </a:rPr>
              <a:t>考察</a:t>
            </a:r>
            <a:r>
              <a:rPr kumimoji="1" lang="en-US" altLang="ja-JP" sz="3000" b="1" i="0" u="none" strike="noStrike" kern="1200" cap="none" spc="0" normalizeH="0" baseline="0" noProof="0" dirty="0">
                <a:ln>
                  <a:noFill/>
                </a:ln>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ffectLst/>
                <a:uLnTx/>
                <a:uFillTx/>
                <a:latin typeface="メイリオ" panose="020B0604030504040204" pitchFamily="50" charset="-128"/>
                <a:ea typeface="メイリオ" panose="020B0604030504040204" pitchFamily="50" charset="-128"/>
                <a:cs typeface="+mn-cs"/>
              </a:rPr>
              <a:t>(</a:t>
            </a:r>
            <a:r>
              <a:rPr kumimoji="1" lang="ja-JP" altLang="en-US" sz="3000" b="1" i="0" u="none" strike="noStrike" kern="1200" cap="none" spc="0" normalizeH="0" baseline="0" noProof="0" dirty="0">
                <a:ln>
                  <a:noFill/>
                </a:ln>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ffectLst/>
                <a:uLnTx/>
                <a:uFillTx/>
                <a:latin typeface="メイリオ" panose="020B0604030504040204" pitchFamily="50" charset="-128"/>
                <a:ea typeface="メイリオ" panose="020B0604030504040204" pitchFamily="50" charset="-128"/>
                <a:cs typeface="+mn-cs"/>
              </a:rPr>
              <a:t>検出精度，記述精度</a:t>
            </a:r>
            <a:r>
              <a:rPr kumimoji="1" lang="en-US" altLang="ja-JP" sz="3000" b="1" i="0" u="none" strike="noStrike" kern="1200" cap="none" spc="0" normalizeH="0" baseline="0" noProof="0" dirty="0">
                <a:ln>
                  <a:noFill/>
                </a:ln>
                <a:gradFill>
                  <a:gsLst>
                    <a:gs pos="15000">
                      <a:srgbClr val="94D7E4"/>
                    </a:gs>
                    <a:gs pos="73000">
                      <a:srgbClr val="94D7E4">
                        <a:lumMod val="60000"/>
                        <a:lumOff val="40000"/>
                      </a:srgbClr>
                    </a:gs>
                    <a:gs pos="0">
                      <a:srgbClr val="94D7E4">
                        <a:lumMod val="90000"/>
                        <a:lumOff val="10000"/>
                      </a:srgbClr>
                    </a:gs>
                    <a:gs pos="100000">
                      <a:srgbClr val="94D7E4">
                        <a:lumMod val="0"/>
                        <a:lumOff val="100000"/>
                      </a:srgbClr>
                    </a:gs>
                  </a:gsLst>
                  <a:lin ang="16200000" scaled="1"/>
                </a:gradFill>
                <a:effectLst/>
                <a:uLnTx/>
                <a:uFillTx/>
                <a:latin typeface="メイリオ" panose="020B0604030504040204" pitchFamily="50" charset="-128"/>
                <a:ea typeface="メイリオ" panose="020B0604030504040204" pitchFamily="50" charset="-128"/>
                <a:cs typeface="+mn-cs"/>
              </a:rPr>
              <a:t>)</a:t>
            </a:r>
            <a:endParaRPr lang="en-US" altLang="ja-JP" sz="3000" b="1" dirty="0"/>
          </a:p>
          <a:p>
            <a:pPr marL="0" indent="0">
              <a:lnSpc>
                <a:spcPct val="110000"/>
              </a:lnSpc>
              <a:buNone/>
            </a:pPr>
            <a:r>
              <a:rPr kumimoji="1" lang="ja-JP" altLang="en-US" dirty="0"/>
              <a:t>検出漏れ率が</a:t>
            </a:r>
            <a:r>
              <a:rPr kumimoji="1" lang="en-US" altLang="ja-JP" b="1" dirty="0">
                <a:solidFill>
                  <a:srgbClr val="FFFF00"/>
                </a:solidFill>
              </a:rPr>
              <a:t>14.3%</a:t>
            </a:r>
            <a:r>
              <a:rPr kumimoji="1" lang="ja-JP" altLang="en-US" b="1" dirty="0">
                <a:solidFill>
                  <a:srgbClr val="FFFF00"/>
                </a:solidFill>
              </a:rPr>
              <a:t>→</a:t>
            </a:r>
            <a:r>
              <a:rPr kumimoji="1" lang="en-US" altLang="ja-JP" b="1" dirty="0">
                <a:solidFill>
                  <a:srgbClr val="FFFF00"/>
                </a:solidFill>
              </a:rPr>
              <a:t>9.9%</a:t>
            </a:r>
            <a:br>
              <a:rPr kumimoji="1" lang="en-US" altLang="ja-JP" b="1" dirty="0">
                <a:solidFill>
                  <a:srgbClr val="FFFF00"/>
                </a:solidFill>
              </a:rPr>
            </a:br>
            <a:r>
              <a:rPr lang="ja-JP" altLang="en-US" dirty="0"/>
              <a:t>➡わずかに検出漏れの割合が改善する傾向が見られた</a:t>
            </a:r>
            <a:endParaRPr lang="en-US" altLang="ja-JP" dirty="0"/>
          </a:p>
          <a:p>
            <a:pPr>
              <a:lnSpc>
                <a:spcPct val="110000"/>
              </a:lnSpc>
            </a:pPr>
            <a:r>
              <a:rPr kumimoji="1" lang="ja-JP" altLang="en-US" dirty="0"/>
              <a:t>特定の環境下において音響データをイベントの対応付けに関して，</a:t>
            </a:r>
            <a:br>
              <a:rPr kumimoji="1" lang="en-US" altLang="ja-JP" dirty="0"/>
            </a:br>
            <a:r>
              <a:rPr kumimoji="1" lang="ja-JP" altLang="en-US" dirty="0"/>
              <a:t>ベースモデルよりやや強く学習した可能性</a:t>
            </a:r>
            <a:endParaRPr kumimoji="1" lang="en-US" altLang="ja-JP" dirty="0"/>
          </a:p>
          <a:p>
            <a:pPr marL="0" indent="0">
              <a:lnSpc>
                <a:spcPct val="110000"/>
              </a:lnSpc>
              <a:buNone/>
            </a:pPr>
            <a:r>
              <a:rPr lang="ja-JP" altLang="en-US" dirty="0"/>
              <a:t>不正解率が</a:t>
            </a:r>
            <a:r>
              <a:rPr lang="en-US" altLang="ja-JP" b="1" dirty="0"/>
              <a:t>38.5%</a:t>
            </a:r>
            <a:r>
              <a:rPr lang="ja-JP" altLang="en-US" b="1" dirty="0"/>
              <a:t>→</a:t>
            </a:r>
            <a:r>
              <a:rPr lang="en-US" altLang="ja-JP" b="1" dirty="0"/>
              <a:t>35.4%</a:t>
            </a:r>
          </a:p>
          <a:p>
            <a:pPr>
              <a:lnSpc>
                <a:spcPct val="110000"/>
              </a:lnSpc>
            </a:pPr>
            <a:r>
              <a:rPr lang="ja-JP" altLang="en-US" dirty="0"/>
              <a:t>両モデルともに動作誤認数が多い結果となった</a:t>
            </a:r>
            <a:endParaRPr lang="en-US" altLang="ja-JP" dirty="0"/>
          </a:p>
          <a:p>
            <a:pPr>
              <a:lnSpc>
                <a:spcPct val="110000"/>
              </a:lnSpc>
            </a:pPr>
            <a:r>
              <a:rPr lang="ja-JP" altLang="en-US" dirty="0"/>
              <a:t>記述の軽微なニュアンス等の違いによって正誤が分かれた事例もあり，強い改善傾向があるとは言い切れない</a:t>
            </a:r>
            <a:endParaRPr lang="en-US" altLang="ja-JP" dirty="0"/>
          </a:p>
        </p:txBody>
      </p:sp>
      <p:sp>
        <p:nvSpPr>
          <p:cNvPr id="4" name="スライド番号プレースホルダー 3">
            <a:extLst>
              <a:ext uri="{FF2B5EF4-FFF2-40B4-BE49-F238E27FC236}">
                <a16:creationId xmlns:a16="http://schemas.microsoft.com/office/drawing/2014/main" id="{50C00C57-3E7E-1CB0-C973-61AD707CE2BF}"/>
              </a:ext>
            </a:extLst>
          </p:cNvPr>
          <p:cNvSpPr>
            <a:spLocks noGrp="1"/>
          </p:cNvSpPr>
          <p:nvPr>
            <p:ph type="sldNum" sz="quarter" idx="12"/>
          </p:nvPr>
        </p:nvSpPr>
        <p:spPr/>
        <p:txBody>
          <a:bodyPr/>
          <a:lstStyle/>
          <a:p>
            <a:fld id="{8213A850-EEC5-482E-871C-F91D51FCFBE2}" type="slidenum">
              <a:rPr kumimoji="1" lang="ja-JP" altLang="en-US" smtClean="0"/>
              <a:t>24</a:t>
            </a:fld>
            <a:endParaRPr kumimoji="1" lang="ja-JP" altLang="en-US"/>
          </a:p>
        </p:txBody>
      </p:sp>
      <p:sp>
        <p:nvSpPr>
          <p:cNvPr id="7" name="タイトル 1">
            <a:extLst>
              <a:ext uri="{FF2B5EF4-FFF2-40B4-BE49-F238E27FC236}">
                <a16:creationId xmlns:a16="http://schemas.microsoft.com/office/drawing/2014/main" id="{F55B12EE-5B10-8E02-BA10-C88E6FC07E44}"/>
              </a:ext>
            </a:extLst>
          </p:cNvPr>
          <p:cNvSpPr>
            <a:spLocks noGrp="1"/>
          </p:cNvSpPr>
          <p:nvPr>
            <p:ph type="title"/>
          </p:nvPr>
        </p:nvSpPr>
        <p:spPr>
          <a:xfrm>
            <a:off x="838200" y="365125"/>
            <a:ext cx="10515600" cy="1325563"/>
          </a:xfrm>
        </p:spPr>
        <p:txBody>
          <a:bodyPr/>
          <a:lstStyle/>
          <a:p>
            <a:pPr marL="914400" indent="-914400">
              <a:buFont typeface="+mj-lt"/>
              <a:buAutoNum type="arabicPeriod" startAt="8"/>
            </a:pPr>
            <a:r>
              <a:rPr lang="ja-JP" altLang="en-US" dirty="0"/>
              <a:t>評価実験</a:t>
            </a:r>
            <a:endParaRPr kumimoji="1" lang="ja-JP" altLang="en-US" dirty="0"/>
          </a:p>
        </p:txBody>
      </p:sp>
    </p:spTree>
    <p:extLst>
      <p:ext uri="{BB962C8B-B14F-4D97-AF65-F5344CB8AC3E}">
        <p14:creationId xmlns:p14="http://schemas.microsoft.com/office/powerpoint/2010/main" val="1498085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C3410-829B-2FD2-0370-9A4928846895}"/>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8AFDC9C-CCDB-CBBC-FAD4-E59A71430E83}"/>
              </a:ext>
            </a:extLst>
          </p:cNvPr>
          <p:cNvSpPr>
            <a:spLocks noGrp="1"/>
          </p:cNvSpPr>
          <p:nvPr>
            <p:ph idx="1"/>
          </p:nvPr>
        </p:nvSpPr>
        <p:spPr/>
        <p:txBody>
          <a:bodyPr>
            <a:normAutofit/>
          </a:bodyPr>
          <a:lstStyle/>
          <a:p>
            <a:pPr>
              <a:lnSpc>
                <a:spcPct val="150000"/>
              </a:lnSpc>
            </a:pPr>
            <a:r>
              <a:rPr kumimoji="1" lang="en-US" altLang="ja-JP" sz="3200" dirty="0"/>
              <a:t>Cloud</a:t>
            </a:r>
            <a:r>
              <a:rPr kumimoji="1" lang="ja-JP" altLang="en-US" sz="3200" dirty="0"/>
              <a:t> </a:t>
            </a:r>
            <a:r>
              <a:rPr kumimoji="1" lang="en-US" altLang="ja-JP" sz="3200" dirty="0"/>
              <a:t>Vision</a:t>
            </a:r>
            <a:r>
              <a:rPr kumimoji="1" lang="ja-JP" altLang="en-US" sz="3200" dirty="0"/>
              <a:t> </a:t>
            </a:r>
            <a:r>
              <a:rPr kumimoji="1" lang="en-US" altLang="ja-JP" sz="3200" dirty="0"/>
              <a:t>API</a:t>
            </a:r>
            <a:r>
              <a:rPr kumimoji="1" lang="ja-JP" altLang="en-US" sz="3200" dirty="0"/>
              <a:t>では，オブジェクトの属性や詳細な情報まで考慮して特定することが不可能</a:t>
            </a:r>
            <a:endParaRPr kumimoji="1" lang="en-US" altLang="ja-JP" sz="3200" dirty="0"/>
          </a:p>
          <a:p>
            <a:pPr>
              <a:lnSpc>
                <a:spcPct val="150000"/>
              </a:lnSpc>
            </a:pPr>
            <a:r>
              <a:rPr lang="en-US" altLang="ja-JP" sz="3200" dirty="0"/>
              <a:t>Gemini</a:t>
            </a:r>
            <a:r>
              <a:rPr lang="ja-JP" altLang="en-US" sz="3200" dirty="0"/>
              <a:t>による意味的一致</a:t>
            </a:r>
            <a:br>
              <a:rPr lang="en-US" altLang="ja-JP" sz="3200" dirty="0"/>
            </a:br>
            <a:r>
              <a:rPr lang="ja-JP" altLang="en-US" sz="3200" dirty="0"/>
              <a:t>➡包含関係が適切に判定されないケースがある</a:t>
            </a:r>
            <a:endParaRPr kumimoji="1" lang="ja-JP" altLang="en-US" sz="3200" dirty="0"/>
          </a:p>
        </p:txBody>
      </p:sp>
      <p:sp>
        <p:nvSpPr>
          <p:cNvPr id="4" name="スライド番号プレースホルダー 3">
            <a:extLst>
              <a:ext uri="{FF2B5EF4-FFF2-40B4-BE49-F238E27FC236}">
                <a16:creationId xmlns:a16="http://schemas.microsoft.com/office/drawing/2014/main" id="{B0BB1706-8881-C088-A5DE-2118993803B3}"/>
              </a:ext>
            </a:extLst>
          </p:cNvPr>
          <p:cNvSpPr>
            <a:spLocks noGrp="1"/>
          </p:cNvSpPr>
          <p:nvPr>
            <p:ph type="sldNum" sz="quarter" idx="12"/>
          </p:nvPr>
        </p:nvSpPr>
        <p:spPr/>
        <p:txBody>
          <a:bodyPr/>
          <a:lstStyle/>
          <a:p>
            <a:fld id="{8213A850-EEC5-482E-871C-F91D51FCFBE2}" type="slidenum">
              <a:rPr kumimoji="1" lang="ja-JP" altLang="en-US" smtClean="0"/>
              <a:t>25</a:t>
            </a:fld>
            <a:endParaRPr kumimoji="1" lang="ja-JP" altLang="en-US"/>
          </a:p>
        </p:txBody>
      </p:sp>
      <p:sp>
        <p:nvSpPr>
          <p:cNvPr id="6" name="タイトル 5">
            <a:extLst>
              <a:ext uri="{FF2B5EF4-FFF2-40B4-BE49-F238E27FC236}">
                <a16:creationId xmlns:a16="http://schemas.microsoft.com/office/drawing/2014/main" id="{42CEF989-14CA-3945-29BE-CB37357388FC}"/>
              </a:ext>
            </a:extLst>
          </p:cNvPr>
          <p:cNvSpPr>
            <a:spLocks noGrp="1"/>
          </p:cNvSpPr>
          <p:nvPr>
            <p:ph type="title"/>
          </p:nvPr>
        </p:nvSpPr>
        <p:spPr/>
        <p:txBody>
          <a:bodyPr/>
          <a:lstStyle/>
          <a:p>
            <a:r>
              <a:rPr lang="ja-JP" altLang="en-US" dirty="0"/>
              <a:t>補足：空間推論の限界</a:t>
            </a:r>
          </a:p>
        </p:txBody>
      </p:sp>
    </p:spTree>
    <p:extLst>
      <p:ext uri="{BB962C8B-B14F-4D97-AF65-F5344CB8AC3E}">
        <p14:creationId xmlns:p14="http://schemas.microsoft.com/office/powerpoint/2010/main" val="1761041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6F636-35D9-3723-636E-259C20F722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B3DE8B-7C43-3043-903D-981D16D59C50}"/>
              </a:ext>
            </a:extLst>
          </p:cNvPr>
          <p:cNvSpPr>
            <a:spLocks noGrp="1"/>
          </p:cNvSpPr>
          <p:nvPr>
            <p:ph type="title"/>
          </p:nvPr>
        </p:nvSpPr>
        <p:spPr/>
        <p:txBody>
          <a:bodyPr/>
          <a:lstStyle/>
          <a:p>
            <a:pPr marL="914400" indent="-914400">
              <a:buFont typeface="+mj-lt"/>
              <a:buAutoNum type="arabicPeriod" startAt="9"/>
            </a:pPr>
            <a:r>
              <a:rPr lang="ja-JP" altLang="en-US" dirty="0"/>
              <a:t>今後の展望</a:t>
            </a:r>
            <a:endParaRPr kumimoji="1" lang="ja-JP" altLang="en-US" dirty="0"/>
          </a:p>
        </p:txBody>
      </p:sp>
      <p:sp>
        <p:nvSpPr>
          <p:cNvPr id="3" name="コンテンツ プレースホルダー 2">
            <a:extLst>
              <a:ext uri="{FF2B5EF4-FFF2-40B4-BE49-F238E27FC236}">
                <a16:creationId xmlns:a16="http://schemas.microsoft.com/office/drawing/2014/main" id="{59990EB9-2089-BE8C-9067-8B3513689CC6}"/>
              </a:ext>
            </a:extLst>
          </p:cNvPr>
          <p:cNvSpPr>
            <a:spLocks noGrp="1"/>
          </p:cNvSpPr>
          <p:nvPr>
            <p:ph idx="1"/>
          </p:nvPr>
        </p:nvSpPr>
        <p:spPr>
          <a:xfrm>
            <a:off x="1120000" y="1825625"/>
            <a:ext cx="10614800" cy="4351338"/>
          </a:xfrm>
        </p:spPr>
        <p:txBody>
          <a:bodyPr>
            <a:normAutofit lnSpcReduction="10000"/>
          </a:bodyPr>
          <a:lstStyle/>
          <a:p>
            <a:pPr>
              <a:lnSpc>
                <a:spcPct val="100000"/>
              </a:lnSpc>
            </a:pPr>
            <a:r>
              <a:rPr kumimoji="1" lang="ja-JP" altLang="en-US" sz="2900" dirty="0"/>
              <a:t>座標学習の導入：</a:t>
            </a:r>
            <a:br>
              <a:rPr kumimoji="1" lang="en-US" altLang="ja-JP" sz="2900" dirty="0"/>
            </a:br>
            <a:r>
              <a:rPr kumimoji="1" lang="en-US" altLang="ja-JP" sz="2900" dirty="0"/>
              <a:t>Gemini</a:t>
            </a:r>
            <a:r>
              <a:rPr kumimoji="1" lang="ja-JP" altLang="en-US" sz="2900" dirty="0"/>
              <a:t> </a:t>
            </a:r>
            <a:r>
              <a:rPr kumimoji="1" lang="en-US" altLang="ja-JP" sz="2900" dirty="0"/>
              <a:t>2.5</a:t>
            </a:r>
            <a:r>
              <a:rPr kumimoji="1" lang="ja-JP" altLang="en-US" sz="2900" dirty="0"/>
              <a:t> に対し，特定フレームにおける座標を学習させる</a:t>
            </a:r>
            <a:br>
              <a:rPr kumimoji="1" lang="en-US" altLang="ja-JP" sz="2900" dirty="0"/>
            </a:br>
            <a:r>
              <a:rPr kumimoji="1" lang="ja-JP" altLang="en-US" sz="2900" dirty="0"/>
              <a:t>ことでオブジェクトの認識精度自体を向上させる</a:t>
            </a:r>
            <a:br>
              <a:rPr kumimoji="1" lang="en-US" altLang="ja-JP" sz="2900" dirty="0"/>
            </a:br>
            <a:r>
              <a:rPr kumimoji="1" lang="ja-JP" altLang="en-US" sz="2900" dirty="0"/>
              <a:t>➡空間定位の精度にも繋げる</a:t>
            </a:r>
            <a:endParaRPr kumimoji="1" lang="en-US" altLang="ja-JP" sz="2900" dirty="0"/>
          </a:p>
          <a:p>
            <a:pPr>
              <a:lnSpc>
                <a:spcPct val="100000"/>
              </a:lnSpc>
            </a:pPr>
            <a:r>
              <a:rPr lang="en-US" altLang="ja-JP" sz="2900" dirty="0"/>
              <a:t>GPT-4o</a:t>
            </a:r>
            <a:r>
              <a:rPr lang="ja-JP" altLang="en-US" sz="2900" dirty="0"/>
              <a:t>等，他の</a:t>
            </a:r>
            <a:r>
              <a:rPr lang="en-US" altLang="ja-JP" sz="2900" dirty="0"/>
              <a:t>MLLM</a:t>
            </a:r>
            <a:r>
              <a:rPr lang="ja-JP" altLang="en-US" sz="2900" dirty="0"/>
              <a:t>モデルとの性能比較</a:t>
            </a:r>
            <a:endParaRPr lang="en-US" altLang="ja-JP" sz="2900" dirty="0"/>
          </a:p>
          <a:p>
            <a:r>
              <a:rPr kumimoji="1" lang="ja-JP" altLang="en-US" sz="2900" dirty="0"/>
              <a:t>学習パラメータを変化させて検証</a:t>
            </a:r>
            <a:endParaRPr kumimoji="1" lang="en-US" altLang="ja-JP" sz="2900" dirty="0"/>
          </a:p>
          <a:p>
            <a:pPr>
              <a:lnSpc>
                <a:spcPct val="100000"/>
              </a:lnSpc>
            </a:pPr>
            <a:r>
              <a:rPr lang="ja-JP" altLang="en-US" sz="2900" dirty="0"/>
              <a:t>異なる環境下で実験し，ドメイン特化モデルとしての</a:t>
            </a:r>
            <a:br>
              <a:rPr lang="en-US" altLang="ja-JP" sz="2900" dirty="0"/>
            </a:br>
            <a:r>
              <a:rPr lang="ja-JP" altLang="en-US" sz="2900" dirty="0"/>
              <a:t>性能を検証</a:t>
            </a:r>
            <a:endParaRPr lang="en-US" altLang="ja-JP" sz="2900" dirty="0"/>
          </a:p>
          <a:p>
            <a:pPr>
              <a:lnSpc>
                <a:spcPct val="100000"/>
              </a:lnSpc>
            </a:pPr>
            <a:r>
              <a:rPr lang="ja-JP" altLang="en-US" sz="2900" dirty="0"/>
              <a:t>教師データと評価データの動画サンプルの追加</a:t>
            </a:r>
            <a:endParaRPr lang="en-US" altLang="ja-JP" sz="2900" dirty="0"/>
          </a:p>
        </p:txBody>
      </p:sp>
      <p:sp>
        <p:nvSpPr>
          <p:cNvPr id="4" name="スライド番号プレースホルダー 3">
            <a:extLst>
              <a:ext uri="{FF2B5EF4-FFF2-40B4-BE49-F238E27FC236}">
                <a16:creationId xmlns:a16="http://schemas.microsoft.com/office/drawing/2014/main" id="{8B865050-32E2-CBD8-4BC6-4C5D1F74EEA6}"/>
              </a:ext>
            </a:extLst>
          </p:cNvPr>
          <p:cNvSpPr>
            <a:spLocks noGrp="1"/>
          </p:cNvSpPr>
          <p:nvPr>
            <p:ph type="sldNum" sz="quarter" idx="12"/>
          </p:nvPr>
        </p:nvSpPr>
        <p:spPr/>
        <p:txBody>
          <a:bodyPr/>
          <a:lstStyle/>
          <a:p>
            <a:fld id="{8213A850-EEC5-482E-871C-F91D51FCFBE2}" type="slidenum">
              <a:rPr kumimoji="1" lang="ja-JP" altLang="en-US" smtClean="0"/>
              <a:t>26</a:t>
            </a:fld>
            <a:endParaRPr kumimoji="1" lang="ja-JP" altLang="en-US"/>
          </a:p>
        </p:txBody>
      </p:sp>
    </p:spTree>
    <p:extLst>
      <p:ext uri="{BB962C8B-B14F-4D97-AF65-F5344CB8AC3E}">
        <p14:creationId xmlns:p14="http://schemas.microsoft.com/office/powerpoint/2010/main" val="1296623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F449EF-C660-9CE2-6947-3549E0943E13}"/>
              </a:ext>
            </a:extLst>
          </p:cNvPr>
          <p:cNvSpPr>
            <a:spLocks noGrp="1"/>
          </p:cNvSpPr>
          <p:nvPr>
            <p:ph type="title"/>
          </p:nvPr>
        </p:nvSpPr>
        <p:spPr/>
        <p:txBody>
          <a:bodyPr/>
          <a:lstStyle/>
          <a:p>
            <a:r>
              <a:rPr kumimoji="1" lang="ja-JP" altLang="en-US" dirty="0"/>
              <a:t>参考文献</a:t>
            </a:r>
          </a:p>
        </p:txBody>
      </p:sp>
      <p:sp>
        <p:nvSpPr>
          <p:cNvPr id="3" name="コンテンツ プレースホルダー 2">
            <a:extLst>
              <a:ext uri="{FF2B5EF4-FFF2-40B4-BE49-F238E27FC236}">
                <a16:creationId xmlns:a16="http://schemas.microsoft.com/office/drawing/2014/main" id="{BADC6DD6-D63D-283A-623B-70617E593445}"/>
              </a:ext>
            </a:extLst>
          </p:cNvPr>
          <p:cNvSpPr>
            <a:spLocks noGrp="1"/>
          </p:cNvSpPr>
          <p:nvPr>
            <p:ph idx="1"/>
          </p:nvPr>
        </p:nvSpPr>
        <p:spPr>
          <a:xfrm>
            <a:off x="1120000" y="1825625"/>
            <a:ext cx="10515600" cy="4351338"/>
          </a:xfrm>
        </p:spPr>
        <p:txBody>
          <a:bodyPr>
            <a:noAutofit/>
          </a:bodyPr>
          <a:lstStyle/>
          <a:p>
            <a:pPr marL="0" indent="0">
              <a:buNone/>
            </a:pPr>
            <a:r>
              <a:rPr lang="en-US" altLang="ja-JP" sz="1800" dirty="0"/>
              <a:t>(1)IBM'"</a:t>
            </a:r>
            <a:r>
              <a:rPr lang="ja-JP" altLang="en-US" sz="1800" dirty="0"/>
              <a:t>視覚言語モデル（</a:t>
            </a:r>
            <a:r>
              <a:rPr lang="en-US" altLang="ja-JP" sz="1800" dirty="0"/>
              <a:t>VLM</a:t>
            </a:r>
            <a:r>
              <a:rPr lang="ja-JP" altLang="en-US" sz="1800" dirty="0"/>
              <a:t>）とは</a:t>
            </a:r>
            <a:r>
              <a:rPr lang="en-US" altLang="ja-JP" sz="1800" dirty="0"/>
              <a:t>,", vol. 2026, no. Jan 6https://www.ibm.com/jp-ja/think/topics/vision-language-models#318643376.</a:t>
            </a:r>
          </a:p>
          <a:p>
            <a:pPr marL="0" indent="0">
              <a:buNone/>
            </a:pPr>
            <a:r>
              <a:rPr lang="en-US" altLang="ja-JP" sz="1800" dirty="0"/>
              <a:t>(2)</a:t>
            </a:r>
            <a:r>
              <a:rPr lang="en-US" altLang="ja-JP" sz="1800" dirty="0" err="1"/>
              <a:t>Google'"Gemini</a:t>
            </a:r>
            <a:r>
              <a:rPr lang="en-US" altLang="ja-JP" sz="1800" dirty="0"/>
              <a:t> 2.5 </a:t>
            </a:r>
            <a:r>
              <a:rPr lang="ja-JP" altLang="en-US" sz="1800" dirty="0"/>
              <a:t>で動画理解の新たな地平を切り開く</a:t>
            </a:r>
            <a:r>
              <a:rPr lang="en-US" altLang="ja-JP" sz="1800" dirty="0"/>
              <a:t>," Google for Developers, vol. 2026, no. Jan 6https://developers.googleblog.com/ja/gemini-2-5-video-understanding/.</a:t>
            </a:r>
          </a:p>
          <a:p>
            <a:pPr marL="0" indent="0">
              <a:buNone/>
            </a:pPr>
            <a:r>
              <a:rPr lang="en-US" altLang="ja-JP" sz="1800" dirty="0"/>
              <a:t>(3)Fu, Dai, '"Video-</a:t>
            </a:r>
            <a:r>
              <a:rPr lang="en-US" altLang="ja-JP" sz="1800" dirty="0" err="1"/>
              <a:t>mme</a:t>
            </a:r>
            <a:r>
              <a:rPr lang="en-US" altLang="ja-JP" sz="1800" dirty="0"/>
              <a:t>: The first-ever comprehensive evaluation benchmark of multi-modal </a:t>
            </a:r>
            <a:r>
              <a:rPr lang="en-US" altLang="ja-JP" sz="1800" dirty="0" err="1"/>
              <a:t>llms</a:t>
            </a:r>
            <a:r>
              <a:rPr lang="en-US" altLang="ja-JP" sz="1800" dirty="0"/>
              <a:t> in video analysis,", pp. 24108–24118.</a:t>
            </a:r>
          </a:p>
          <a:p>
            <a:pPr marL="0" indent="0">
              <a:buNone/>
            </a:pPr>
            <a:r>
              <a:rPr lang="en-US" altLang="ja-JP" sz="1800" dirty="0"/>
              <a:t>(4)</a:t>
            </a:r>
            <a:r>
              <a:rPr lang="en-US" altLang="ja-JP" sz="1800" dirty="0" err="1"/>
              <a:t>Arandjelovic</a:t>
            </a:r>
            <a:r>
              <a:rPr lang="en-US" altLang="ja-JP" sz="1800" dirty="0"/>
              <a:t> and Zisserman, '"Look, listen and learn,", pp. 609–617.</a:t>
            </a:r>
          </a:p>
          <a:p>
            <a:pPr marL="0" indent="0">
              <a:buNone/>
            </a:pPr>
            <a:r>
              <a:rPr lang="en-US" altLang="ja-JP" sz="1800" dirty="0"/>
              <a:t>(5)</a:t>
            </a:r>
            <a:r>
              <a:rPr lang="en-US" altLang="ja-JP" sz="1800" dirty="0" err="1"/>
              <a:t>Senocak</a:t>
            </a:r>
            <a:r>
              <a:rPr lang="en-US" altLang="ja-JP" sz="1800" dirty="0"/>
              <a:t>, Oh, '"Learning to localize sound source in visual scenes,", pp. 4358–4366.</a:t>
            </a:r>
          </a:p>
          <a:p>
            <a:pPr marL="0" indent="0">
              <a:buNone/>
            </a:pPr>
            <a:r>
              <a:rPr lang="en-US" altLang="ja-JP" sz="1800" dirty="0"/>
              <a:t>(6)Zellers, Lu, '"Merlot reserve: Neural script knowledge through vision and language and sound,", pp. 16375–16387.</a:t>
            </a:r>
          </a:p>
          <a:p>
            <a:pPr marL="0" indent="0">
              <a:buNone/>
            </a:pPr>
            <a:r>
              <a:rPr lang="en-US" altLang="ja-JP" sz="1800" dirty="0"/>
              <a:t>(7)Zhang, Li, '"Video-llama: An instruction-tuned audio-visual language model for video understanding," </a:t>
            </a:r>
            <a:r>
              <a:rPr lang="en-US" altLang="ja-JP" sz="1800" dirty="0" err="1"/>
              <a:t>arXiv</a:t>
            </a:r>
            <a:r>
              <a:rPr lang="en-US" altLang="ja-JP" sz="1800" dirty="0"/>
              <a:t> preprint arXiv:2306.02858.</a:t>
            </a:r>
          </a:p>
          <a:p>
            <a:pPr marL="0" indent="0">
              <a:buNone/>
            </a:pPr>
            <a:r>
              <a:rPr lang="en-US" altLang="ja-JP" sz="1800" dirty="0"/>
              <a:t>(8)Mo and Morgado, '"A unified audio-visual learning framework for localization, separation, and recognition,", pp. 25006–25017.</a:t>
            </a:r>
          </a:p>
        </p:txBody>
      </p:sp>
      <p:sp>
        <p:nvSpPr>
          <p:cNvPr id="6" name="スライド番号プレースホルダー 5">
            <a:extLst>
              <a:ext uri="{FF2B5EF4-FFF2-40B4-BE49-F238E27FC236}">
                <a16:creationId xmlns:a16="http://schemas.microsoft.com/office/drawing/2014/main" id="{53786E73-29D0-5D22-6D08-8B86519796ED}"/>
              </a:ext>
            </a:extLst>
          </p:cNvPr>
          <p:cNvSpPr>
            <a:spLocks noGrp="1"/>
          </p:cNvSpPr>
          <p:nvPr>
            <p:ph type="sldNum" sz="quarter" idx="12"/>
          </p:nvPr>
        </p:nvSpPr>
        <p:spPr/>
        <p:txBody>
          <a:bodyPr/>
          <a:lstStyle/>
          <a:p>
            <a:fld id="{8213A850-EEC5-482E-871C-F91D51FCFBE2}" type="slidenum">
              <a:rPr kumimoji="1" lang="ja-JP" altLang="en-US" smtClean="0"/>
              <a:t>27</a:t>
            </a:fld>
            <a:endParaRPr kumimoji="1" lang="ja-JP" altLang="en-US"/>
          </a:p>
        </p:txBody>
      </p:sp>
    </p:spTree>
    <p:extLst>
      <p:ext uri="{BB962C8B-B14F-4D97-AF65-F5344CB8AC3E}">
        <p14:creationId xmlns:p14="http://schemas.microsoft.com/office/powerpoint/2010/main" val="2849898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88C4F-ADD8-8F42-29F7-AFC2AF2F95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C35632-4300-914D-5A7A-B255A659E7C0}"/>
              </a:ext>
            </a:extLst>
          </p:cNvPr>
          <p:cNvSpPr>
            <a:spLocks noGrp="1"/>
          </p:cNvSpPr>
          <p:nvPr>
            <p:ph type="title"/>
          </p:nvPr>
        </p:nvSpPr>
        <p:spPr/>
        <p:txBody>
          <a:bodyPr/>
          <a:lstStyle/>
          <a:p>
            <a:r>
              <a:rPr kumimoji="1" lang="ja-JP" altLang="en-US" dirty="0"/>
              <a:t>参考文献</a:t>
            </a:r>
          </a:p>
        </p:txBody>
      </p:sp>
      <p:sp>
        <p:nvSpPr>
          <p:cNvPr id="3" name="コンテンツ プレースホルダー 2">
            <a:extLst>
              <a:ext uri="{FF2B5EF4-FFF2-40B4-BE49-F238E27FC236}">
                <a16:creationId xmlns:a16="http://schemas.microsoft.com/office/drawing/2014/main" id="{FDB01ED9-E6D2-0723-709B-1DF424234984}"/>
              </a:ext>
            </a:extLst>
          </p:cNvPr>
          <p:cNvSpPr>
            <a:spLocks noGrp="1"/>
          </p:cNvSpPr>
          <p:nvPr>
            <p:ph idx="1"/>
          </p:nvPr>
        </p:nvSpPr>
        <p:spPr/>
        <p:txBody>
          <a:bodyPr>
            <a:noAutofit/>
          </a:bodyPr>
          <a:lstStyle/>
          <a:p>
            <a:pPr marL="0" indent="0">
              <a:lnSpc>
                <a:spcPct val="110000"/>
              </a:lnSpc>
              <a:buNone/>
            </a:pPr>
            <a:r>
              <a:rPr lang="en-US" altLang="ja-JP" sz="1800" dirty="0"/>
              <a:t>(9)Um, Kim, '"Object-aware Sound Source Localization via Audio-Visual Scene Understanding,", pp. 8342–8351.</a:t>
            </a:r>
          </a:p>
          <a:p>
            <a:pPr marL="0" indent="0">
              <a:lnSpc>
                <a:spcPct val="110000"/>
              </a:lnSpc>
              <a:buNone/>
            </a:pPr>
            <a:r>
              <a:rPr lang="en-US" altLang="ja-JP" sz="1800" dirty="0"/>
              <a:t>(10)Zhao, Lin, '"</a:t>
            </a:r>
            <a:r>
              <a:rPr lang="en-US" altLang="ja-JP" sz="1800" dirty="0" err="1"/>
              <a:t>Bubogpt</a:t>
            </a:r>
            <a:r>
              <a:rPr lang="en-US" altLang="ja-JP" sz="1800" dirty="0"/>
              <a:t>: Enabling visual grounding in multi-modal </a:t>
            </a:r>
            <a:r>
              <a:rPr lang="en-US" altLang="ja-JP" sz="1800" dirty="0" err="1"/>
              <a:t>llms</a:t>
            </a:r>
            <a:r>
              <a:rPr lang="en-US" altLang="ja-JP" sz="1800" dirty="0"/>
              <a:t>," </a:t>
            </a:r>
            <a:r>
              <a:rPr lang="en-US" altLang="ja-JP" sz="1800" dirty="0" err="1"/>
              <a:t>arXiv</a:t>
            </a:r>
            <a:r>
              <a:rPr lang="en-US" altLang="ja-JP" sz="1800" dirty="0"/>
              <a:t> preprint arXiv:2307.08581.</a:t>
            </a:r>
          </a:p>
          <a:p>
            <a:pPr marL="0" indent="0">
              <a:lnSpc>
                <a:spcPct val="110000"/>
              </a:lnSpc>
              <a:buNone/>
            </a:pPr>
            <a:r>
              <a:rPr lang="en-US" altLang="ja-JP" sz="1800" dirty="0"/>
              <a:t>(11)Ouyang, Wu, '"Training language models to follow instructions with human feedback," Advances in neural information processing systems, vol. 35, pp. 27730–27744.</a:t>
            </a:r>
          </a:p>
          <a:p>
            <a:pPr marL="0" indent="0">
              <a:lnSpc>
                <a:spcPct val="110000"/>
              </a:lnSpc>
              <a:buNone/>
            </a:pPr>
            <a:r>
              <a:rPr lang="en-US" altLang="ja-JP" sz="1800" dirty="0"/>
              <a:t>(12)Hsieh, Li, '"Distilling step-by-step! outperforming larger language models with less training data and smaller model sizes,", pp. 8003–8017.</a:t>
            </a:r>
          </a:p>
          <a:p>
            <a:pPr marL="0" indent="0">
              <a:lnSpc>
                <a:spcPct val="110000"/>
              </a:lnSpc>
              <a:buNone/>
            </a:pPr>
            <a:r>
              <a:rPr lang="en-US" altLang="ja-JP" sz="1800" dirty="0"/>
              <a:t>(13)Wei, Wang, '"Chain-of-thought prompting elicits reasoning in large language models," Advances in neural information processing systems, vol. 35, pp. 24824–24837.</a:t>
            </a:r>
          </a:p>
          <a:p>
            <a:pPr marL="0" indent="0">
              <a:lnSpc>
                <a:spcPct val="110000"/>
              </a:lnSpc>
              <a:buNone/>
            </a:pPr>
            <a:r>
              <a:rPr lang="en-US" altLang="ja-JP" sz="1800" dirty="0"/>
              <a:t>(14)Min, Krishna, '"</a:t>
            </a:r>
            <a:r>
              <a:rPr lang="en-US" altLang="ja-JP" sz="1800" dirty="0" err="1"/>
              <a:t>Factscore</a:t>
            </a:r>
            <a:r>
              <a:rPr lang="en-US" altLang="ja-JP" sz="1800" dirty="0"/>
              <a:t>: Fine-grained atomic evaluation of factual precision in long form text generation,", pp. 12076–12100.</a:t>
            </a:r>
          </a:p>
        </p:txBody>
      </p:sp>
      <p:sp>
        <p:nvSpPr>
          <p:cNvPr id="6" name="スライド番号プレースホルダー 5">
            <a:extLst>
              <a:ext uri="{FF2B5EF4-FFF2-40B4-BE49-F238E27FC236}">
                <a16:creationId xmlns:a16="http://schemas.microsoft.com/office/drawing/2014/main" id="{7708C9DF-1D89-931F-B932-2E8C6FA140CA}"/>
              </a:ext>
            </a:extLst>
          </p:cNvPr>
          <p:cNvSpPr>
            <a:spLocks noGrp="1"/>
          </p:cNvSpPr>
          <p:nvPr>
            <p:ph type="sldNum" sz="quarter" idx="12"/>
          </p:nvPr>
        </p:nvSpPr>
        <p:spPr/>
        <p:txBody>
          <a:bodyPr/>
          <a:lstStyle/>
          <a:p>
            <a:fld id="{8213A850-EEC5-482E-871C-F91D51FCFBE2}" type="slidenum">
              <a:rPr kumimoji="1" lang="ja-JP" altLang="en-US" smtClean="0"/>
              <a:t>28</a:t>
            </a:fld>
            <a:endParaRPr kumimoji="1" lang="ja-JP" altLang="en-US"/>
          </a:p>
        </p:txBody>
      </p:sp>
    </p:spTree>
    <p:extLst>
      <p:ext uri="{BB962C8B-B14F-4D97-AF65-F5344CB8AC3E}">
        <p14:creationId xmlns:p14="http://schemas.microsoft.com/office/powerpoint/2010/main" val="555597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941AF-4998-247C-07BE-E093D77FC1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5F923A-03A5-3C12-3449-F02AD2E631D1}"/>
              </a:ext>
            </a:extLst>
          </p:cNvPr>
          <p:cNvSpPr>
            <a:spLocks noGrp="1"/>
          </p:cNvSpPr>
          <p:nvPr>
            <p:ph type="title"/>
          </p:nvPr>
        </p:nvSpPr>
        <p:spPr/>
        <p:txBody>
          <a:bodyPr/>
          <a:lstStyle/>
          <a:p>
            <a:r>
              <a:rPr kumimoji="1" lang="ja-JP" altLang="en-US" dirty="0"/>
              <a:t>参考文献</a:t>
            </a:r>
          </a:p>
        </p:txBody>
      </p:sp>
      <p:sp>
        <p:nvSpPr>
          <p:cNvPr id="3" name="コンテンツ プレースホルダー 2">
            <a:extLst>
              <a:ext uri="{FF2B5EF4-FFF2-40B4-BE49-F238E27FC236}">
                <a16:creationId xmlns:a16="http://schemas.microsoft.com/office/drawing/2014/main" id="{4EB6F41A-E86B-497D-7C3A-972466F076F5}"/>
              </a:ext>
            </a:extLst>
          </p:cNvPr>
          <p:cNvSpPr>
            <a:spLocks noGrp="1"/>
          </p:cNvSpPr>
          <p:nvPr>
            <p:ph idx="1"/>
          </p:nvPr>
        </p:nvSpPr>
        <p:spPr>
          <a:xfrm>
            <a:off x="1120000" y="1825625"/>
            <a:ext cx="10233800" cy="4895850"/>
          </a:xfrm>
        </p:spPr>
        <p:txBody>
          <a:bodyPr>
            <a:normAutofit/>
          </a:bodyPr>
          <a:lstStyle/>
          <a:p>
            <a:pPr marL="0" indent="0">
              <a:lnSpc>
                <a:spcPct val="110000"/>
              </a:lnSpc>
              <a:buNone/>
            </a:pPr>
            <a:r>
              <a:rPr lang="en-US" altLang="ja-JP" sz="1800" dirty="0"/>
              <a:t>(15)Bolya, Foley, '"Tide: A general toolbox for identifying object detection errors,", pp. 558–573.</a:t>
            </a:r>
          </a:p>
          <a:p>
            <a:pPr marL="0" indent="0">
              <a:lnSpc>
                <a:spcPct val="110000"/>
              </a:lnSpc>
              <a:buNone/>
            </a:pPr>
            <a:r>
              <a:rPr lang="en-US" altLang="ja-JP" sz="1800" dirty="0"/>
              <a:t>(16)Ullah and Mohanta, '"Thinking hallucination for video captioning,", pp. 3654–3671.</a:t>
            </a:r>
          </a:p>
          <a:p>
            <a:pPr marL="0" indent="0">
              <a:buNone/>
            </a:pPr>
            <a:r>
              <a:rPr lang="en-US" altLang="ja-JP" sz="1800" dirty="0"/>
              <a:t>(17)Nakada, Saito, '"Hallucination Localization in Video Captioning," </a:t>
            </a:r>
            <a:r>
              <a:rPr lang="en-US" altLang="ja-JP" sz="1800" dirty="0" err="1"/>
              <a:t>arXiv</a:t>
            </a:r>
            <a:r>
              <a:rPr lang="en-US" altLang="ja-JP" sz="1800" dirty="0"/>
              <a:t> preprint arXiv:2510.25225.</a:t>
            </a:r>
          </a:p>
          <a:p>
            <a:pPr marL="0" indent="0">
              <a:buNone/>
            </a:pPr>
            <a:r>
              <a:rPr lang="en-US" altLang="ja-JP" sz="1800" dirty="0"/>
              <a:t>(18)Sung-Bin, Hyun-Bin, '"</a:t>
            </a:r>
            <a:r>
              <a:rPr lang="en-US" altLang="ja-JP" sz="1800" dirty="0" err="1"/>
              <a:t>Avhbench</a:t>
            </a:r>
            <a:r>
              <a:rPr lang="en-US" altLang="ja-JP" sz="1800" dirty="0"/>
              <a:t>: A cross-modal hallucination benchmark for audio-visual large language models," </a:t>
            </a:r>
            <a:r>
              <a:rPr lang="en-US" altLang="ja-JP" sz="1800" dirty="0" err="1"/>
              <a:t>arXiv</a:t>
            </a:r>
            <a:r>
              <a:rPr lang="en-US" altLang="ja-JP" sz="1800" dirty="0"/>
              <a:t> preprint arXiv:2410.18325.</a:t>
            </a:r>
          </a:p>
          <a:p>
            <a:pPr marL="0" indent="0">
              <a:buNone/>
            </a:pPr>
            <a:r>
              <a:rPr lang="en-US" altLang="ja-JP" sz="1800" dirty="0"/>
              <a:t>(19)</a:t>
            </a:r>
            <a:r>
              <a:rPr lang="en-US" altLang="ja-JP" sz="1800" dirty="0" err="1"/>
              <a:t>Google'"Generative</a:t>
            </a:r>
            <a:r>
              <a:rPr lang="en-US" altLang="ja-JP" sz="1800" dirty="0"/>
              <a:t> AI on Vertex AI," https://docs.cloud.google.com/vertex-ai/generative-ai/docs/vertex-ai-zero-data-retention, vol. 2026, no. -01-14, -12-11 UTC.</a:t>
            </a:r>
          </a:p>
          <a:p>
            <a:pPr marL="0" indent="0">
              <a:buNone/>
            </a:pPr>
            <a:endParaRPr lang="en-US" altLang="ja-JP" sz="3600" dirty="0"/>
          </a:p>
        </p:txBody>
      </p:sp>
      <p:sp>
        <p:nvSpPr>
          <p:cNvPr id="6" name="スライド番号プレースホルダー 5">
            <a:extLst>
              <a:ext uri="{FF2B5EF4-FFF2-40B4-BE49-F238E27FC236}">
                <a16:creationId xmlns:a16="http://schemas.microsoft.com/office/drawing/2014/main" id="{A69C3FC9-D100-3F94-0F9D-798E44E3C3B0}"/>
              </a:ext>
            </a:extLst>
          </p:cNvPr>
          <p:cNvSpPr>
            <a:spLocks noGrp="1"/>
          </p:cNvSpPr>
          <p:nvPr>
            <p:ph type="sldNum" sz="quarter" idx="12"/>
          </p:nvPr>
        </p:nvSpPr>
        <p:spPr/>
        <p:txBody>
          <a:bodyPr/>
          <a:lstStyle/>
          <a:p>
            <a:fld id="{8213A850-EEC5-482E-871C-F91D51FCFBE2}" type="slidenum">
              <a:rPr kumimoji="1" lang="ja-JP" altLang="en-US" smtClean="0"/>
              <a:t>29</a:t>
            </a:fld>
            <a:endParaRPr kumimoji="1" lang="ja-JP" altLang="en-US" dirty="0"/>
          </a:p>
        </p:txBody>
      </p:sp>
    </p:spTree>
    <p:extLst>
      <p:ext uri="{BB962C8B-B14F-4D97-AF65-F5344CB8AC3E}">
        <p14:creationId xmlns:p14="http://schemas.microsoft.com/office/powerpoint/2010/main" val="2841640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5C2242-D1A8-472D-57BC-99B3AF9DD355}"/>
              </a:ext>
            </a:extLst>
          </p:cNvPr>
          <p:cNvSpPr>
            <a:spLocks noGrp="1"/>
          </p:cNvSpPr>
          <p:nvPr>
            <p:ph type="title"/>
          </p:nvPr>
        </p:nvSpPr>
        <p:spPr>
          <a:xfrm>
            <a:off x="1017588" y="2946349"/>
            <a:ext cx="10515600" cy="965302"/>
          </a:xfrm>
        </p:spPr>
        <p:txBody>
          <a:bodyPr/>
          <a:lstStyle/>
          <a:p>
            <a:pPr algn="ctr"/>
            <a:r>
              <a:rPr lang="ja-JP" altLang="en-US" dirty="0"/>
              <a:t>ご清聴ありがとうございました</a:t>
            </a:r>
            <a:endParaRPr kumimoji="1" lang="ja-JP" altLang="en-US" dirty="0"/>
          </a:p>
        </p:txBody>
      </p:sp>
      <p:sp>
        <p:nvSpPr>
          <p:cNvPr id="4" name="スライド番号プレースホルダー 3">
            <a:extLst>
              <a:ext uri="{FF2B5EF4-FFF2-40B4-BE49-F238E27FC236}">
                <a16:creationId xmlns:a16="http://schemas.microsoft.com/office/drawing/2014/main" id="{F48B52C7-BAD4-570D-39E7-4B05FD6353FC}"/>
              </a:ext>
            </a:extLst>
          </p:cNvPr>
          <p:cNvSpPr>
            <a:spLocks noGrp="1"/>
          </p:cNvSpPr>
          <p:nvPr>
            <p:ph type="sldNum" sz="quarter" idx="12"/>
          </p:nvPr>
        </p:nvSpPr>
        <p:spPr/>
        <p:txBody>
          <a:bodyPr/>
          <a:lstStyle/>
          <a:p>
            <a:fld id="{8213A850-EEC5-482E-871C-F91D51FCFBE2}" type="slidenum">
              <a:rPr kumimoji="1" lang="ja-JP" altLang="en-US" sz="2800" smtClean="0"/>
              <a:t>30</a:t>
            </a:fld>
            <a:endParaRPr kumimoji="1" lang="ja-JP" altLang="en-US" sz="2800"/>
          </a:p>
        </p:txBody>
      </p:sp>
    </p:spTree>
    <p:extLst>
      <p:ext uri="{BB962C8B-B14F-4D97-AF65-F5344CB8AC3E}">
        <p14:creationId xmlns:p14="http://schemas.microsoft.com/office/powerpoint/2010/main" val="1328920113"/>
      </p:ext>
    </p:extLst>
  </p:cSld>
  <p:clrMapOvr>
    <a:masterClrMapping/>
  </p:clrMapOvr>
</p:sld>
</file>

<file path=ppt/theme/theme1.xml><?xml version="1.0" encoding="utf-8"?>
<a:theme xmlns:a="http://schemas.openxmlformats.org/drawingml/2006/main" name="奥行">
  <a:themeElements>
    <a:clrScheme name="奥行">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奥行">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奥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18237</TotalTime>
  <Words>7966</Words>
  <Application>Microsoft Office PowerPoint</Application>
  <PresentationFormat>ワイド画面</PresentationFormat>
  <Paragraphs>458</Paragraphs>
  <Slides>30</Slides>
  <Notes>30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30</vt:i4>
      </vt:variant>
    </vt:vector>
  </HeadingPairs>
  <TitlesOfParts>
    <vt:vector size="37" baseType="lpstr">
      <vt:lpstr>BIZ UDPゴシック</vt:lpstr>
      <vt:lpstr>メイリオ</vt:lpstr>
      <vt:lpstr>游ゴシック</vt:lpstr>
      <vt:lpstr>游明朝</vt:lpstr>
      <vt:lpstr>Arial</vt:lpstr>
      <vt:lpstr>Cambria Math</vt:lpstr>
      <vt:lpstr>奥行</vt:lpstr>
      <vt:lpstr>MLLMを用いた音響・映像統合解析に 基づくオブジェクト同定手法の提案</vt:lpstr>
      <vt:lpstr>目次</vt:lpstr>
      <vt:lpstr>研究概要</vt:lpstr>
      <vt:lpstr>研究背景　➀MLLMの発展</vt:lpstr>
      <vt:lpstr>研究背景　②音源特定の課題</vt:lpstr>
      <vt:lpstr>関連研究</vt:lpstr>
      <vt:lpstr>研究目的</vt:lpstr>
      <vt:lpstr>PowerPoint プレゼンテーション</vt:lpstr>
      <vt:lpstr>システム構成</vt:lpstr>
      <vt:lpstr>システム構成</vt:lpstr>
      <vt:lpstr>システム構成</vt:lpstr>
      <vt:lpstr>システム構成</vt:lpstr>
      <vt:lpstr>システム構成</vt:lpstr>
      <vt:lpstr>システム構成</vt:lpstr>
      <vt:lpstr>システム構成</vt:lpstr>
      <vt:lpstr>ユーザーインターフェース</vt:lpstr>
      <vt:lpstr>ユーザーインターフェース</vt:lpstr>
      <vt:lpstr>評価実験</vt:lpstr>
      <vt:lpstr>評価実験</vt:lpstr>
      <vt:lpstr>評価実験</vt:lpstr>
      <vt:lpstr>評価実験</vt:lpstr>
      <vt:lpstr>評価実験</vt:lpstr>
      <vt:lpstr>評価実験</vt:lpstr>
      <vt:lpstr>評価実験</vt:lpstr>
      <vt:lpstr>補足：空間推論の限界</vt:lpstr>
      <vt:lpstr>今後の展望</vt:lpstr>
      <vt:lpstr>参考文献</vt:lpstr>
      <vt:lpstr>参考文献</vt:lpstr>
      <vt:lpstr>参考文献</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大地 多田</dc:creator>
  <cp:lastModifiedBy>大地 多田</cp:lastModifiedBy>
  <cp:revision>201</cp:revision>
  <cp:lastPrinted>2026-02-02T07:31:21Z</cp:lastPrinted>
  <dcterms:created xsi:type="dcterms:W3CDTF">2026-01-10T01:48:43Z</dcterms:created>
  <dcterms:modified xsi:type="dcterms:W3CDTF">2026-02-02T07:34:48Z</dcterms:modified>
</cp:coreProperties>
</file>